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한국형 합동방공체계 C2 구조의 As-Is/To-Be를 이산사건 시뮬레이션으로 비교한 모델의 설계 브리핑. 결과가 아니라 모델 자체의 구조·교신·가정을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질문은 무기체계가 아니라 C2 구조 변수 하나만 바꿨을 때의 방공 성과 변화. 3대 시나리오와 모델 경계(ADR-060, 미군 미배치)를 명확히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엔진이 실행하는 native IADS 파이프라인 6단계. 모든 신규 거동은 기능 플래그로 토글되어 감사 추적이 남고, ablation 실험의 기반이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분절형 결선도. 군종별 수직 계선(공군-MCRC/KAMDOC, 육군-방공C2A, 해군-KNTDS)이 따로 서고, 육·공 사이는 사람이 매개하는 4채널(문자 45초·음성 20초·VTC 135초)로만 연결된다. 방공C2A 두 인스턴스 사이에는 육군 계통 상급 경유 계선(kvmf-relay 30초 ×2, ADR-081)이 있다 — 2022.12.26 사건의 공식 지적이 1군단↔수방사 항적 공유 지연인데 모델에 그 계선이 한 가닥도 없어 MCRC를 문자로 90초 왕복해야 했기 때문에 추가했다. 단 30초는 링크 지연이 아니라 체계 전체 작전 반응시간을 옮겨 쓴 값이고, 중간 상급 노드 없이 왕복을 한 간선으로 축약했으며, 임무 지표를 유의하게 움직이지 않는다(30 seed 자기쌍체 8개 지표 전부 CI가 0 포함, Δ격추 −0.57 [−2.57,+1.44]) — 국지방공 교전반경(비호 7km)이 두 권역 거리 20.4km보다 작기 때문. 채택 근거는 수치 개선이 아니라 구조 정합이다. 해상 계열은 모델 범위 외라 회색.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To-Be 통합형. 합동방공C2 조율층(IAOC)이 버스로 들어와 전 노드가 ifcn 1초로 연결된다. 육·공 사람 매개 4채널은 전부 삭제. 기존 군종별 보고선은 유지되는 병렬 배포. 방공C2A 사이의 kvmf-relay 30초 ×2는 As-Is와 동일하게 존재하지만, To-Be에서는 조율층 2초 경로가 이겨 실제로 선택되지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노드별 대기행렬 파라미터. 각 C2 노드는 서버 c개·유한 대기실 K의 대기행렬로 모델링되며 처리시간이 서비스 시간이다. As-Is 64노드, To-Be는 IAOC 1개가 추가된 65노드.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19대 6종. 보고주기 차등(16/8/4/1초)이 링크 의미론의 핵심 — 센서→C2 report-cycle이 항적 갱신 주기를 결정한다.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118링크에서 To-Be 223링크로의 전환 내역. 삭제는 육·공 4채널 8가닥뿐이고, 나머지는 전부 추가(센서 직결 19, C2-조율층 report/coord/status). C2간 coord는 datalink에서 ifcn으로 표기만 바뀐다. kvmf-relay 2가닥은 ADR-081로 양 모드 공통 신설이라 차분에 들어오지 않는다 — 임무 지표를 유의하게 움직이지 않으며 채택 근거는 구조 정합이다.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비교의 공정성을 담보하는 네 장치: CRN 공통 난수, 30회 반복 MC, 기능 플래그 ablation, 가정값 민감도 스윕. SC3 기준 30분 시나리오.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모델의 가정과 한계를 명시하고 마무리. 신뢰도 등급 C 가정값(20·45·135초), 범위 제한 ADR, 미군 미배치 사유, ADR-081 kvmf 계선의 축약 가정과 ADR-082 정규분포 통일.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육·공 협조 채널의 분포 가정. ADR-082로 세 채널 전부 정규분포로 통일됐다 — chat Normal(45,σ7.5), voice Normal(20,σ5), VTC Normal(135,σ22.5). 형태 정리가 아니라 실질 변경임을 밝혀야 한다: VTC 대표값 180→135초(−25%), chat은 최빈값은 45로 같지만 평균이 61.7→45초(−27%). 다만 12 seed 자기쌍체에서 7개 지표 전부 CI가 0 포함(Δ격추 +0.83 [−3.09,+4.75])이고 뚜렷한 변화는 교전현황 전달률 10.3%→13.3% 하나뿐이다. VTC 135안은 대표값 유지안 Normal(180,σ45)와 통계적으로 구분되지 않아 사전 등록 규칙에 따라 택했다. VTC는 유일한 유한 용량 채널(서버1·수용4·신선도 300초)로 드롭이 발생한다. 세 값 모두 신뢰도 등급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결선도에서 사용한 선 표기 규칙. 사람이 매개하는 3종은 굵게 — As-Is에만 존재한다는 것이 다이어그램의 핵심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452813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4062412"/>
            <a:ext cx="1676400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57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K-JAMDS C2 구조 비교 시뮬레이션 — 모델 설계 개요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24000" y="5310188"/>
            <a:ext cx="1676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9B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분절형 ↔ To-Be 통합형 C2의 연결 구조·노드 간 교신·실험 설계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및 IADS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 배치는 고정하고, C2 구조(분절, 통합)에 따른 결과 비교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562225"/>
            <a:ext cx="5156150" cy="2539231"/>
          </a:xfrm>
          <a:prstGeom prst="roundRect">
            <a:avLst>
              <a:gd name="adj" fmla="val 45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5091931"/>
            <a:ext cx="51561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562225"/>
            <a:ext cx="51561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62225"/>
            <a:ext cx="57150" cy="2539231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8" name="Shape 6"/>
          <p:cNvSpPr/>
          <p:nvPr/>
        </p:nvSpPr>
        <p:spPr>
          <a:xfrm>
            <a:off x="6289625" y="2562225"/>
            <a:ext cx="9525" cy="2539231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876550"/>
            <a:ext cx="48859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4000" y="3276600"/>
            <a:ext cx="488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교전 중복·책임 공백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24000" y="3724275"/>
            <a:ext cx="4575029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수도군단 AOC·공군·수방사 책임구역 경계 부근 침투 — 음성 협조 의존 구간의 중복교전·책임공백 재현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65850" y="2562225"/>
            <a:ext cx="5156225" cy="2539231"/>
          </a:xfrm>
          <a:prstGeom prst="roundRect">
            <a:avLst>
              <a:gd name="adj" fmla="val 450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5850" y="5091931"/>
            <a:ext cx="5156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850" y="2562225"/>
            <a:ext cx="5156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5850" y="2562225"/>
            <a:ext cx="57150" cy="2539231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2550" y="2562225"/>
            <a:ext cx="9525" cy="2539231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6850" y="2876550"/>
            <a:ext cx="4886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6850" y="3276600"/>
            <a:ext cx="48860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 무인기 동시 침투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946850" y="3724275"/>
            <a:ext cx="457510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무인기 동시 남파 — 저고도·저속·저RCS 반복 소실, 이군종 센서 융합 부재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88775" y="2562225"/>
            <a:ext cx="5156150" cy="2539231"/>
          </a:xfrm>
          <a:prstGeom prst="roundRect">
            <a:avLst>
              <a:gd name="adj" fmla="val 4501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88775" y="5091931"/>
            <a:ext cx="51561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88775" y="2562225"/>
            <a:ext cx="51561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988775" y="2562225"/>
            <a:ext cx="57150" cy="2539231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135401" y="2562225"/>
            <a:ext cx="9525" cy="2539231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5" name="Text 23"/>
          <p:cNvSpPr/>
          <p:nvPr/>
        </p:nvSpPr>
        <p:spPr>
          <a:xfrm>
            <a:off x="12369775" y="2876550"/>
            <a:ext cx="48859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69775" y="3276600"/>
            <a:ext cx="488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동시 공격 (주 분석)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369775" y="3724275"/>
            <a:ext cx="4575029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전투기·무인기·TBM·방사포 동시 — 처리용량 임계(ρ≥0.9) 초과 구간에서 개선폭 정량화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5482456"/>
            <a:ext cx="16002000" cy="1242045"/>
          </a:xfrm>
          <a:prstGeom prst="roundRect">
            <a:avLst>
              <a:gd name="adj" fmla="val 9203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76375" y="5739631"/>
            <a:ext cx="168687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6375" y="6101581"/>
            <a:ext cx="1686877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 파이프라인 구조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" name="Text 6"/>
          <p:cNvSpPr/>
          <p:nvPr/>
        </p:nvSpPr>
        <p:spPr>
          <a:xfrm>
            <a:off x="136207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207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 C2 결정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6207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유형·구역별 책임 노드 배정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385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385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385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14" name="Shape 12"/>
          <p:cNvSpPr/>
          <p:nvPr/>
        </p:nvSpPr>
        <p:spPr>
          <a:xfrm>
            <a:off x="38385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31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6" name="Text 14"/>
          <p:cNvSpPr/>
          <p:nvPr/>
        </p:nvSpPr>
        <p:spPr>
          <a:xfrm>
            <a:off x="40576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576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항적 상관·식별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057650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보고 융합, 피아 식별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415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415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15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41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87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4" name="Text 22"/>
          <p:cNvSpPr/>
          <p:nvPr/>
        </p:nvSpPr>
        <p:spPr>
          <a:xfrm>
            <a:off x="675322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5322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사수선정 (WTA)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753225" y="3566145"/>
            <a:ext cx="2294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무기-표적 할당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2972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22972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9725" y="2400300"/>
            <a:ext cx="2524125" cy="5715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22972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74432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2" name="Text 30"/>
          <p:cNvSpPr/>
          <p:nvPr/>
        </p:nvSpPr>
        <p:spPr>
          <a:xfrm>
            <a:off x="944880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44880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승인·협조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48800" y="3566145"/>
            <a:ext cx="21621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교전 승인 절차 — As-Is에서 사람 매개 채널이 개입하는 단계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92530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92530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92530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38" name="Shape 36"/>
          <p:cNvSpPr/>
          <p:nvPr/>
        </p:nvSpPr>
        <p:spPr>
          <a:xfrm>
            <a:off x="119253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399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0" name="Text 38"/>
          <p:cNvSpPr/>
          <p:nvPr/>
        </p:nvSpPr>
        <p:spPr>
          <a:xfrm>
            <a:off x="1214437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14437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발사대 단위 교전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214437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교전창 계산, 요격탄 소모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46208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46208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5" name="Shape 43"/>
          <p:cNvSpPr/>
          <p:nvPr/>
        </p:nvSpPr>
        <p:spPr>
          <a:xfrm>
            <a:off x="146208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</p:sp>
      <p:sp>
        <p:nvSpPr>
          <p:cNvPr id="46" name="Shape 44"/>
          <p:cNvSpPr/>
          <p:nvPr/>
        </p:nvSpPr>
        <p:spPr>
          <a:xfrm>
            <a:off x="146208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7" name="Shape 45"/>
          <p:cNvSpPr/>
          <p:nvPr/>
        </p:nvSpPr>
        <p:spPr>
          <a:xfrm>
            <a:off x="171354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8" name="Text 46"/>
          <p:cNvSpPr/>
          <p:nvPr/>
        </p:nvSpPr>
        <p:spPr>
          <a:xfrm>
            <a:off x="148399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48399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4839950" y="3566145"/>
            <a:ext cx="2294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전과 평가, 재교전 판단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143000" y="5328270"/>
            <a:ext cx="7867650" cy="1207740"/>
          </a:xfrm>
          <a:prstGeom prst="roundRect">
            <a:avLst>
              <a:gd name="adj" fmla="val 9464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57325" y="5566395"/>
            <a:ext cx="7475029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1 </a:t>
            </a:r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277350" y="5328270"/>
            <a:ext cx="7867650" cy="1207740"/>
          </a:xfrm>
          <a:prstGeom prst="roundRect">
            <a:avLst>
              <a:gd name="adj" fmla="val 9464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91675" y="5566395"/>
            <a:ext cx="7475029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2 </a:t>
            </a:r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위협항적별 로그 상세 비교(캡처)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C2 연결 구조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365552" y="962025"/>
            <a:ext cx="6966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분절형 — 군종별 수직 계선, 육·공 간 사람 매개 협조 · 노드 64 · 링크 118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485900"/>
            <a:ext cx="16383000" cy="781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" y="9486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육·공 계선 사이의 유일한 연결이 사람 매개 4채널(굵은 주황·빨강·진홍) — 총 8가닥 (4종 × 방공C2A 2개소). 방공C2A 사이의 kvmf-relay 30초 ×2(보라)는 양 모드 공통.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7630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C2 연결 구조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511105" y="962025"/>
            <a:ext cx="64438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— 합동방공 C2 조율층 신설 · 노드 65 (+IAOC) · 링크 223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485900"/>
            <a:ext cx="16383000" cy="781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" y="9486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사람 매개 4채널 전량 삭제(8→0가닥). 기존 군종별 보고선은 그대로 유지 — 병렬 배포이지 대체가 아님. kvmf-relay 2가닥은 존재하나 조율층 경로에 밀려 미선택.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구성과 대기행렬 파라미터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C2 노드 = 서버 c · 유한 대기실 K의 대기행렬. As-Is 64노드 / To-Be 65노드(+IAOC).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495550"/>
            <a:ext cx="114300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1343025" y="26670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95525" y="2495550"/>
            <a:ext cx="93154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8" name="Text 6"/>
          <p:cNvSpPr/>
          <p:nvPr/>
        </p:nvSpPr>
        <p:spPr>
          <a:xfrm>
            <a:off x="2486025" y="26670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097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172527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4922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96352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087475" y="2495550"/>
            <a:ext cx="16192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4201775" y="26670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처리시간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706725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5821025" y="26670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대기실 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52525" y="3105150"/>
            <a:ext cx="114300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18" name="Text 16"/>
          <p:cNvSpPr/>
          <p:nvPr/>
        </p:nvSpPr>
        <p:spPr>
          <a:xfrm>
            <a:off x="1343025" y="32575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95525" y="3105150"/>
            <a:ext cx="931545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20" name="Text 18"/>
          <p:cNvSpPr/>
          <p:nvPr/>
        </p:nvSpPr>
        <p:spPr>
          <a:xfrm>
            <a:off x="2486025" y="32575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IAOC 통합공중작전통제소 </a:t>
            </a:r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(To-Be 전용)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61097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22" name="Text 20"/>
          <p:cNvSpPr/>
          <p:nvPr/>
        </p:nvSpPr>
        <p:spPr>
          <a:xfrm>
            <a:off x="1172527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84922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24" name="Text 22"/>
          <p:cNvSpPr/>
          <p:nvPr/>
        </p:nvSpPr>
        <p:spPr>
          <a:xfrm>
            <a:off x="1296352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087475" y="3105150"/>
            <a:ext cx="161925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14201775" y="32575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706725" y="3105150"/>
            <a:ext cx="1428750" cy="571500"/>
          </a:xfrm>
          <a:prstGeom prst="rect">
            <a:avLst/>
          </a:prstGeom>
          <a:solidFill>
            <a:srgbClr val="E6F4EF"/>
          </a:solidFill>
          <a:ln/>
        </p:spPr>
      </p:sp>
      <p:sp>
        <p:nvSpPr>
          <p:cNvPr id="28" name="Text 26"/>
          <p:cNvSpPr/>
          <p:nvPr/>
        </p:nvSpPr>
        <p:spPr>
          <a:xfrm>
            <a:off x="15821025" y="32575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52525" y="367665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0" name="Text 28"/>
          <p:cNvSpPr/>
          <p:nvPr/>
        </p:nvSpPr>
        <p:spPr>
          <a:xfrm>
            <a:off x="1343025" y="3838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295525" y="367665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2" name="Text 30"/>
          <p:cNvSpPr/>
          <p:nvPr/>
        </p:nvSpPr>
        <p:spPr>
          <a:xfrm>
            <a:off x="2486025" y="3838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KAMDOC 탄도탄 작전통제소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61097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4" name="Text 32"/>
          <p:cNvSpPr/>
          <p:nvPr/>
        </p:nvSpPr>
        <p:spPr>
          <a:xfrm>
            <a:off x="1172527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84922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6" name="Text 34"/>
          <p:cNvSpPr/>
          <p:nvPr/>
        </p:nvSpPr>
        <p:spPr>
          <a:xfrm>
            <a:off x="1296352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087475" y="367665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8" name="Text 36"/>
          <p:cNvSpPr/>
          <p:nvPr/>
        </p:nvSpPr>
        <p:spPr>
          <a:xfrm>
            <a:off x="14201775" y="3838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706725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0" name="Text 38"/>
          <p:cNvSpPr/>
          <p:nvPr/>
        </p:nvSpPr>
        <p:spPr>
          <a:xfrm>
            <a:off x="15821025" y="3838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43025" y="44100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486025" y="44100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MCRC 중앙방공통제소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72527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96352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01775" y="44100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821025" y="44100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43025" y="4981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486025" y="4981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방공C2A/AOC (1군단·수방사)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72527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96352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201775" y="4981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821025" y="4981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52525" y="540067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43025" y="55626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295525" y="540067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6" name="Text 54"/>
          <p:cNvSpPr/>
          <p:nvPr/>
        </p:nvSpPr>
        <p:spPr>
          <a:xfrm>
            <a:off x="2486025" y="55626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정보통합센터 (W1~4·C1~3·E1~3·MDU)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61097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8" name="Text 56"/>
          <p:cNvSpPr/>
          <p:nvPr/>
        </p:nvSpPr>
        <p:spPr>
          <a:xfrm>
            <a:off x="1172527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84922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0" name="Text 58"/>
          <p:cNvSpPr/>
          <p:nvPr/>
        </p:nvSpPr>
        <p:spPr>
          <a:xfrm>
            <a:off x="1296352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087475" y="540067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2" name="Text 60"/>
          <p:cNvSpPr/>
          <p:nvPr/>
        </p:nvSpPr>
        <p:spPr>
          <a:xfrm>
            <a:off x="14201775" y="55626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9초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706725" y="5400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4" name="Text 62"/>
          <p:cNvSpPr/>
          <p:nvPr/>
        </p:nvSpPr>
        <p:spPr>
          <a:xfrm>
            <a:off x="15821025" y="55626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52525" y="598170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6" name="Text 64"/>
          <p:cNvSpPr/>
          <p:nvPr/>
        </p:nvSpPr>
        <p:spPr>
          <a:xfrm>
            <a:off x="1343025" y="614362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2295525" y="598170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8" name="Text 66"/>
          <p:cNvSpPr/>
          <p:nvPr/>
        </p:nvSpPr>
        <p:spPr>
          <a:xfrm>
            <a:off x="2486025" y="614362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교전통제소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61097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0" name="Text 68"/>
          <p:cNvSpPr/>
          <p:nvPr/>
        </p:nvSpPr>
        <p:spPr>
          <a:xfrm>
            <a:off x="1172527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84922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2" name="Text 70"/>
          <p:cNvSpPr/>
          <p:nvPr/>
        </p:nvSpPr>
        <p:spPr>
          <a:xfrm>
            <a:off x="1296352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4087475" y="598170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4" name="Text 72"/>
          <p:cNvSpPr/>
          <p:nvPr/>
        </p:nvSpPr>
        <p:spPr>
          <a:xfrm>
            <a:off x="14201775" y="614362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706725" y="5981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6" name="Text 74"/>
          <p:cNvSpPr/>
          <p:nvPr/>
        </p:nvSpPr>
        <p:spPr>
          <a:xfrm>
            <a:off x="15821025" y="614362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152525" y="656272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8" name="Text 76"/>
          <p:cNvSpPr/>
          <p:nvPr/>
        </p:nvSpPr>
        <p:spPr>
          <a:xfrm>
            <a:off x="1343025" y="67246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2295525" y="656272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0" name="Text 78"/>
          <p:cNvSpPr/>
          <p:nvPr/>
        </p:nvSpPr>
        <p:spPr>
          <a:xfrm>
            <a:off x="2486025" y="67246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19 · 요격 포대 15 (천마 5 · 천궁-II 6 · 비호 2 · PAC-3 1 · L-SAM 1)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61097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2" name="Text 80"/>
          <p:cNvSpPr/>
          <p:nvPr/>
        </p:nvSpPr>
        <p:spPr>
          <a:xfrm>
            <a:off x="1172527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284922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4" name="Text 82"/>
          <p:cNvSpPr/>
          <p:nvPr/>
        </p:nvSpPr>
        <p:spPr>
          <a:xfrm>
            <a:off x="1296352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4087475" y="656272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6" name="Text 84"/>
          <p:cNvSpPr/>
          <p:nvPr/>
        </p:nvSpPr>
        <p:spPr>
          <a:xfrm>
            <a:off x="14201775" y="67246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706725" y="6562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8" name="Text 86"/>
          <p:cNvSpPr/>
          <p:nvPr/>
        </p:nvSpPr>
        <p:spPr>
          <a:xfrm>
            <a:off x="15821025" y="67246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1143000" y="7496175"/>
            <a:ext cx="164820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(정의 입력) 수: 서버 c: 처리시간: 대기실 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구성과 보고 주기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19대 6종. 센서→C2 보고주기 차등이 항적 갱신 속도를 결정한다 (IADS_codex 정본, ADR-057).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6334125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1362075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05750" y="2495550"/>
            <a:ext cx="10477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8" name="Text 6"/>
          <p:cNvSpPr/>
          <p:nvPr/>
        </p:nvSpPr>
        <p:spPr>
          <a:xfrm>
            <a:off x="8039100" y="26670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53500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9086850" y="26670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탐지거리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382250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91800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보고주기 (비례 막대)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32575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Pine Block-B (GPR)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39100" y="32575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86850" y="32575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km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91800" y="3286125"/>
            <a:ext cx="4572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17" name="Text 15"/>
          <p:cNvSpPr/>
          <p:nvPr/>
        </p:nvSpPr>
        <p:spPr>
          <a:xfrm>
            <a:off x="15297150" y="3257550"/>
            <a:ext cx="5425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52525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9" name="Text 17"/>
          <p:cNvSpPr/>
          <p:nvPr/>
        </p:nvSpPr>
        <p:spPr>
          <a:xfrm>
            <a:off x="1362075" y="38385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FPS-117 (ACR_E · ACR_W)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5750" y="36766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1" name="Text 19"/>
          <p:cNvSpPr/>
          <p:nvPr/>
        </p:nvSpPr>
        <p:spPr>
          <a:xfrm>
            <a:off x="8039100" y="38385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53500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3" name="Text 21"/>
          <p:cNvSpPr/>
          <p:nvPr/>
        </p:nvSpPr>
        <p:spPr>
          <a:xfrm>
            <a:off x="9086850" y="38385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km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82250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91800" y="3867150"/>
            <a:ext cx="2286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26" name="Text 24"/>
          <p:cNvSpPr/>
          <p:nvPr/>
        </p:nvSpPr>
        <p:spPr>
          <a:xfrm>
            <a:off x="13011150" y="3838575"/>
            <a:ext cx="4286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52525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8" name="Text 26"/>
          <p:cNvSpPr/>
          <p:nvPr/>
        </p:nvSpPr>
        <p:spPr>
          <a:xfrm>
            <a:off x="1362075" y="44196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TPS-880K 국지방공레이더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05750" y="425767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0" name="Text 28"/>
          <p:cNvSpPr/>
          <p:nvPr/>
        </p:nvSpPr>
        <p:spPr>
          <a:xfrm>
            <a:off x="8039100" y="44196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953500" y="4257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2" name="Text 30"/>
          <p:cNvSpPr/>
          <p:nvPr/>
        </p:nvSpPr>
        <p:spPr>
          <a:xfrm>
            <a:off x="9086850" y="44196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82250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91800" y="4448175"/>
            <a:ext cx="1143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35" name="Text 33"/>
          <p:cNvSpPr/>
          <p:nvPr/>
        </p:nvSpPr>
        <p:spPr>
          <a:xfrm>
            <a:off x="11868150" y="4419600"/>
            <a:ext cx="427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52525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7" name="Text 35"/>
          <p:cNvSpPr/>
          <p:nvPr/>
        </p:nvSpPr>
        <p:spPr>
          <a:xfrm>
            <a:off x="1362075" y="500062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천궁-II MFR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905750" y="483870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39" name="Text 37"/>
          <p:cNvSpPr/>
          <p:nvPr/>
        </p:nvSpPr>
        <p:spPr>
          <a:xfrm>
            <a:off x="8039100" y="500062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953500" y="4838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1" name="Text 39"/>
          <p:cNvSpPr/>
          <p:nvPr/>
        </p:nvSpPr>
        <p:spPr>
          <a:xfrm>
            <a:off x="9086850" y="500062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km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382250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91800" y="502920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44" name="Text 42"/>
          <p:cNvSpPr/>
          <p:nvPr/>
        </p:nvSpPr>
        <p:spPr>
          <a:xfrm>
            <a:off x="11010900" y="500062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52525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6" name="Text 44"/>
          <p:cNvSpPr/>
          <p:nvPr/>
        </p:nvSpPr>
        <p:spPr>
          <a:xfrm>
            <a:off x="1362075" y="55816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Patriot 레이더 (MFR_MDU_M)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05750" y="541972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48" name="Text 46"/>
          <p:cNvSpPr/>
          <p:nvPr/>
        </p:nvSpPr>
        <p:spPr>
          <a:xfrm>
            <a:off x="8039100" y="55816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953500" y="5419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0" name="Text 48"/>
          <p:cNvSpPr/>
          <p:nvPr/>
        </p:nvSpPr>
        <p:spPr>
          <a:xfrm>
            <a:off x="9086850" y="55816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km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382250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91800" y="5610225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53" name="Text 51"/>
          <p:cNvSpPr/>
          <p:nvPr/>
        </p:nvSpPr>
        <p:spPr>
          <a:xfrm>
            <a:off x="11010900" y="5581650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52525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5" name="Text 53"/>
          <p:cNvSpPr/>
          <p:nvPr/>
        </p:nvSpPr>
        <p:spPr>
          <a:xfrm>
            <a:off x="1362075" y="61626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L-SAM MFR (MFR_MDU_L)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905750" y="60007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7" name="Text 55"/>
          <p:cNvSpPr/>
          <p:nvPr/>
        </p:nvSpPr>
        <p:spPr>
          <a:xfrm>
            <a:off x="8039100" y="61626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953500" y="60007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9" name="Text 57"/>
          <p:cNvSpPr/>
          <p:nvPr/>
        </p:nvSpPr>
        <p:spPr>
          <a:xfrm>
            <a:off x="9086850" y="61626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 km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382250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1" name="Shape 59"/>
          <p:cNvSpPr/>
          <p:nvPr/>
        </p:nvSpPr>
        <p:spPr>
          <a:xfrm>
            <a:off x="10591800" y="619125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</p:sp>
      <p:sp>
        <p:nvSpPr>
          <p:cNvPr id="62" name="Text 60"/>
          <p:cNvSpPr/>
          <p:nvPr/>
        </p:nvSpPr>
        <p:spPr>
          <a:xfrm>
            <a:off x="11010900" y="616267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43000" y="91630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국지방공레이더(TPS-880K)의 MCRC 직접 보고는 As-Is에서 제거(ADR-080) — 방공C2A로만 보고. To-Be 측은 유지.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-&gt; To-Be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1866900"/>
            <a:ext cx="3843338" cy="587692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7734300"/>
            <a:ext cx="3843338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866900"/>
            <a:ext cx="3843338" cy="76200"/>
          </a:xfrm>
          <a:prstGeom prst="rect">
            <a:avLst/>
          </a:prstGeom>
          <a:solidFill>
            <a:srgbClr val="A3001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7" name="Shape 5"/>
          <p:cNvSpPr/>
          <p:nvPr/>
        </p:nvSpPr>
        <p:spPr>
          <a:xfrm>
            <a:off x="4976813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" name="Text 6"/>
          <p:cNvSpPr/>
          <p:nvPr/>
        </p:nvSpPr>
        <p:spPr>
          <a:xfrm>
            <a:off x="1514475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— 8가닥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14475" y="2771775"/>
            <a:ext cx="3193399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육·공 사람 매개 4채널 전량 (chat ×4 · voice ×2 · VTC ×2). 방공C2A→IAOC status ×2가 VTC 135초의 기능을 대체.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95888" y="1866900"/>
            <a:ext cx="3843338" cy="587692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195888" y="7734300"/>
            <a:ext cx="3843338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2" name="Shape 10"/>
          <p:cNvSpPr/>
          <p:nvPr/>
        </p:nvSpPr>
        <p:spPr>
          <a:xfrm>
            <a:off x="5195888" y="1866900"/>
            <a:ext cx="3843338" cy="76200"/>
          </a:xfrm>
          <a:prstGeom prst="rect">
            <a:avLst/>
          </a:prstGeom>
          <a:solidFill>
            <a:srgbClr val="2EB8C9"/>
          </a:solidFill>
          <a:ln/>
        </p:spPr>
      </p:sp>
      <p:sp>
        <p:nvSpPr>
          <p:cNvPr id="13" name="Shape 11"/>
          <p:cNvSpPr/>
          <p:nvPr/>
        </p:nvSpPr>
        <p:spPr>
          <a:xfrm>
            <a:off x="5195888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29700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5" name="Text 13"/>
          <p:cNvSpPr/>
          <p:nvPr/>
        </p:nvSpPr>
        <p:spPr>
          <a:xfrm>
            <a:off x="5567363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표기 변경 — 값 동일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67363" y="2771775"/>
            <a:ext cx="3193399" cy="192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C2↔C2 coord: datalink 1s → ifcn 1s (킬웹 IFCN, 전 링크 1초). ICC⇄KAMDOC 22 · ICC⇄MCRC 22 · ECS⇄ICC 24 · ECS⇄방공C2A 6.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48775" y="1866900"/>
            <a:ext cx="3843338" cy="587692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248775" y="7734300"/>
            <a:ext cx="3843338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48775" y="1866900"/>
            <a:ext cx="3843338" cy="76200"/>
          </a:xfrm>
          <a:prstGeom prst="rect">
            <a:avLst/>
          </a:prstGeom>
          <a:solidFill>
            <a:srgbClr val="3D8B4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48775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13082588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620250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— 조율층 결선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20250" y="2771775"/>
            <a:ext cx="3193399" cy="192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센서 → IAOC 직결 ×19 (주기 유지, 기존 보고선 병행) · C2 30개 노드 ⇄ IAOC report ×30 + coord ×60 + status ×2, 전부 ifcn 1s.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301663" y="1866900"/>
            <a:ext cx="3843338" cy="587692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301663" y="7734300"/>
            <a:ext cx="3843338" cy="95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01663" y="1866900"/>
            <a:ext cx="3843338" cy="7620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301663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35475" y="1866900"/>
            <a:ext cx="9525" cy="5876925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29" name="Text 27"/>
          <p:cNvSpPr/>
          <p:nvPr/>
        </p:nvSpPr>
        <p:spPr>
          <a:xfrm>
            <a:off x="13673138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 모드 공통 신설 — 2가닥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673138" y="2771775"/>
            <a:ext cx="3193399" cy="2300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⇄ 방공C2A kvmf-relay 30초 ×2 (ADR-081). As-Is·To-Be 양쪽에 존재하며, To-Be에서는 조율층 2초 경로가 이겨 선택되지 않는다 — 차분에는 나타나지 않는다.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15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15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→ 65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43815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902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매개 링크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53902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0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7620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2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최저속 링크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792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135s → 16s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08585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309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유한 용량 채널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0309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0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4097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269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 모드 공통 신설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69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2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분석: SC3 복합 동시 공격 · 30분 · 양 모드 비교.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562225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2895600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난수 (CRN)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14475" y="3343275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As-Is와 To-Be에 동일 seed의 동일 위협 스트림을 투입 — 구조 차이 외 변동 요인 제거, 대응표본 비교.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77350" y="2562225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825" y="2895600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30회 반복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48825" y="3343275"/>
            <a:ext cx="783717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간 독립 seed로 신뢰구간 산출 — 수렴·유의성 검정, 단일 실행의 우연 배제.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6129338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4475" y="6462713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플래그 ablation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14475" y="6910388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신규 거동을 플래그 단위로 하나씩 끄고 재측정 — 개선 효과의 귀속(attribution) 확인.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6129338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8825" y="6462713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가정값 민감도 스윕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48825" y="6910388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 C 가정값(음성 20초·문자 45초·VTC 135초)을 상하로 변주 — 결론이 구조 효과인지 수치 선택의 산물인지 분리.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46995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가정과 한계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324237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33600" y="3156645"/>
            <a:ext cx="15265527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육·공 협조 채널의 20·45·135초는 정책연구용 가정값(신뢰도 등급 C) — 구조는 2022.12.26 사건의 공식 교훈에 근거하나 개별 수치의 출처 문헌은 없으며, 민감도 스윕으로 보강.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427866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33600" y="4192935"/>
            <a:ext cx="1401259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지상배치 방공 C2 한정 — 요격기·해상 자산(KNTDS·함정)·상위 작전사 계선은 범위 외(ADR-060), 결선도에는 개념 표시만.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90158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33600" y="4815855"/>
            <a:ext cx="124181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배치에 주한미군 자산 미포함 — 타국 부대에 대한 지휘 권한이 없어 의도적으로 제외(ADR-036, 독립 축).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" y="552450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33600" y="5438775"/>
            <a:ext cx="1608419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국지방공레이더의 MCRC 직접 보고는 As-Is에서 제거(ADR-080) — To-Be 측은 유지. 링크 의미론은 IADS_codex 정본(ADR-057)을 따름.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614742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3600" y="6061695"/>
            <a:ext cx="15265527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사이 상급 경유 계선(kvmf-relay 30초, ADR-081)은 링크 지연이 아니라 체계 전체의 작전 반응시간을 옮겨 쓴 값이며, 중간 상급 노드 없이 왕복을 한 간선으로 축약했다. 임무 지표를 유의하게 움직이지 않는다 — 채택 근거는 구조 정합이다. 육↔공 세 채널의 지연 분포는 ADR-082로 전부 정규분포가 됐고, 세 값 모두 등급 C를 유지한다.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7873305"/>
            <a:ext cx="1718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자료의 모든 수치·좌표·확률은 공개자료 기반의 정책연구용 개념값이며 실제 작전자료가 아닙니다. 좌표는 도시·권역 수준 개념좌표입니다.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육·공 협조 채널 상세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사람이 매개 — 음성 절차 지연으로 모델링 (전송로 성능이 아님, ADR-058).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7867650" cy="3132758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4475" y="2900363"/>
            <a:ext cx="685800" cy="15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1725" y="2819400"/>
            <a:ext cx="22243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문자 — 45초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14475" y="3286125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MCRC → 방공C2A ×2 (공중항적 하달, report) / 방공C2A → MCRC ×2 (국지항적 상행, report)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14475" y="4170015"/>
            <a:ext cx="733844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지연 분포: Normal(45, σ7.5)초 — ADR-082 (종전 Tri(20,45,120), 평균 61.7→45초)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486025"/>
            <a:ext cx="7867650" cy="3132758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8825" y="2900363"/>
            <a:ext cx="6858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06075" y="2819400"/>
            <a:ext cx="23409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음성 — 20초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9648825" y="3286125"/>
            <a:ext cx="783717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→ MCRC ×2 (교전 승인 협조, coord)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48825" y="3804270"/>
            <a:ext cx="7837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지연 분포: Normal(20, σ=5)초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143000" y="5885483"/>
            <a:ext cx="7867650" cy="3544267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9050">
            <a:solidFill>
              <a:srgbClr val="A3001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000" y="6309345"/>
            <a:ext cx="6858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81250" y="6228383"/>
            <a:ext cx="31788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voice/VTC 화상 — 135초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524000" y="6695108"/>
            <a:ext cx="731882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→ MCRC ×2 (교전현황 공유, status) · 지연 분포: Normal(135, σ22.5)초 — ADR-082 (종전 Tri(90,180,270), 대표값 180→135초)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24000" y="7578998"/>
            <a:ext cx="78162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유일한 유한 용량 채널 — 서버 1 · 수용 4건 · 신선도 300초 → 초과분 드롭 발생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277350" y="5885483"/>
            <a:ext cx="7867650" cy="3544267"/>
          </a:xfrm>
          <a:prstGeom prst="roundRect">
            <a:avLst>
              <a:gd name="adj" fmla="val 3225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48825" y="6509891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합계: 4종 × 방공C2A 2개소 = 8가닥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648825" y="6976616"/>
            <a:ext cx="7338441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20·45·135초는 정책연구용 가정값(신뢰도 등급 C). 구조(사람 매개)는 2022.12.26 사건의 공식 교훈에 근거하나, 개별 수치의 출처 문헌은 없음 → 민감도 분석으로 보강. ADR-082의 분포 통일은 임무 지표를 유의하게 움직이지 않았고(12 seed, 7개 지표 CI 전부 0 포함) 교전현황 전달률만 10.3%→13.3%로 변했다.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유형 범례와 파라미터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1866900"/>
            <a:ext cx="78867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7325" y="2324100"/>
            <a:ext cx="8572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2225" y="2124075"/>
            <a:ext cx="3705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report-cycle — 레이더 보고 주기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2225" y="2428875"/>
            <a:ext cx="3705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 · 주기 라벨 병기 (16 / 8 / 4 / 1초)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258300" y="1866900"/>
            <a:ext cx="78867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2625" y="2324100"/>
            <a:ext cx="8572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77525" y="2124075"/>
            <a:ext cx="3939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datalink / ifcn — 기계 간 1초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677525" y="2428875"/>
            <a:ext cx="3939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 · C2↔C2 및 To-Be 조율층 전 링크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143000" y="3181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7325" y="3648075"/>
            <a:ext cx="8572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2225" y="3448050"/>
            <a:ext cx="34904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포대 내부 발사명령 1초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2562225" y="3752850"/>
            <a:ext cx="34904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굵은 실선 · ECS → 발사대 ×15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258300" y="3181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AF5FD"/>
          </a:solidFill>
          <a:ln w="19050">
            <a:solidFill>
              <a:srgbClr val="7B3FA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2150" y="3648075"/>
            <a:ext cx="8572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87050" y="3448050"/>
            <a:ext cx="54750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kvmf-relay — 상급 경유(육군 계통), 30초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0687050" y="3752850"/>
            <a:ext cx="54750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파선·중간 굵기 · 방공C2A ⇄ 방공C2A ×2 · 양 모드 공통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143000" y="45148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FF8EF"/>
          </a:solidFill>
          <a:ln w="19050">
            <a:solidFill>
              <a:srgbClr val="E08A0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6850" y="4981575"/>
            <a:ext cx="8572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571750" y="4781550"/>
            <a:ext cx="44440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— 사람이 타자, 45초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2571750" y="5086350"/>
            <a:ext cx="44440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파선·굵게 · Normal(45, σ7.5) · As-Is 전용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258300" y="45148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DF1F1"/>
          </a:solidFill>
          <a:ln w="19050">
            <a:solidFill>
              <a:srgbClr val="D32F2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82150" y="4981575"/>
            <a:ext cx="857250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87050" y="4781550"/>
            <a:ext cx="3789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— 사람이 통화, 20초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10687050" y="5086350"/>
            <a:ext cx="3789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파선·굵게 · Normal(20,5) · As-Is 전용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1143000" y="5848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BEEF0"/>
          </a:solidFill>
          <a:ln w="19050">
            <a:solidFill>
              <a:srgbClr val="A3001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6850" y="6315075"/>
            <a:ext cx="857250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571750" y="6115050"/>
            <a:ext cx="5819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voice/VTC — 화상회의, 135초</a:t>
            </a:r>
            <a:endParaRPr lang="en-US" sz="1800" dirty="0"/>
          </a:p>
        </p:txBody>
      </p:sp>
      <p:sp>
        <p:nvSpPr>
          <p:cNvPr id="30" name="Text 21"/>
          <p:cNvSpPr/>
          <p:nvPr/>
        </p:nvSpPr>
        <p:spPr>
          <a:xfrm>
            <a:off x="2571750" y="6419850"/>
            <a:ext cx="5819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이중선·굵게 · Normal(135, σ22.5) · 1채널·4건 · As-Is 전용</a:t>
            </a:r>
            <a:endParaRPr lang="en-US" sz="1800" dirty="0"/>
          </a:p>
        </p:txBody>
      </p:sp>
      <p:sp>
        <p:nvSpPr>
          <p:cNvPr id="31" name="Text 22"/>
          <p:cNvSpPr/>
          <p:nvPr/>
        </p:nvSpPr>
        <p:spPr>
          <a:xfrm>
            <a:off x="342900" y="9115425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매개하는 3종은 As-Is에만 존재 — 굵은 선 8가닥의 유무가 두 구조의 유일한 차이.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2026-08-02T14:45:44Z</dcterms:created>
  <dcterms:modified xsi:type="dcterms:W3CDTF">2026-08-02T14:45:44Z</dcterms:modified>
</cp:coreProperties>
</file>