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4" r:id="rId4"/>
    <p:sldId id="259" r:id="rId5"/>
    <p:sldId id="275" r:id="rId6"/>
    <p:sldId id="266" r:id="rId7"/>
    <p:sldId id="260" r:id="rId8"/>
    <p:sldId id="276" r:id="rId9"/>
    <p:sldId id="27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1" r:id="rId19"/>
    <p:sldId id="272" r:id="rId20"/>
    <p:sldId id="273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0"/>
    <p:restoredTop sz="88003"/>
  </p:normalViewPr>
  <p:slideViewPr>
    <p:cSldViewPr snapToGrid="0" snapToObjects="1">
      <p:cViewPr>
        <p:scale>
          <a:sx n="74" d="100"/>
          <a:sy n="74" d="100"/>
        </p:scale>
        <p:origin x="48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4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한국형 합동방공체계 C2 구조의 As-Is/To-Be를 이산사건 시뮬레이션으로 비교한 모델의 설계 브리핑. 결과가 아니라 모델 자체의 구조·교신·가정을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스크립트</a:t>
            </a:r>
            <a:r>
              <a:rPr dirty="0"/>
              <a:t> —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설명하기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장은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IADS와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장입니다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요약하면</a:t>
            </a:r>
            <a:r>
              <a:rPr dirty="0"/>
              <a:t> — "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무기·같은</a:t>
            </a:r>
            <a:r>
              <a:rPr dirty="0"/>
              <a:t> </a:t>
            </a:r>
            <a:r>
              <a:rPr dirty="0" err="1"/>
              <a:t>레이더</a:t>
            </a:r>
            <a:r>
              <a:rPr dirty="0"/>
              <a:t> </a:t>
            </a:r>
            <a:r>
              <a:rPr dirty="0" err="1"/>
              <a:t>숫자를</a:t>
            </a:r>
            <a:r>
              <a:rPr dirty="0"/>
              <a:t> </a:t>
            </a:r>
            <a:r>
              <a:rPr dirty="0" err="1"/>
              <a:t>쓰지만</a:t>
            </a:r>
            <a:r>
              <a:rPr dirty="0"/>
              <a:t>,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미사일이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순간을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그리고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명령이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그립니다</a:t>
            </a:r>
            <a:r>
              <a:rPr dirty="0"/>
              <a:t>."</a:t>
            </a:r>
          </a:p>
          <a:p>
            <a:endParaRPr dirty="0"/>
          </a:p>
          <a:p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위에서부터</a:t>
            </a:r>
            <a:r>
              <a:rPr dirty="0"/>
              <a:t> </a:t>
            </a:r>
            <a:r>
              <a:rPr dirty="0" err="1"/>
              <a:t>읽겠습니다</a:t>
            </a:r>
            <a:r>
              <a:rPr dirty="0"/>
              <a:t>.</a:t>
            </a:r>
          </a:p>
          <a:p>
            <a:r>
              <a:rPr dirty="0"/>
              <a:t>1)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초점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요격이</a:t>
            </a:r>
            <a:r>
              <a:rPr dirty="0"/>
              <a:t> </a:t>
            </a:r>
            <a:r>
              <a:rPr dirty="0" err="1"/>
              <a:t>성공하는가</a:t>
            </a:r>
            <a:r>
              <a:rPr dirty="0"/>
              <a:t>"(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)</a:t>
            </a:r>
            <a:r>
              <a:rPr dirty="0" err="1"/>
              <a:t>이고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지휘조직을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빨라지는가</a:t>
            </a:r>
            <a:r>
              <a:rPr dirty="0"/>
              <a:t>"(</a:t>
            </a:r>
            <a:r>
              <a:rPr dirty="0" err="1"/>
              <a:t>지휘통제</a:t>
            </a:r>
            <a:r>
              <a:rPr dirty="0"/>
              <a:t>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다르니</a:t>
            </a:r>
            <a:r>
              <a:rPr dirty="0"/>
              <a:t> </a:t>
            </a:r>
            <a:r>
              <a:rPr dirty="0" err="1"/>
              <a:t>현미경을</a:t>
            </a:r>
            <a:r>
              <a:rPr dirty="0"/>
              <a:t> </a:t>
            </a:r>
            <a:r>
              <a:rPr dirty="0" err="1"/>
              <a:t>대는</a:t>
            </a:r>
            <a:r>
              <a:rPr dirty="0"/>
              <a:t> </a:t>
            </a:r>
            <a:r>
              <a:rPr dirty="0" err="1"/>
              <a:t>곳이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/>
              <a:t>2)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축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미군식</a:t>
            </a:r>
            <a:r>
              <a:rPr dirty="0"/>
              <a:t> </a:t>
            </a:r>
            <a:r>
              <a:rPr dirty="0" err="1"/>
              <a:t>일반론</a:t>
            </a:r>
            <a:r>
              <a:rPr dirty="0"/>
              <a:t>(Linear vs Kill-web)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 — </a:t>
            </a:r>
            <a:r>
              <a:rPr dirty="0" err="1"/>
              <a:t>육군과</a:t>
            </a:r>
            <a:r>
              <a:rPr dirty="0"/>
              <a:t> </a:t>
            </a:r>
            <a:r>
              <a:rPr dirty="0" err="1"/>
              <a:t>공군이</a:t>
            </a:r>
            <a:r>
              <a:rPr dirty="0"/>
              <a:t> </a:t>
            </a:r>
            <a:r>
              <a:rPr dirty="0" err="1"/>
              <a:t>갈라져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지금</a:t>
            </a:r>
            <a:r>
              <a:rPr dirty="0"/>
              <a:t>(As-Is)</a:t>
            </a:r>
            <a:r>
              <a:rPr dirty="0" err="1"/>
              <a:t>과</a:t>
            </a:r>
            <a:r>
              <a:rPr dirty="0"/>
              <a:t>, </a:t>
            </a:r>
            <a:r>
              <a:rPr dirty="0" err="1"/>
              <a:t>합동방공</a:t>
            </a:r>
            <a:r>
              <a:rPr dirty="0"/>
              <a:t> </a:t>
            </a:r>
            <a:r>
              <a:rPr dirty="0" err="1"/>
              <a:t>조율층</a:t>
            </a:r>
            <a:r>
              <a:rPr dirty="0"/>
              <a:t>(IAOC)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안</a:t>
            </a:r>
            <a:r>
              <a:rPr dirty="0"/>
              <a:t>(To-Be)</a:t>
            </a:r>
            <a:r>
              <a:rPr dirty="0" err="1"/>
              <a:t>입니다</a:t>
            </a:r>
            <a:r>
              <a:rPr dirty="0"/>
              <a:t>.</a:t>
            </a:r>
          </a:p>
          <a:p>
            <a:r>
              <a:rPr dirty="0"/>
              <a:t>3) </a:t>
            </a:r>
            <a:r>
              <a:rPr dirty="0" err="1"/>
              <a:t>해상도</a:t>
            </a:r>
            <a:r>
              <a:rPr dirty="0"/>
              <a:t> </a:t>
            </a:r>
            <a:r>
              <a:rPr dirty="0" err="1"/>
              <a:t>배분</a:t>
            </a:r>
            <a:r>
              <a:rPr dirty="0"/>
              <a:t> —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계산할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요격점·명중확률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물리를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지휘소의</a:t>
            </a:r>
            <a:r>
              <a:rPr dirty="0"/>
              <a:t> </a:t>
            </a:r>
            <a:r>
              <a:rPr dirty="0" err="1"/>
              <a:t>줄서기</a:t>
            </a:r>
            <a:r>
              <a:rPr dirty="0"/>
              <a:t>(</a:t>
            </a:r>
            <a:r>
              <a:rPr dirty="0" err="1"/>
              <a:t>대기행렬</a:t>
            </a:r>
            <a:r>
              <a:rPr dirty="0"/>
              <a:t>)·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절차·사람이</a:t>
            </a:r>
            <a:r>
              <a:rPr dirty="0"/>
              <a:t> </a:t>
            </a:r>
            <a:r>
              <a:rPr dirty="0" err="1"/>
              <a:t>전화하는</a:t>
            </a:r>
            <a:r>
              <a:rPr dirty="0"/>
              <a:t> </a:t>
            </a:r>
            <a:r>
              <a:rPr dirty="0" err="1"/>
              <a:t>채널을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</a:p>
          <a:p>
            <a:r>
              <a:rPr dirty="0"/>
              <a:t>4) </a:t>
            </a:r>
            <a:r>
              <a:rPr dirty="0" err="1"/>
              <a:t>위협</a:t>
            </a:r>
            <a:r>
              <a:rPr dirty="0"/>
              <a:t> </a:t>
            </a:r>
            <a:r>
              <a:rPr dirty="0" err="1"/>
              <a:t>운동학</a:t>
            </a:r>
            <a:r>
              <a:rPr dirty="0"/>
              <a:t> —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위협의</a:t>
            </a:r>
            <a:r>
              <a:rPr dirty="0"/>
              <a:t> </a:t>
            </a:r>
            <a:r>
              <a:rPr dirty="0" err="1"/>
              <a:t>비행경로를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경로로</a:t>
            </a:r>
            <a:r>
              <a:rPr dirty="0"/>
              <a:t> </a:t>
            </a:r>
            <a:r>
              <a:rPr dirty="0" err="1"/>
              <a:t>단순화했습니다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"</a:t>
            </a:r>
            <a:r>
              <a:rPr dirty="0" err="1"/>
              <a:t>요격점이</a:t>
            </a:r>
            <a:r>
              <a:rPr dirty="0"/>
              <a:t> </a:t>
            </a:r>
            <a:r>
              <a:rPr dirty="0" err="1"/>
              <a:t>성립하는가</a:t>
            </a:r>
            <a:r>
              <a:rPr dirty="0"/>
              <a:t>" </a:t>
            </a:r>
            <a:r>
              <a:rPr dirty="0" err="1"/>
              <a:t>계산만은</a:t>
            </a:r>
            <a:r>
              <a:rPr dirty="0"/>
              <a:t>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계산기를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가져와</a:t>
            </a:r>
            <a:r>
              <a:rPr dirty="0"/>
              <a:t> </a:t>
            </a:r>
            <a:r>
              <a:rPr dirty="0" err="1"/>
              <a:t>썼기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(</a:t>
            </a:r>
            <a:r>
              <a:rPr dirty="0" err="1"/>
              <a:t>커널</a:t>
            </a:r>
            <a:r>
              <a:rPr dirty="0"/>
              <a:t> </a:t>
            </a:r>
            <a:r>
              <a:rPr dirty="0" err="1"/>
              <a:t>패리티</a:t>
            </a:r>
            <a:r>
              <a:rPr dirty="0"/>
              <a:t>) </a:t>
            </a:r>
            <a:r>
              <a:rPr dirty="0" err="1"/>
              <a:t>단순화가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왜곡하지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5) </a:t>
            </a:r>
            <a:r>
              <a:rPr dirty="0" err="1"/>
              <a:t>검증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엔진과</a:t>
            </a:r>
            <a:r>
              <a:rPr dirty="0"/>
              <a:t> </a:t>
            </a:r>
            <a:r>
              <a:rPr dirty="0" err="1"/>
              <a:t>옛</a:t>
            </a:r>
            <a:r>
              <a:rPr dirty="0"/>
              <a:t> </a:t>
            </a:r>
            <a:r>
              <a:rPr dirty="0" err="1"/>
              <a:t>엔진을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돌려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방식이고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(SHA-256)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찍어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고칠</a:t>
            </a:r>
            <a:r>
              <a:rPr dirty="0"/>
              <a:t> </a:t>
            </a:r>
            <a:r>
              <a:rPr dirty="0" err="1"/>
              <a:t>때마다</a:t>
            </a:r>
            <a:r>
              <a:rPr dirty="0"/>
              <a:t>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그대로인지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</a:t>
            </a:r>
            <a:r>
              <a:rPr dirty="0" err="1"/>
              <a:t>회귀로</a:t>
            </a:r>
            <a:r>
              <a:rPr dirty="0"/>
              <a:t> </a:t>
            </a:r>
            <a:r>
              <a:rPr dirty="0" err="1"/>
              <a:t>간주하고</a:t>
            </a:r>
            <a:r>
              <a:rPr dirty="0"/>
              <a:t> </a:t>
            </a:r>
            <a:r>
              <a:rPr dirty="0" err="1"/>
              <a:t>커밋을</a:t>
            </a:r>
            <a:r>
              <a:rPr dirty="0"/>
              <a:t> </a:t>
            </a:r>
            <a:r>
              <a:rPr dirty="0" err="1"/>
              <a:t>막습니다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금색</a:t>
            </a:r>
            <a:r>
              <a:rPr dirty="0"/>
              <a:t> </a:t>
            </a:r>
            <a:r>
              <a:rPr dirty="0" err="1"/>
              <a:t>줄이</a:t>
            </a:r>
            <a:r>
              <a:rPr dirty="0"/>
              <a:t> </a:t>
            </a:r>
            <a:r>
              <a:rPr dirty="0" err="1"/>
              <a:t>제일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 — </a:t>
            </a:r>
            <a:r>
              <a:rPr dirty="0" err="1"/>
              <a:t>무기·센서</a:t>
            </a:r>
            <a:r>
              <a:rPr dirty="0"/>
              <a:t> </a:t>
            </a:r>
            <a:r>
              <a:rPr dirty="0" err="1"/>
              <a:t>숫자의</a:t>
            </a:r>
            <a:r>
              <a:rPr dirty="0"/>
              <a:t> </a:t>
            </a:r>
            <a:r>
              <a:rPr dirty="0" err="1"/>
              <a:t>원장은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같습니다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결과에서</a:t>
            </a:r>
            <a:r>
              <a:rPr dirty="0"/>
              <a:t> As-</a:t>
            </a:r>
            <a:r>
              <a:rPr dirty="0" err="1"/>
              <a:t>Is와</a:t>
            </a:r>
            <a:r>
              <a:rPr dirty="0"/>
              <a:t> To-</a:t>
            </a:r>
            <a:r>
              <a:rPr dirty="0" err="1"/>
              <a:t>Be의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오로지</a:t>
            </a:r>
            <a:r>
              <a:rPr dirty="0"/>
              <a:t> </a:t>
            </a:r>
            <a:r>
              <a:rPr dirty="0" err="1"/>
              <a:t>지휘구조의</a:t>
            </a:r>
            <a:r>
              <a:rPr dirty="0"/>
              <a:t> </a:t>
            </a:r>
            <a:r>
              <a:rPr dirty="0" err="1"/>
              <a:t>차이에서만</a:t>
            </a:r>
            <a:r>
              <a:rPr dirty="0"/>
              <a:t> </a:t>
            </a:r>
            <a:r>
              <a:rPr dirty="0" err="1"/>
              <a:t>나옵니다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비교가</a:t>
            </a:r>
            <a:r>
              <a:rPr dirty="0"/>
              <a:t> </a:t>
            </a:r>
            <a:r>
              <a:rPr dirty="0" err="1"/>
              <a:t>공정한</a:t>
            </a:r>
            <a:r>
              <a:rPr dirty="0"/>
              <a:t> </a:t>
            </a:r>
            <a:r>
              <a:rPr dirty="0" err="1"/>
              <a:t>이유입니다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: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3종 — </a:t>
            </a:r>
            <a:r>
              <a:rPr dirty="0" err="1"/>
              <a:t>주</a:t>
            </a:r>
            <a:r>
              <a:rPr dirty="0"/>
              <a:t> </a:t>
            </a:r>
            <a:r>
              <a:rPr dirty="0" err="1"/>
              <a:t>분석은</a:t>
            </a:r>
            <a:r>
              <a:rPr dirty="0"/>
              <a:t> SC3 </a:t>
            </a:r>
            <a:r>
              <a:rPr dirty="0" err="1"/>
              <a:t>복합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공격입니다</a:t>
            </a:r>
            <a:r>
              <a:rPr dirty="0"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C317-7050-E93A-E11A-2EAF1BD5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33D21-308B-B922-CAB8-01443795F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28AEE-A3EC-2001-D0B4-791CF3510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스크립트</a:t>
            </a:r>
            <a:r>
              <a:rPr dirty="0"/>
              <a:t> —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설명하기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장은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IADS와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장입니다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요약하면</a:t>
            </a:r>
            <a:r>
              <a:rPr dirty="0"/>
              <a:t> — "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무기·같은</a:t>
            </a:r>
            <a:r>
              <a:rPr dirty="0"/>
              <a:t> </a:t>
            </a:r>
            <a:r>
              <a:rPr dirty="0" err="1"/>
              <a:t>레이더</a:t>
            </a:r>
            <a:r>
              <a:rPr dirty="0"/>
              <a:t> </a:t>
            </a:r>
            <a:r>
              <a:rPr dirty="0" err="1"/>
              <a:t>숫자를</a:t>
            </a:r>
            <a:r>
              <a:rPr dirty="0"/>
              <a:t> </a:t>
            </a:r>
            <a:r>
              <a:rPr dirty="0" err="1"/>
              <a:t>쓰지만</a:t>
            </a:r>
            <a:r>
              <a:rPr dirty="0"/>
              <a:t>,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미사일이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순간을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그리고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명령이</a:t>
            </a:r>
            <a:r>
              <a:rPr dirty="0"/>
              <a:t> </a:t>
            </a:r>
            <a:r>
              <a:rPr dirty="0" err="1"/>
              <a:t>도는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그립니다</a:t>
            </a:r>
            <a:r>
              <a:rPr dirty="0"/>
              <a:t>."</a:t>
            </a:r>
          </a:p>
          <a:p>
            <a:endParaRPr dirty="0"/>
          </a:p>
          <a:p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위에서부터</a:t>
            </a:r>
            <a:r>
              <a:rPr dirty="0"/>
              <a:t> </a:t>
            </a:r>
            <a:r>
              <a:rPr dirty="0" err="1"/>
              <a:t>읽겠습니다</a:t>
            </a:r>
            <a:r>
              <a:rPr dirty="0"/>
              <a:t>.</a:t>
            </a:r>
          </a:p>
          <a:p>
            <a:r>
              <a:rPr dirty="0"/>
              <a:t>1)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초점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요격이</a:t>
            </a:r>
            <a:r>
              <a:rPr dirty="0"/>
              <a:t> </a:t>
            </a:r>
            <a:r>
              <a:rPr dirty="0" err="1"/>
              <a:t>성공하는가</a:t>
            </a:r>
            <a:r>
              <a:rPr dirty="0"/>
              <a:t>"(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)</a:t>
            </a:r>
            <a:r>
              <a:rPr dirty="0" err="1"/>
              <a:t>이고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"</a:t>
            </a:r>
            <a:r>
              <a:rPr dirty="0" err="1"/>
              <a:t>지휘조직을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빨라지는가</a:t>
            </a:r>
            <a:r>
              <a:rPr dirty="0"/>
              <a:t>"(</a:t>
            </a:r>
            <a:r>
              <a:rPr dirty="0" err="1"/>
              <a:t>지휘통제</a:t>
            </a:r>
            <a:r>
              <a:rPr dirty="0"/>
              <a:t>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다르니</a:t>
            </a:r>
            <a:r>
              <a:rPr dirty="0"/>
              <a:t> </a:t>
            </a:r>
            <a:r>
              <a:rPr dirty="0" err="1"/>
              <a:t>현미경을</a:t>
            </a:r>
            <a:r>
              <a:rPr dirty="0"/>
              <a:t> </a:t>
            </a:r>
            <a:r>
              <a:rPr dirty="0" err="1"/>
              <a:t>대는</a:t>
            </a:r>
            <a:r>
              <a:rPr dirty="0"/>
              <a:t> </a:t>
            </a:r>
            <a:r>
              <a:rPr dirty="0" err="1"/>
              <a:t>곳이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/>
              <a:t>2)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축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미군식</a:t>
            </a:r>
            <a:r>
              <a:rPr dirty="0"/>
              <a:t> </a:t>
            </a:r>
            <a:r>
              <a:rPr dirty="0" err="1"/>
              <a:t>일반론</a:t>
            </a:r>
            <a:r>
              <a:rPr dirty="0"/>
              <a:t>(Linear vs Kill-web)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 — </a:t>
            </a:r>
            <a:r>
              <a:rPr dirty="0" err="1"/>
              <a:t>육군과</a:t>
            </a:r>
            <a:r>
              <a:rPr dirty="0"/>
              <a:t> </a:t>
            </a:r>
            <a:r>
              <a:rPr dirty="0" err="1"/>
              <a:t>공군이</a:t>
            </a:r>
            <a:r>
              <a:rPr dirty="0"/>
              <a:t> </a:t>
            </a:r>
            <a:r>
              <a:rPr dirty="0" err="1"/>
              <a:t>갈라져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지금</a:t>
            </a:r>
            <a:r>
              <a:rPr dirty="0"/>
              <a:t>(As-Is)</a:t>
            </a:r>
            <a:r>
              <a:rPr dirty="0" err="1"/>
              <a:t>과</a:t>
            </a:r>
            <a:r>
              <a:rPr dirty="0"/>
              <a:t>, </a:t>
            </a:r>
            <a:r>
              <a:rPr dirty="0" err="1"/>
              <a:t>합동방공</a:t>
            </a:r>
            <a:r>
              <a:rPr dirty="0"/>
              <a:t> </a:t>
            </a:r>
            <a:r>
              <a:rPr dirty="0" err="1"/>
              <a:t>조율층</a:t>
            </a:r>
            <a:r>
              <a:rPr dirty="0"/>
              <a:t>(IAOC)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안</a:t>
            </a:r>
            <a:r>
              <a:rPr dirty="0"/>
              <a:t>(To-Be)</a:t>
            </a:r>
            <a:r>
              <a:rPr dirty="0" err="1"/>
              <a:t>입니다</a:t>
            </a:r>
            <a:r>
              <a:rPr dirty="0"/>
              <a:t>.</a:t>
            </a:r>
          </a:p>
          <a:p>
            <a:r>
              <a:rPr dirty="0"/>
              <a:t>3) </a:t>
            </a:r>
            <a:r>
              <a:rPr dirty="0" err="1"/>
              <a:t>해상도</a:t>
            </a:r>
            <a:r>
              <a:rPr dirty="0"/>
              <a:t> </a:t>
            </a:r>
            <a:r>
              <a:rPr dirty="0" err="1"/>
              <a:t>배분</a:t>
            </a:r>
            <a:r>
              <a:rPr dirty="0"/>
              <a:t> —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계산할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요격점·명중확률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물리를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지휘소의</a:t>
            </a:r>
            <a:r>
              <a:rPr dirty="0"/>
              <a:t> </a:t>
            </a:r>
            <a:r>
              <a:rPr dirty="0" err="1"/>
              <a:t>줄서기</a:t>
            </a:r>
            <a:r>
              <a:rPr dirty="0"/>
              <a:t>(</a:t>
            </a:r>
            <a:r>
              <a:rPr dirty="0" err="1"/>
              <a:t>대기행렬</a:t>
            </a:r>
            <a:r>
              <a:rPr dirty="0"/>
              <a:t>)·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절차·사람이</a:t>
            </a:r>
            <a:r>
              <a:rPr dirty="0"/>
              <a:t> </a:t>
            </a:r>
            <a:r>
              <a:rPr dirty="0" err="1"/>
              <a:t>전화하는</a:t>
            </a:r>
            <a:r>
              <a:rPr dirty="0"/>
              <a:t> </a:t>
            </a:r>
            <a:r>
              <a:rPr dirty="0" err="1"/>
              <a:t>채널을</a:t>
            </a:r>
            <a:r>
              <a:rPr dirty="0"/>
              <a:t> </a:t>
            </a:r>
            <a:r>
              <a:rPr dirty="0" err="1"/>
              <a:t>정밀하게</a:t>
            </a:r>
            <a:r>
              <a:rPr dirty="0"/>
              <a:t> </a:t>
            </a:r>
            <a:r>
              <a:rPr dirty="0" err="1"/>
              <a:t>계산합니다</a:t>
            </a:r>
            <a:r>
              <a:rPr dirty="0"/>
              <a:t>.</a:t>
            </a:r>
          </a:p>
          <a:p>
            <a:r>
              <a:rPr dirty="0"/>
              <a:t>4) </a:t>
            </a:r>
            <a:r>
              <a:rPr dirty="0" err="1"/>
              <a:t>위협</a:t>
            </a:r>
            <a:r>
              <a:rPr dirty="0"/>
              <a:t> </a:t>
            </a:r>
            <a:r>
              <a:rPr dirty="0" err="1"/>
              <a:t>운동학</a:t>
            </a:r>
            <a:r>
              <a:rPr dirty="0"/>
              <a:t> —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위협의</a:t>
            </a:r>
            <a:r>
              <a:rPr dirty="0"/>
              <a:t> </a:t>
            </a:r>
            <a:r>
              <a:rPr dirty="0" err="1"/>
              <a:t>비행경로를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경로로</a:t>
            </a:r>
            <a:r>
              <a:rPr dirty="0"/>
              <a:t> </a:t>
            </a:r>
            <a:r>
              <a:rPr dirty="0" err="1"/>
              <a:t>단순화했습니다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"</a:t>
            </a:r>
            <a:r>
              <a:rPr dirty="0" err="1"/>
              <a:t>요격점이</a:t>
            </a:r>
            <a:r>
              <a:rPr dirty="0"/>
              <a:t> </a:t>
            </a:r>
            <a:r>
              <a:rPr dirty="0" err="1"/>
              <a:t>성립하는가</a:t>
            </a:r>
            <a:r>
              <a:rPr dirty="0"/>
              <a:t>" </a:t>
            </a:r>
            <a:r>
              <a:rPr dirty="0" err="1"/>
              <a:t>계산만은</a:t>
            </a:r>
            <a:r>
              <a:rPr dirty="0"/>
              <a:t>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계산기를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가져와</a:t>
            </a:r>
            <a:r>
              <a:rPr dirty="0"/>
              <a:t> </a:t>
            </a:r>
            <a:r>
              <a:rPr dirty="0" err="1"/>
              <a:t>썼기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(</a:t>
            </a:r>
            <a:r>
              <a:rPr dirty="0" err="1"/>
              <a:t>커널</a:t>
            </a:r>
            <a:r>
              <a:rPr dirty="0"/>
              <a:t> </a:t>
            </a:r>
            <a:r>
              <a:rPr dirty="0" err="1"/>
              <a:t>패리티</a:t>
            </a:r>
            <a:r>
              <a:rPr dirty="0"/>
              <a:t>) </a:t>
            </a:r>
            <a:r>
              <a:rPr dirty="0" err="1"/>
              <a:t>단순화가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왜곡하지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5) </a:t>
            </a:r>
            <a:r>
              <a:rPr dirty="0" err="1"/>
              <a:t>검증</a:t>
            </a:r>
            <a:r>
              <a:rPr dirty="0"/>
              <a:t> — </a:t>
            </a:r>
            <a:r>
              <a:rPr dirty="0" err="1"/>
              <a:t>원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엔진과</a:t>
            </a:r>
            <a:r>
              <a:rPr dirty="0"/>
              <a:t> </a:t>
            </a:r>
            <a:r>
              <a:rPr dirty="0" err="1"/>
              <a:t>옛</a:t>
            </a:r>
            <a:r>
              <a:rPr dirty="0"/>
              <a:t> </a:t>
            </a:r>
            <a:r>
              <a:rPr dirty="0" err="1"/>
              <a:t>엔진을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돌려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방식이고</a:t>
            </a:r>
            <a:r>
              <a:rPr dirty="0"/>
              <a:t>, </a:t>
            </a:r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(SHA-256)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찍어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고칠</a:t>
            </a:r>
            <a:r>
              <a:rPr dirty="0"/>
              <a:t> </a:t>
            </a:r>
            <a:r>
              <a:rPr dirty="0" err="1"/>
              <a:t>때마다</a:t>
            </a:r>
            <a:r>
              <a:rPr dirty="0"/>
              <a:t>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그대로인지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지문이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</a:t>
            </a:r>
            <a:r>
              <a:rPr dirty="0" err="1"/>
              <a:t>회귀로</a:t>
            </a:r>
            <a:r>
              <a:rPr dirty="0"/>
              <a:t> </a:t>
            </a:r>
            <a:r>
              <a:rPr dirty="0" err="1"/>
              <a:t>간주하고</a:t>
            </a:r>
            <a:r>
              <a:rPr dirty="0"/>
              <a:t> </a:t>
            </a:r>
            <a:r>
              <a:rPr dirty="0" err="1"/>
              <a:t>커밋을</a:t>
            </a:r>
            <a:r>
              <a:rPr dirty="0"/>
              <a:t> </a:t>
            </a:r>
            <a:r>
              <a:rPr dirty="0" err="1"/>
              <a:t>막습니다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금색</a:t>
            </a:r>
            <a:r>
              <a:rPr dirty="0"/>
              <a:t> </a:t>
            </a:r>
            <a:r>
              <a:rPr dirty="0" err="1"/>
              <a:t>줄이</a:t>
            </a:r>
            <a:r>
              <a:rPr dirty="0"/>
              <a:t> </a:t>
            </a:r>
            <a:r>
              <a:rPr dirty="0" err="1"/>
              <a:t>제일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 — </a:t>
            </a:r>
            <a:r>
              <a:rPr dirty="0" err="1"/>
              <a:t>무기·센서</a:t>
            </a:r>
            <a:r>
              <a:rPr dirty="0"/>
              <a:t> </a:t>
            </a:r>
            <a:r>
              <a:rPr dirty="0" err="1"/>
              <a:t>숫자의</a:t>
            </a:r>
            <a:r>
              <a:rPr dirty="0"/>
              <a:t> </a:t>
            </a:r>
            <a:r>
              <a:rPr dirty="0" err="1"/>
              <a:t>원장은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같습니다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결과에서</a:t>
            </a:r>
            <a:r>
              <a:rPr dirty="0"/>
              <a:t> As-</a:t>
            </a:r>
            <a:r>
              <a:rPr dirty="0" err="1"/>
              <a:t>Is와</a:t>
            </a:r>
            <a:r>
              <a:rPr dirty="0"/>
              <a:t> To-</a:t>
            </a:r>
            <a:r>
              <a:rPr dirty="0" err="1"/>
              <a:t>Be의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오로지</a:t>
            </a:r>
            <a:r>
              <a:rPr dirty="0"/>
              <a:t> </a:t>
            </a:r>
            <a:r>
              <a:rPr dirty="0" err="1"/>
              <a:t>지휘구조의</a:t>
            </a:r>
            <a:r>
              <a:rPr dirty="0"/>
              <a:t> </a:t>
            </a:r>
            <a:r>
              <a:rPr dirty="0" err="1"/>
              <a:t>차이에서만</a:t>
            </a:r>
            <a:r>
              <a:rPr dirty="0"/>
              <a:t> </a:t>
            </a:r>
            <a:r>
              <a:rPr dirty="0" err="1"/>
              <a:t>나옵니다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비교가</a:t>
            </a:r>
            <a:r>
              <a:rPr dirty="0"/>
              <a:t> </a:t>
            </a:r>
            <a:r>
              <a:rPr dirty="0" err="1"/>
              <a:t>공정한</a:t>
            </a:r>
            <a:r>
              <a:rPr dirty="0"/>
              <a:t> </a:t>
            </a:r>
            <a:r>
              <a:rPr dirty="0" err="1"/>
              <a:t>이유입니다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: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3종 — </a:t>
            </a:r>
            <a:r>
              <a:rPr dirty="0" err="1"/>
              <a:t>주</a:t>
            </a:r>
            <a:r>
              <a:rPr dirty="0"/>
              <a:t> </a:t>
            </a:r>
            <a:r>
              <a:rPr dirty="0" err="1"/>
              <a:t>분석은</a:t>
            </a:r>
            <a:r>
              <a:rPr dirty="0"/>
              <a:t> SC3 </a:t>
            </a:r>
            <a:r>
              <a:rPr dirty="0" err="1"/>
              <a:t>복합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공격입니다</a:t>
            </a:r>
            <a:r>
              <a:rPr dirty="0"/>
              <a:t>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DFCB7-C1A1-C2BA-DF54-A62EAB1D0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46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분절형 결선도. 군종별 수직 계선(공군-MCRC/KAMDOC, 육군-방공C2A, 해군-KNTDS)이 따로 서고, 육·공 사이는 사람이 매개하는 4채널(문자 45초·음성 20초·VTC 135초)로만 연결된다. 방공C2A 두 인스턴스 사이에는 육군 계통 상급 경유 계선(kvmf-relay 30초 ×2, ADR-081)이 있다 — 2022.12.26 사건의 공식 지적이 1군단↔수방사 항적 공유 지연인데 모델에 그 계선이 한 가닥도 없어 MCRC를 문자로 90초 왕복해야 했기 때문에 추가했다. 단 30초는 링크 지연이 아니라 체계 전체 작전 반응시간을 옮겨 쓴 값이고, 중간 상급 노드 없이 왕복을 한 간선으로 축약했으며, 임무 지표를 유의하게 움직이지 않는다(30 seed 자기쌍체 8개 지표 전부 CI가 0 포함, Δ격추 −0.57 [−2.57,+1.44]) — 국지방공 교전반경(비호 7km)이 두 권역 거리 20.4km보다 작기 때문. 채택 근거는 수치 개선이 아니라 구조 정합이다. 해상 계열은 모델 범위 외라 회색.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F590A-6166-B47A-49D9-22320CCF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74B00-BE43-E5EF-BB56-28C19342B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C97B7-D621-637E-DEA5-697CF80FA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TPS-880K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074D8-52C5-63D4-DDDC-68420FD3C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81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육·공 협조 채널의 분포 가정. ADR-082로 세 채널 전부 정규분포로 통일됐다 — chat Normal(45,σ7.5), voice Normal(20,σ5), VTC Normal(135,σ22.5). 형태 정리가 아니라 실질 변경임을 밝혀야 한다: VTC 대표값 180→135초(−25%), chat은 최빈값은 45로 같지만 평균이 61.7→45초(−27%). 다만 12 seed 자기쌍체에서 7개 지표 전부 CI가 0 포함(Δ격추 +0.83 [−3.09,+4.75])이고 뚜렷한 변화는 교전현황 전달률 10.3%→13.3% 하나뿐이다. VTC 135안은 대표값 유지안 Normal(180,σ45)와 통계적으로 구분되지 않아 사전 등록 규칙에 따라 택했다. VTC는 유일한 유한 용량 채널(서버1·수용4·신선도 300초)로 드롭이 발생한다. 세 값 모두 신뢰도 등급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To-Be 통합형. 합동방공C2 조율층(IAOC)이 버스로 들어와 전 노드가 ifcn 1초로 연결된다. 육·공 사람 매개 4채널은 전부 삭제. 기존 군종별 보고선은 유지되는 병렬 배포. 방공C2A 사이의 kvmf-relay 30초 ×2는 As-Is와 동일하게 존재하지만, To-Be에서는 조율층 2초 경로가 이겨 실제로 선택되지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5F99-B2D6-7248-DB59-20A459D8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9B8AE-1F87-461F-7C04-1ECCCBEAB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580F3-A080-B7E3-E9CA-81F88892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TPS-880K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9270F-FBFD-30FF-8223-DC736C457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89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F422-E2DB-4CDF-C467-042CEBB7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3E865-F8CC-72B7-1471-22D8F37F0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D25CC-18C4-6CE1-4DDC-5A63F1152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엔진이 실행하는 native IADS 파이프라인 6단계. 모든 신규 거동은 기능 플래그로 토글되어 감사 추적이 남고, ablation 실험의 기반이 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94A37-21BC-BA63-6854-35773F3C9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45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노드별 대기행렬 파라미터. 각 C2 노드는 서버 c개·유한 대기실 K의 대기행렬로 모델링되며 처리시간이 서비스 시간이다. As-Is 64노드, To-Be는 IAOC 1개가 추가된 65노드.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19대 6종. 보고주기 차등(16/8/4/1초)이 링크 의미론의 핵심 — 센서→C2 report-cycle이 항적 갱신 주기를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118링크에서 To-Be 223링크로의 전환 내역. 삭제는 육·공 4채널 8가닥뿐이고, 나머지는 전부 추가(센서 직결 19, C2-조율층 report/coord/status). C2간 coord는 datalink에서 ifcn으로 표기만 바뀐다. kvmf-relay 2가닥은 ADR-081로 양 모드 공통 신설이라 차분에 들어오지 않는다 — 임무 지표를 유의하게 움직이지 않으며 채택 근거는 구조 정합이다.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비교의 공정성을 담보하는 네 장치: CRN 공통 난수, 30회 반복 MC, 기능 플래그 ablation, 가정값 민감도 스윕. SC3 기준 30분 시나리오.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모델의 가정과 한계를 명시하고 마무리. 신뢰도 등급 C 가정값(20·45·135초), 범위 제한 ADR, 미군 미배치 사유, ADR-081 kvmf 계선의 축약 가정과 ADR-082 정규분포 통일.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결선도에서 사용한 선 표기 규칙. 사람이 매개하는 3종은 굵게 — As-Is에만 존재한다는 것이 다이어그램의 핵심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452813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b="1" kern="0" spc="300" dirty="0" err="1">
                <a:solidFill>
                  <a:srgbClr val="7FA8C9"/>
                </a:solidFill>
                <a:latin typeface="Arial" pitchFamily="34" charset="0"/>
                <a:cs typeface="Arial" pitchFamily="34" charset="-120"/>
              </a:rPr>
              <a:t>통합방공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4062412"/>
            <a:ext cx="1676400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571"/>
              </a:lnSpc>
              <a:buNone/>
            </a:pPr>
            <a:r>
              <a:rPr lang="en-US" sz="57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구조 </a:t>
            </a:r>
            <a:r>
              <a:rPr lang="en-US" sz="570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r>
              <a:rPr lang="en-US" sz="57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700" b="1" kern="0" spc="-7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24000" y="5310188"/>
            <a:ext cx="1676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9B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분절형 ↔ To-Be </a:t>
            </a:r>
            <a:r>
              <a:rPr lang="en-US" sz="2550" dirty="0" err="1">
                <a:solidFill>
                  <a:srgbClr val="A9B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IADS와의 차이점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</a:t>
            </a:r>
            <a:r>
              <a:rPr lang="en-US" altLang="ko-KR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ko-KR" alt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자산 파라미터는 고정하고</a:t>
            </a:r>
            <a:r>
              <a:rPr lang="en-US" altLang="ko-KR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C2 구조(분절 ↔ 통합)의 효과만 잰다</a:t>
            </a:r>
            <a:endParaRPr lang="en-US" sz="21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292421"/>
              </p:ext>
            </p:extLst>
          </p:nvPr>
        </p:nvGraphicFramePr>
        <p:xfrm>
          <a:off x="1143000" y="2500000"/>
          <a:ext cx="16383000" cy="5315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관점</a:t>
                      </a: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IADS — 원 모델</a:t>
                      </a: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본 모델 — K-JAMDS C2</a:t>
                      </a:r>
                    </a:p>
                  </a:txBody>
                  <a:tcPr marL="120000" marR="120000" marT="60000" marB="60000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모델</a:t>
                      </a:r>
                      <a:r>
                        <a:rPr sz="1400" b="1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E2A4A"/>
                          </a:solidFill>
                          <a:latin typeface="Arial"/>
                        </a:rPr>
                        <a:t>초점</a:t>
                      </a:r>
                      <a:endParaRPr sz="1400" b="1" dirty="0">
                        <a:solidFill>
                          <a:srgbClr val="1E2A4A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교전·물리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중심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— "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요격이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성공하는가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"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C2 큐잉 중심 — "지휘구조를 바꾸면 얼마나 빨라지는가"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비교 축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Linear 3축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지휘구조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 vs  Kill-web(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IBCS류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As-Is 분절형  vs  To-Be 통합형 (합동방공 조율층 IAOC 신설)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해상도 배분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교전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물리·확률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정밀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— PIP·PSSEK·포락선·3D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비행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프로파일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C2 큐잉 정밀 — M/M/c/K 대기행렬·승인계선·사람 매개 채널·병목 도출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위협 운동학</a:t>
                      </a: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3D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위상별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프로파일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탄도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워프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축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개념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경로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한계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명시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) —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단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조우점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(PIP)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계산은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codex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커널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패리티라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왜곡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없음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엔진·회귀 방어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A6270"/>
                          </a:solidFill>
                          <a:latin typeface="Arial"/>
                        </a:rPr>
                        <a:t>DES 정본 + 레거시 오라클 이중 실행 · 통계적 등가 게이트</a:t>
                      </a: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단일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DES(native) · SHA-256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비트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기준선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+ 38종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회귀</a:t>
                      </a:r>
                      <a:r>
                        <a:rPr sz="1400" b="0" dirty="0">
                          <a:solidFill>
                            <a:srgbClr val="5A6270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A6270"/>
                          </a:solidFill>
                          <a:latin typeface="Arial"/>
                        </a:rPr>
                        <a:t>스위트</a:t>
                      </a:r>
                      <a:endParaRPr sz="1400" b="0" dirty="0">
                        <a:solidFill>
                          <a:srgbClr val="5A6270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2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4A"/>
                          </a:solidFill>
                          <a:latin typeface="Arial"/>
                        </a:rPr>
                        <a:t>공통점</a:t>
                      </a:r>
                    </a:p>
                  </a:txBody>
                  <a:tcPr marL="120000" marR="120000" marT="60000" marB="60000" anchor="ctr">
                    <a:solidFill>
                      <a:srgbClr val="FFF3D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무기·센서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파라미터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원장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동일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PIP·PSSEK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조우점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물리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커널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이식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이산사건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(DES)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기반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CRN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공통난수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대응표본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Monte Carlo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통계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설계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· USFK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독립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축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—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결과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차이는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차이가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아니라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구조</a:t>
                      </a:r>
                      <a:r>
                        <a:rPr sz="1200" b="0" dirty="0">
                          <a:solidFill>
                            <a:srgbClr val="1E2A4A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A4A"/>
                          </a:solidFill>
                          <a:latin typeface="Arial"/>
                        </a:rPr>
                        <a:t>차이</a:t>
                      </a:r>
                      <a:endParaRPr sz="1200" b="0" dirty="0">
                        <a:solidFill>
                          <a:srgbClr val="1E2A4A"/>
                        </a:solidFill>
                        <a:latin typeface="Arial"/>
                      </a:endParaRPr>
                    </a:p>
                  </a:txBody>
                  <a:tcPr marL="120000" marR="120000" marT="60000" marB="60000" anchor="ctr">
                    <a:solidFill>
                      <a:srgbClr val="FFF3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DF36-5A46-4061-EFCA-ADB2B4B5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4B968F-5DC8-C9A1-E029-451CCBCBBBAD}"/>
              </a:ext>
            </a:extLst>
          </p:cNvPr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IADS와의 차이점</a:t>
            </a:r>
            <a:endParaRPr lang="en-US" sz="4200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A0DCB34-79D9-3872-A0E1-FD807F71D7C5}"/>
              </a:ext>
            </a:extLst>
          </p:cNvPr>
          <p:cNvSpPr/>
          <p:nvPr/>
        </p:nvSpPr>
        <p:spPr>
          <a:xfrm>
            <a:off x="966159" y="28639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공중 방어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F4572AC-8236-DF64-2E01-250ADD99479F}"/>
              </a:ext>
            </a:extLst>
          </p:cNvPr>
          <p:cNvSpPr/>
          <p:nvPr/>
        </p:nvSpPr>
        <p:spPr>
          <a:xfrm>
            <a:off x="5121216" y="2863969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탄도탄 방어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5B36FFC-5184-222A-E3B1-9328E7D39067}"/>
              </a:ext>
            </a:extLst>
          </p:cNvPr>
          <p:cNvSpPr/>
          <p:nvPr/>
        </p:nvSpPr>
        <p:spPr>
          <a:xfrm>
            <a:off x="966159" y="48451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MCRC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E2CEF9D-783B-4060-87CD-4B8A1CF9C322}"/>
              </a:ext>
            </a:extLst>
          </p:cNvPr>
          <p:cNvSpPr/>
          <p:nvPr/>
        </p:nvSpPr>
        <p:spPr>
          <a:xfrm>
            <a:off x="966159" y="713692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감시레이더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(FPS-117)</a:t>
            </a:r>
            <a:endParaRPr kumimoji="1"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93B0F0F-945A-7DEC-5CAB-82ED8E0957A4}"/>
              </a:ext>
            </a:extLst>
          </p:cNvPr>
          <p:cNvSpPr/>
          <p:nvPr/>
        </p:nvSpPr>
        <p:spPr>
          <a:xfrm>
            <a:off x="5121216" y="48451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KAMDOC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651110C-61C1-4C9D-5878-6CDB8AA93D58}"/>
              </a:ext>
            </a:extLst>
          </p:cNvPr>
          <p:cNvSpPr/>
          <p:nvPr/>
        </p:nvSpPr>
        <p:spPr>
          <a:xfrm>
            <a:off x="5121216" y="713692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 err="1">
                <a:solidFill>
                  <a:schemeClr val="tx1"/>
                </a:solidFill>
              </a:rPr>
              <a:t>그린파인레이더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천궁</a:t>
            </a:r>
            <a:r>
              <a:rPr kumimoji="1" lang="en-US" altLang="ko-KR" sz="2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</a:t>
            </a:r>
            <a:r>
              <a:rPr kumimoji="1" lang="en-US" altLang="ko-KR" sz="2400" b="1" dirty="0">
                <a:solidFill>
                  <a:schemeClr val="tx1"/>
                </a:solidFill>
              </a:rPr>
              <a:t>L-SAM MFR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4D53708-A975-B120-5AF5-85320C008542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2337759" y="5897593"/>
            <a:ext cx="0" cy="1239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42D17E7-4A38-83BF-3DC3-9D99608CA406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337759" y="3916393"/>
            <a:ext cx="0" cy="914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656BD15-B5FB-3DE5-4321-526B29318484}"/>
              </a:ext>
            </a:extLst>
          </p:cNvPr>
          <p:cNvCxnSpPr>
            <a:cxnSpLocks/>
            <a:stCxn id="11" idx="0"/>
            <a:endCxn id="7" idx="2"/>
          </p:cNvCxnSpPr>
          <p:nvPr/>
        </p:nvCxnSpPr>
        <p:spPr>
          <a:xfrm flipV="1">
            <a:off x="6492816" y="3916392"/>
            <a:ext cx="0" cy="92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5F6069F-53CF-D19D-8BAF-91EFF9B2D1E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6492816" y="5897593"/>
            <a:ext cx="0" cy="1239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4637FDF4-6B52-B4E9-6DE1-330B85310C3C}"/>
              </a:ext>
            </a:extLst>
          </p:cNvPr>
          <p:cNvCxnSpPr>
            <a:cxnSpLocks/>
          </p:cNvCxnSpPr>
          <p:nvPr/>
        </p:nvCxnSpPr>
        <p:spPr>
          <a:xfrm>
            <a:off x="4520242" y="2863969"/>
            <a:ext cx="0" cy="555613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 1">
            <a:extLst>
              <a:ext uri="{FF2B5EF4-FFF2-40B4-BE49-F238E27FC236}">
                <a16:creationId xmlns:a16="http://schemas.microsoft.com/office/drawing/2014/main" id="{8F0C28DC-B297-0E5D-5259-97E3751E97EA}"/>
              </a:ext>
            </a:extLst>
          </p:cNvPr>
          <p:cNvSpPr/>
          <p:nvPr/>
        </p:nvSpPr>
        <p:spPr>
          <a:xfrm>
            <a:off x="3489384" y="8996452"/>
            <a:ext cx="53498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altLang="ko-KR" sz="210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IADS(Linear)</a:t>
            </a:r>
            <a:endParaRPr lang="en-US" sz="2100" b="1" dirty="0"/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E53E732-E455-3DBF-FB98-6C78CF208F2A}"/>
              </a:ext>
            </a:extLst>
          </p:cNvPr>
          <p:cNvSpPr/>
          <p:nvPr/>
        </p:nvSpPr>
        <p:spPr>
          <a:xfrm>
            <a:off x="10210801" y="2404163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MCRC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3FEFE544-CD54-E8F2-C6A7-DCBE8D43B724}"/>
              </a:ext>
            </a:extLst>
          </p:cNvPr>
          <p:cNvSpPr/>
          <p:nvPr/>
        </p:nvSpPr>
        <p:spPr>
          <a:xfrm>
            <a:off x="14365858" y="2404163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</a:rPr>
              <a:t>KAMDOC</a:t>
            </a:r>
            <a:endParaRPr kumimoji="1"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8EB424EB-7F71-51A2-49C4-6F708BB95286}"/>
              </a:ext>
            </a:extLst>
          </p:cNvPr>
          <p:cNvSpPr/>
          <p:nvPr/>
        </p:nvSpPr>
        <p:spPr>
          <a:xfrm>
            <a:off x="9586823" y="4373593"/>
            <a:ext cx="8338867" cy="1052423"/>
          </a:xfrm>
          <a:prstGeom prst="roundRect">
            <a:avLst/>
          </a:prstGeom>
          <a:solidFill>
            <a:schemeClr val="accent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 err="1">
                <a:solidFill>
                  <a:schemeClr val="tx1"/>
                </a:solidFill>
              </a:rPr>
              <a:t>킬웹</a:t>
            </a:r>
            <a:r>
              <a:rPr kumimoji="1" lang="ko-KR" altLang="en-US" sz="2800" b="1" dirty="0">
                <a:solidFill>
                  <a:schemeClr val="tx1"/>
                </a:solidFill>
              </a:rPr>
              <a:t> 통합 데이터 층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CD78CAAE-55ED-AFF2-546E-9B4BFE2AD1E9}"/>
              </a:ext>
            </a:extLst>
          </p:cNvPr>
          <p:cNvSpPr/>
          <p:nvPr/>
        </p:nvSpPr>
        <p:spPr>
          <a:xfrm>
            <a:off x="9483305" y="7054072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>
                <a:solidFill>
                  <a:schemeClr val="tx1"/>
                </a:solidFill>
              </a:rPr>
              <a:t>센서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</a:t>
            </a:r>
            <a:r>
              <a:rPr kumimoji="1" lang="ko-KR" altLang="en-US" b="1" dirty="0">
                <a:solidFill>
                  <a:schemeClr val="tx1"/>
                </a:solidFill>
              </a:rPr>
              <a:t>그린파인</a:t>
            </a:r>
            <a:r>
              <a:rPr kumimoji="1" lang="en-US" altLang="ko-KR" b="1" dirty="0">
                <a:solidFill>
                  <a:schemeClr val="tx1"/>
                </a:solidFill>
              </a:rPr>
              <a:t>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FPS-117, MFR)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22795252-8779-E11C-A10E-5124D34F754F}"/>
              </a:ext>
            </a:extLst>
          </p:cNvPr>
          <p:cNvSpPr/>
          <p:nvPr/>
        </p:nvSpPr>
        <p:spPr>
          <a:xfrm>
            <a:off x="12473793" y="7054071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C2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(ICC,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ECS)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764C73DF-AAF5-2AAF-FDA0-A65F2327A874}"/>
              </a:ext>
            </a:extLst>
          </p:cNvPr>
          <p:cNvSpPr/>
          <p:nvPr/>
        </p:nvSpPr>
        <p:spPr>
          <a:xfrm>
            <a:off x="15441282" y="7054070"/>
            <a:ext cx="2743200" cy="1052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400" b="1" dirty="0" err="1">
                <a:solidFill>
                  <a:schemeClr val="tx1"/>
                </a:solidFill>
              </a:rPr>
              <a:t>슈터</a:t>
            </a:r>
            <a:r>
              <a:rPr kumimoji="1" lang="ko-KR" altLang="en-US" sz="2400" b="1" dirty="0">
                <a:solidFill>
                  <a:schemeClr val="tx1"/>
                </a:solidFill>
              </a:rPr>
              <a:t> 전체</a:t>
            </a:r>
            <a:endParaRPr kumimoji="1"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ko-KR" b="1" dirty="0">
                <a:solidFill>
                  <a:schemeClr val="tx1"/>
                </a:solidFill>
              </a:rPr>
              <a:t>(</a:t>
            </a:r>
            <a:r>
              <a:rPr kumimoji="1" lang="ko-KR" altLang="en-US" b="1" dirty="0">
                <a:solidFill>
                  <a:schemeClr val="tx1"/>
                </a:solidFill>
              </a:rPr>
              <a:t>천궁</a:t>
            </a:r>
            <a:r>
              <a:rPr kumimoji="1" lang="en-US" altLang="ko-KR" b="1" dirty="0">
                <a:solidFill>
                  <a:schemeClr val="tx1"/>
                </a:solidFill>
              </a:rPr>
              <a:t>,</a:t>
            </a:r>
            <a:r>
              <a:rPr kumimoji="1" lang="ko-KR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ko-KR" b="1" dirty="0">
                <a:solidFill>
                  <a:schemeClr val="tx1"/>
                </a:solidFill>
              </a:rPr>
              <a:t>L-SAM)</a:t>
            </a:r>
            <a:endParaRPr kumimoji="1"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CD5CCD8-20B8-E13E-24EE-0EFEEAB9C335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10854905" y="5426016"/>
            <a:ext cx="0" cy="1628056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89FEFF7-693C-BA2A-35FC-145B06B33F4D}"/>
              </a:ext>
            </a:extLst>
          </p:cNvPr>
          <p:cNvCxnSpPr>
            <a:cxnSpLocks/>
            <a:stCxn id="58" idx="0"/>
            <a:endCxn id="56" idx="2"/>
          </p:cNvCxnSpPr>
          <p:nvPr/>
        </p:nvCxnSpPr>
        <p:spPr>
          <a:xfrm flipH="1" flipV="1">
            <a:off x="13756257" y="5426016"/>
            <a:ext cx="89136" cy="162805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ACB5789A-94E1-FDAB-1846-1DD7DA18C67C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16746744" y="5371381"/>
            <a:ext cx="66138" cy="1682689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E7E98BA-BB14-CA7B-63F4-CDAE8ED55665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15737458" y="3456586"/>
            <a:ext cx="0" cy="90851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6AC0AEA-046E-99D7-F471-6EC892C078F8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11582401" y="3456586"/>
            <a:ext cx="0" cy="92419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 1">
            <a:extLst>
              <a:ext uri="{FF2B5EF4-FFF2-40B4-BE49-F238E27FC236}">
                <a16:creationId xmlns:a16="http://schemas.microsoft.com/office/drawing/2014/main" id="{BFA18156-8CC4-CD2F-31AC-EBE106BF6375}"/>
              </a:ext>
            </a:extLst>
          </p:cNvPr>
          <p:cNvSpPr/>
          <p:nvPr/>
        </p:nvSpPr>
        <p:spPr>
          <a:xfrm>
            <a:off x="12766381" y="8820239"/>
            <a:ext cx="22435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altLang="ko-KR" sz="210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IADS(Kill-Web)</a:t>
            </a:r>
            <a:endParaRPr lang="en-US" sz="2100" b="1" dirty="0"/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DAADABBE-FA7E-E0D7-52FE-D9B17844FF96}"/>
              </a:ext>
            </a:extLst>
          </p:cNvPr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IADS</a:t>
            </a:r>
            <a:r>
              <a:rPr lang="ko-KR" alt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구조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84610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C2 연결 구조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분절형 — 군종별 수직 계선, 육·공 간 사람 매개 협조 · 노드 64 · 링크 118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3350" y="9486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육·공 계선 사이의 유일한 연결이 사람 매개 4채널(굵은 주황·빨강·진홍) — 총 8가닥 (4종 × 방공C2A 2개소). 방공C2A 사이의 kvmf-relay 30초 ×2(보라)는 양 모드 공통.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40000" y="178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상위 작전사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000" y="275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합동방공 C2
조율층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000" y="39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524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660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000" y="78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요격부대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0000" y="1560000"/>
            <a:ext cx="14000000" cy="7000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B0B6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5A6270"/>
                </a:solidFill>
                <a:latin typeface="Arial"/>
              </a:rPr>
              <a:t>상위 작전사 — 공작사 · 지작사 · 해작사 · 수방사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모델 범위 밖 (ADR-060) — 아키텍처 맥락만, 링크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0000" y="2730000"/>
            <a:ext cx="82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B0B6BF"/>
                </a:solidFill>
                <a:latin typeface="Arial"/>
              </a:rPr>
              <a:t>조율층 없음 — 각 C2 체계가 작전사로 직접 올라간다 (이 빈 칸이 곧 구조 차이)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000" y="49000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ICC ×11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정보통합센터 W·C·E·MDU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0000" y="4900000"/>
            <a:ext cx="30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ECS ×15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포대 교전통제소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00000" y="62600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Green Pine ×1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16초 · 900km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00000" y="62600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FPS-117 ×2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8초 · 470km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0000" y="6260000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포대 MFR ×8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1초 (천궁-II·PAC·L-SAM)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0" y="62600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TPS-880K ×8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보고 4초 · 40km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0000" y="7560000"/>
            <a:ext cx="65000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요격 포대 ×15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천마 5 · 천궁-II 6 · 비호 2 · PAC-3 1 · L-SAM 1</a:t>
            </a:r>
          </a:p>
        </p:txBody>
      </p:sp>
      <p:cxnSp>
        <p:nvCxnSpPr>
          <p:cNvPr id="25" name="Connector 24"/>
          <p:cNvCxnSpPr>
            <a:stCxn id="20" idx="0"/>
            <a:endCxn id="14" idx="2"/>
          </p:cNvCxnSpPr>
          <p:nvPr/>
        </p:nvCxnSpPr>
        <p:spPr>
          <a:xfrm flipV="1">
            <a:off x="2550000" y="4560000"/>
            <a:ext cx="6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50000" y="509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16초</a:t>
            </a:r>
          </a:p>
        </p:txBody>
      </p:sp>
      <p:cxnSp>
        <p:nvCxnSpPr>
          <p:cNvPr id="27" name="Connector 26"/>
          <p:cNvCxnSpPr>
            <a:stCxn id="21" idx="0"/>
            <a:endCxn id="15" idx="2"/>
          </p:cNvCxnSpPr>
          <p:nvPr/>
        </p:nvCxnSpPr>
        <p:spPr>
          <a:xfrm flipV="1">
            <a:off x="5250000" y="4560000"/>
            <a:ext cx="13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50000" y="564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8초</a:t>
            </a:r>
          </a:p>
        </p:txBody>
      </p:sp>
      <p:cxnSp>
        <p:nvCxnSpPr>
          <p:cNvPr id="29" name="Connector 28"/>
          <p:cNvCxnSpPr>
            <a:stCxn id="22" idx="0"/>
            <a:endCxn id="19" idx="2"/>
          </p:cNvCxnSpPr>
          <p:nvPr/>
        </p:nvCxnSpPr>
        <p:spPr>
          <a:xfrm flipV="1">
            <a:off x="8000000" y="5850000"/>
            <a:ext cx="2100000" cy="41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00000" y="6055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1초</a:t>
            </a:r>
          </a:p>
        </p:txBody>
      </p:sp>
      <p:cxnSp>
        <p:nvCxnSpPr>
          <p:cNvPr id="31" name="Connector 30"/>
          <p:cNvCxnSpPr>
            <a:stCxn id="23" idx="0"/>
            <a:endCxn id="16" idx="2"/>
          </p:cNvCxnSpPr>
          <p:nvPr/>
        </p:nvCxnSpPr>
        <p:spPr>
          <a:xfrm flipH="1" flipV="1">
            <a:off x="11800000" y="4560000"/>
            <a:ext cx="3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400000" y="54100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4초 (수방사에도 동일)</a:t>
            </a:r>
          </a:p>
        </p:txBody>
      </p:sp>
      <p:cxnSp>
        <p:nvCxnSpPr>
          <p:cNvPr id="33" name="Connector 32"/>
          <p:cNvCxnSpPr>
            <a:stCxn id="14" idx="2"/>
            <a:endCxn id="18" idx="0"/>
          </p:cNvCxnSpPr>
          <p:nvPr/>
        </p:nvCxnSpPr>
        <p:spPr>
          <a:xfrm>
            <a:off x="3150000" y="4560000"/>
            <a:ext cx="145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5" idx="2"/>
            <a:endCxn id="18" idx="0"/>
          </p:cNvCxnSpPr>
          <p:nvPr/>
        </p:nvCxnSpPr>
        <p:spPr>
          <a:xfrm flipH="1">
            <a:off x="4600000" y="4560000"/>
            <a:ext cx="195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8" idx="3"/>
            <a:endCxn id="19" idx="1"/>
          </p:cNvCxnSpPr>
          <p:nvPr/>
        </p:nvCxnSpPr>
        <p:spPr>
          <a:xfrm>
            <a:off x="5900000" y="5375000"/>
            <a:ext cx="2700000" cy="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00000" y="5075000"/>
            <a:ext cx="2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E6FB8"/>
                </a:solidFill>
                <a:latin typeface="Arial"/>
              </a:rPr>
              <a:t>datalink 1초 (C2↔C2 전부)</a:t>
            </a:r>
          </a:p>
        </p:txBody>
      </p:sp>
      <p:cxnSp>
        <p:nvCxnSpPr>
          <p:cNvPr id="37" name="Connector 36"/>
          <p:cNvCxnSpPr>
            <a:stCxn id="16" idx="2"/>
            <a:endCxn id="19" idx="0"/>
          </p:cNvCxnSpPr>
          <p:nvPr/>
        </p:nvCxnSpPr>
        <p:spPr>
          <a:xfrm flipH="1">
            <a:off x="10100000" y="4560000"/>
            <a:ext cx="170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9" idx="2"/>
            <a:endCxn id="24" idx="0"/>
          </p:cNvCxnSpPr>
          <p:nvPr/>
        </p:nvCxnSpPr>
        <p:spPr>
          <a:xfrm flipH="1">
            <a:off x="8750000" y="5850000"/>
            <a:ext cx="1350000" cy="1710000"/>
          </a:xfrm>
          <a:prstGeom prst="line">
            <a:avLst/>
          </a:prstGeom>
          <a:ln w="285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300000" y="6980000"/>
            <a:ext cx="16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발사명령 1초 ×15</a:t>
            </a:r>
          </a:p>
        </p:txBody>
      </p:sp>
      <p:cxnSp>
        <p:nvCxnSpPr>
          <p:cNvPr id="40" name="Connector 39"/>
          <p:cNvCxnSpPr>
            <a:stCxn id="16" idx="3"/>
            <a:endCxn id="17" idx="1"/>
          </p:cNvCxnSpPr>
          <p:nvPr/>
        </p:nvCxnSpPr>
        <p:spPr>
          <a:xfrm>
            <a:off x="13200000" y="4060000"/>
            <a:ext cx="700000" cy="0"/>
          </a:xfrm>
          <a:prstGeom prst="line">
            <a:avLst/>
          </a:prstGeom>
          <a:ln w="22225">
            <a:solidFill>
              <a:srgbClr val="7D3C98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750000" y="330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7D3C98"/>
                </a:solidFill>
                <a:latin typeface="Arial"/>
              </a:rPr>
              <a:t>kvmf-relay 30초 ×2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00000" y="3760000"/>
            <a:ext cx="2600000" cy="0"/>
          </a:xfrm>
          <a:prstGeom prst="line">
            <a:avLst/>
          </a:prstGeom>
          <a:ln w="31750">
            <a:solidFill>
              <a:srgbClr val="E67E22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00000" y="4060000"/>
            <a:ext cx="2600000" cy="0"/>
          </a:xfrm>
          <a:prstGeom prst="line">
            <a:avLst/>
          </a:prstGeom>
          <a:ln w="31750">
            <a:solidFill>
              <a:srgbClr val="E74C3C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00000" y="4360000"/>
            <a:ext cx="2600000" cy="0"/>
          </a:xfrm>
          <a:prstGeom prst="line">
            <a:avLst/>
          </a:prstGeom>
          <a:ln w="41275">
            <a:solidFill>
              <a:srgbClr val="9B1B3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50000" y="3440000"/>
            <a:ext cx="2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  <a:latin typeface="Arial"/>
              </a:rPr>
              <a:t>chat 45초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0000" y="3930000"/>
            <a:ext cx="2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74C3C"/>
                </a:solidFill>
                <a:latin typeface="Arial"/>
              </a:rPr>
              <a:t>voice 20초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0000" y="4420000"/>
            <a:ext cx="2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9B1B30"/>
                </a:solidFill>
                <a:latin typeface="Arial"/>
              </a:rPr>
              <a:t>VTC 135초 · 1채널·4건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0000" y="4760000"/>
            <a:ext cx="42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270"/>
                </a:solidFill>
                <a:latin typeface="Arial"/>
              </a:rPr>
              <a:t>사람 매개 4종 × 방공C2A 2개소 = 8가닥 (수방사도 동일)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B5DD-0CFF-CFB2-52FC-A0B0967B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747D9C-36F9-24CA-334F-D98E958599DB}"/>
              </a:ext>
            </a:extLst>
          </p:cNvPr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C2 연결 구조</a:t>
            </a:r>
            <a:endParaRPr lang="en-US" sz="4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B1018A-D96D-355C-53F7-D7148893F1DE}"/>
              </a:ext>
            </a:extLst>
          </p:cNvPr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분절형 — 군종별 수직 계선, 육·공 간 사람 매개 협조 · 노드 64 · 링크 118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3CDBA-63B6-5655-B737-464039374D72}"/>
              </a:ext>
            </a:extLst>
          </p:cNvPr>
          <p:cNvSpPr txBox="1"/>
          <p:nvPr/>
        </p:nvSpPr>
        <p:spPr>
          <a:xfrm>
            <a:off x="340000" y="39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6AB22-95BC-4A01-1B08-D6A6577DAC48}"/>
              </a:ext>
            </a:extLst>
          </p:cNvPr>
          <p:cNvSpPr txBox="1"/>
          <p:nvPr/>
        </p:nvSpPr>
        <p:spPr>
          <a:xfrm>
            <a:off x="340000" y="524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A01D-8702-30A6-E70D-7FE76F44B246}"/>
              </a:ext>
            </a:extLst>
          </p:cNvPr>
          <p:cNvSpPr txBox="1"/>
          <p:nvPr/>
        </p:nvSpPr>
        <p:spPr>
          <a:xfrm>
            <a:off x="340000" y="22385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A32B5-CD96-4AEF-2334-F7D26E04CFCF}"/>
              </a:ext>
            </a:extLst>
          </p:cNvPr>
          <p:cNvSpPr txBox="1"/>
          <p:nvPr/>
        </p:nvSpPr>
        <p:spPr>
          <a:xfrm>
            <a:off x="340000" y="8778906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dirty="0" err="1">
                <a:solidFill>
                  <a:srgbClr val="B0B6BF"/>
                </a:solidFill>
                <a:latin typeface="Arial"/>
              </a:rPr>
              <a:t>요격부대</a:t>
            </a:r>
            <a:endParaRPr sz="900" b="1" dirty="0">
              <a:solidFill>
                <a:srgbClr val="B0B6BF"/>
              </a:solidFill>
              <a:latin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41DAC82-EA04-3CE3-C3B7-D6885D77DCEC}"/>
              </a:ext>
            </a:extLst>
          </p:cNvPr>
          <p:cNvSpPr/>
          <p:nvPr/>
        </p:nvSpPr>
        <p:spPr>
          <a:xfrm>
            <a:off x="19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A0EBAE-D4D0-62E9-6228-8D63C18FF8C5}"/>
              </a:ext>
            </a:extLst>
          </p:cNvPr>
          <p:cNvSpPr/>
          <p:nvPr/>
        </p:nvSpPr>
        <p:spPr>
          <a:xfrm>
            <a:off x="53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B6EFF6-AF37-964E-2B71-A8DB78EF4289}"/>
              </a:ext>
            </a:extLst>
          </p:cNvPr>
          <p:cNvSpPr/>
          <p:nvPr/>
        </p:nvSpPr>
        <p:spPr>
          <a:xfrm>
            <a:off x="104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2EBDE7-183F-EF3E-1386-7CC2EE5A8127}"/>
              </a:ext>
            </a:extLst>
          </p:cNvPr>
          <p:cNvSpPr/>
          <p:nvPr/>
        </p:nvSpPr>
        <p:spPr>
          <a:xfrm>
            <a:off x="139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02D8AA-FED2-C5F9-9A24-64B6A4385569}"/>
              </a:ext>
            </a:extLst>
          </p:cNvPr>
          <p:cNvSpPr/>
          <p:nvPr/>
        </p:nvSpPr>
        <p:spPr>
          <a:xfrm>
            <a:off x="1834506" y="5330259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614E508-4168-A9BD-68CE-CD518E0C2B4F}"/>
              </a:ext>
            </a:extLst>
          </p:cNvPr>
          <p:cNvSpPr/>
          <p:nvPr/>
        </p:nvSpPr>
        <p:spPr>
          <a:xfrm>
            <a:off x="1400000" y="18935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Green Pine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5858AB-E809-A8ED-3A88-E94CD39FF887}"/>
              </a:ext>
            </a:extLst>
          </p:cNvPr>
          <p:cNvSpPr/>
          <p:nvPr/>
        </p:nvSpPr>
        <p:spPr>
          <a:xfrm>
            <a:off x="6450000" y="192597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FPS-117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E90EBD-F8EA-4A12-2435-3B5FCED9466A}"/>
              </a:ext>
            </a:extLst>
          </p:cNvPr>
          <p:cNvSpPr/>
          <p:nvPr/>
        </p:nvSpPr>
        <p:spPr>
          <a:xfrm>
            <a:off x="3900000" y="1893500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MFR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26F1387-2162-A629-4938-4928AB7EB7D0}"/>
              </a:ext>
            </a:extLst>
          </p:cNvPr>
          <p:cNvSpPr/>
          <p:nvPr/>
        </p:nvSpPr>
        <p:spPr>
          <a:xfrm>
            <a:off x="12250000" y="18935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TPS-880K</a:t>
            </a:r>
            <a:r>
              <a:rPr lang="en-US" sz="1300" b="1" dirty="0">
                <a:solidFill>
                  <a:srgbClr val="1E2A4A"/>
                </a:solidFill>
                <a:latin typeface="Arial"/>
              </a:rPr>
              <a:t>/830K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D375675-B95D-620F-69D7-0718F9E7A947}"/>
              </a:ext>
            </a:extLst>
          </p:cNvPr>
          <p:cNvSpPr/>
          <p:nvPr/>
        </p:nvSpPr>
        <p:spPr>
          <a:xfrm>
            <a:off x="2088600" y="837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072A0169-9801-C7B7-1CB2-B3DE1E226B1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3134506" y="4560000"/>
            <a:ext cx="15494" cy="770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035C206A-E576-77EA-B112-6DE512997EB9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6550000" y="4560000"/>
            <a:ext cx="0" cy="735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E1C48A8D-332E-C6FC-6335-01E7BE805D27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3200000" y="4060000"/>
            <a:ext cx="700000" cy="0"/>
          </a:xfrm>
          <a:prstGeom prst="line">
            <a:avLst/>
          </a:prstGeom>
          <a:ln w="22225">
            <a:solidFill>
              <a:srgbClr val="7D3C98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F4A1252E-65C2-5062-ECB6-23AA90B7DD60}"/>
              </a:ext>
            </a:extLst>
          </p:cNvPr>
          <p:cNvCxnSpPr/>
          <p:nvPr/>
        </p:nvCxnSpPr>
        <p:spPr>
          <a:xfrm>
            <a:off x="7800000" y="4060000"/>
            <a:ext cx="2600000" cy="0"/>
          </a:xfrm>
          <a:prstGeom prst="line">
            <a:avLst/>
          </a:prstGeom>
          <a:ln w="31750">
            <a:solidFill>
              <a:srgbClr val="E74C3C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F358E71C-DC31-0204-3D95-5EF404EC89B2}"/>
              </a:ext>
            </a:extLst>
          </p:cNvPr>
          <p:cNvCxnSpPr/>
          <p:nvPr/>
        </p:nvCxnSpPr>
        <p:spPr>
          <a:xfrm>
            <a:off x="7800000" y="4360000"/>
            <a:ext cx="2600000" cy="0"/>
          </a:xfrm>
          <a:prstGeom prst="line">
            <a:avLst/>
          </a:prstGeom>
          <a:ln w="41275">
            <a:solidFill>
              <a:srgbClr val="9B1B30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168A4DF7-AECD-EC18-8350-63E9578A9857}"/>
              </a:ext>
            </a:extLst>
          </p:cNvPr>
          <p:cNvSpPr/>
          <p:nvPr/>
        </p:nvSpPr>
        <p:spPr>
          <a:xfrm>
            <a:off x="5250000" y="5295259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C5B48026-5245-1003-DCBC-7F6FBE3732E1}"/>
              </a:ext>
            </a:extLst>
          </p:cNvPr>
          <p:cNvSpPr/>
          <p:nvPr/>
        </p:nvSpPr>
        <p:spPr>
          <a:xfrm>
            <a:off x="2080853" y="6907105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56" name="Connector 32">
            <a:extLst>
              <a:ext uri="{FF2B5EF4-FFF2-40B4-BE49-F238E27FC236}">
                <a16:creationId xmlns:a16="http://schemas.microsoft.com/office/drawing/2014/main" id="{10616D89-9438-BA9C-A5C5-0338B74A214E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>
            <a:off x="3134506" y="6280259"/>
            <a:ext cx="7747" cy="62684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B13AC5A5-EC9A-09BF-B830-BF329CCA05D7}"/>
              </a:ext>
            </a:extLst>
          </p:cNvPr>
          <p:cNvSpPr/>
          <p:nvPr/>
        </p:nvSpPr>
        <p:spPr>
          <a:xfrm>
            <a:off x="5477200" y="6907104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60" name="Connector 32">
            <a:extLst>
              <a:ext uri="{FF2B5EF4-FFF2-40B4-BE49-F238E27FC236}">
                <a16:creationId xmlns:a16="http://schemas.microsoft.com/office/drawing/2014/main" id="{6C7373D6-9057-31AF-9374-6758FD013753}"/>
              </a:ext>
            </a:extLst>
          </p:cNvPr>
          <p:cNvCxnSpPr>
            <a:cxnSpLocks/>
            <a:stCxn id="52" idx="2"/>
            <a:endCxn id="59" idx="0"/>
          </p:cNvCxnSpPr>
          <p:nvPr/>
        </p:nvCxnSpPr>
        <p:spPr>
          <a:xfrm flipH="1">
            <a:off x="6538600" y="6245259"/>
            <a:ext cx="11400" cy="661845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18">
            <a:extLst>
              <a:ext uri="{FF2B5EF4-FFF2-40B4-BE49-F238E27FC236}">
                <a16:creationId xmlns:a16="http://schemas.microsoft.com/office/drawing/2014/main" id="{AF8B0284-26EB-6341-A009-281D7E036A23}"/>
              </a:ext>
            </a:extLst>
          </p:cNvPr>
          <p:cNvSpPr/>
          <p:nvPr/>
        </p:nvSpPr>
        <p:spPr>
          <a:xfrm>
            <a:off x="10738600" y="6787080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64" name="Rounded Rectangle 18">
            <a:extLst>
              <a:ext uri="{FF2B5EF4-FFF2-40B4-BE49-F238E27FC236}">
                <a16:creationId xmlns:a16="http://schemas.microsoft.com/office/drawing/2014/main" id="{77EA3D54-0ED6-232A-FAEA-1F9714A15927}"/>
              </a:ext>
            </a:extLst>
          </p:cNvPr>
          <p:cNvSpPr/>
          <p:nvPr/>
        </p:nvSpPr>
        <p:spPr>
          <a:xfrm>
            <a:off x="14261400" y="6787080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71" name="Connector 33">
            <a:extLst>
              <a:ext uri="{FF2B5EF4-FFF2-40B4-BE49-F238E27FC236}">
                <a16:creationId xmlns:a16="http://schemas.microsoft.com/office/drawing/2014/main" id="{D5B00EC7-BD05-7EA9-954A-1626E71C893A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6550000" y="2875970"/>
            <a:ext cx="1050000" cy="6840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3">
            <a:extLst>
              <a:ext uri="{FF2B5EF4-FFF2-40B4-BE49-F238E27FC236}">
                <a16:creationId xmlns:a16="http://schemas.microsoft.com/office/drawing/2014/main" id="{14A32D8E-7761-832F-CA10-7F584CF3F634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5100000" y="2843500"/>
            <a:ext cx="14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33">
            <a:extLst>
              <a:ext uri="{FF2B5EF4-FFF2-40B4-BE49-F238E27FC236}">
                <a16:creationId xmlns:a16="http://schemas.microsoft.com/office/drawing/2014/main" id="{E542E93F-0A33-51E8-B8CB-D6932C5CD3AC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2550000" y="2843500"/>
            <a:ext cx="60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33">
            <a:extLst>
              <a:ext uri="{FF2B5EF4-FFF2-40B4-BE49-F238E27FC236}">
                <a16:creationId xmlns:a16="http://schemas.microsoft.com/office/drawing/2014/main" id="{88340AF7-E44E-E8A8-6D10-B7CEF1EF1147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flipH="1">
            <a:off x="3150000" y="2843500"/>
            <a:ext cx="19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23">
            <a:extLst>
              <a:ext uri="{FF2B5EF4-FFF2-40B4-BE49-F238E27FC236}">
                <a16:creationId xmlns:a16="http://schemas.microsoft.com/office/drawing/2014/main" id="{4A00E5D4-B434-A542-81DB-B72A8BF107BD}"/>
              </a:ext>
            </a:extLst>
          </p:cNvPr>
          <p:cNvSpPr/>
          <p:nvPr/>
        </p:nvSpPr>
        <p:spPr>
          <a:xfrm>
            <a:off x="5488600" y="8361030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90" name="Connector 32">
            <a:extLst>
              <a:ext uri="{FF2B5EF4-FFF2-40B4-BE49-F238E27FC236}">
                <a16:creationId xmlns:a16="http://schemas.microsoft.com/office/drawing/2014/main" id="{BC18B9F4-9F09-8311-3073-F49D1F2E8A32}"/>
              </a:ext>
            </a:extLst>
          </p:cNvPr>
          <p:cNvCxnSpPr>
            <a:cxnSpLocks/>
            <a:stCxn id="89" idx="0"/>
            <a:endCxn id="59" idx="2"/>
          </p:cNvCxnSpPr>
          <p:nvPr/>
        </p:nvCxnSpPr>
        <p:spPr>
          <a:xfrm flipH="1" flipV="1">
            <a:off x="6538600" y="7646679"/>
            <a:ext cx="11400" cy="7143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2">
            <a:extLst>
              <a:ext uri="{FF2B5EF4-FFF2-40B4-BE49-F238E27FC236}">
                <a16:creationId xmlns:a16="http://schemas.microsoft.com/office/drawing/2014/main" id="{9AE8C272-6F68-6405-931B-6C5C01787560}"/>
              </a:ext>
            </a:extLst>
          </p:cNvPr>
          <p:cNvCxnSpPr>
            <a:cxnSpLocks/>
            <a:stCxn id="24" idx="0"/>
            <a:endCxn id="55" idx="2"/>
          </p:cNvCxnSpPr>
          <p:nvPr/>
        </p:nvCxnSpPr>
        <p:spPr>
          <a:xfrm flipH="1" flipV="1">
            <a:off x="3142253" y="7646680"/>
            <a:ext cx="7747" cy="73222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23">
            <a:extLst>
              <a:ext uri="{FF2B5EF4-FFF2-40B4-BE49-F238E27FC236}">
                <a16:creationId xmlns:a16="http://schemas.microsoft.com/office/drawing/2014/main" id="{9B1D71C3-95BB-3942-E8A9-58AB815B32A8}"/>
              </a:ext>
            </a:extLst>
          </p:cNvPr>
          <p:cNvSpPr/>
          <p:nvPr/>
        </p:nvSpPr>
        <p:spPr>
          <a:xfrm>
            <a:off x="10761841" y="825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101" name="Rounded Rectangle 23">
            <a:extLst>
              <a:ext uri="{FF2B5EF4-FFF2-40B4-BE49-F238E27FC236}">
                <a16:creationId xmlns:a16="http://schemas.microsoft.com/office/drawing/2014/main" id="{0243F36C-694B-8C6E-F9A5-0D6CEA0C6B0F}"/>
              </a:ext>
            </a:extLst>
          </p:cNvPr>
          <p:cNvSpPr/>
          <p:nvPr/>
        </p:nvSpPr>
        <p:spPr>
          <a:xfrm>
            <a:off x="14261400" y="8258906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111" name="Connector 32">
            <a:extLst>
              <a:ext uri="{FF2B5EF4-FFF2-40B4-BE49-F238E27FC236}">
                <a16:creationId xmlns:a16="http://schemas.microsoft.com/office/drawing/2014/main" id="{14BA959B-8A78-FBDB-494F-108350D495FC}"/>
              </a:ext>
            </a:extLst>
          </p:cNvPr>
          <p:cNvCxnSpPr>
            <a:cxnSpLocks/>
            <a:stCxn id="16" idx="2"/>
            <a:endCxn id="63" idx="0"/>
          </p:cNvCxnSpPr>
          <p:nvPr/>
        </p:nvCxnSpPr>
        <p:spPr>
          <a:xfrm>
            <a:off x="11800000" y="4560000"/>
            <a:ext cx="0" cy="222708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32">
            <a:extLst>
              <a:ext uri="{FF2B5EF4-FFF2-40B4-BE49-F238E27FC236}">
                <a16:creationId xmlns:a16="http://schemas.microsoft.com/office/drawing/2014/main" id="{A8D9AC3C-3DA1-7B13-FEC2-2971632909BB}"/>
              </a:ext>
            </a:extLst>
          </p:cNvPr>
          <p:cNvCxnSpPr>
            <a:cxnSpLocks/>
            <a:stCxn id="63" idx="2"/>
            <a:endCxn id="96" idx="0"/>
          </p:cNvCxnSpPr>
          <p:nvPr/>
        </p:nvCxnSpPr>
        <p:spPr>
          <a:xfrm>
            <a:off x="11800000" y="7526655"/>
            <a:ext cx="23241" cy="7322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32">
            <a:extLst>
              <a:ext uri="{FF2B5EF4-FFF2-40B4-BE49-F238E27FC236}">
                <a16:creationId xmlns:a16="http://schemas.microsoft.com/office/drawing/2014/main" id="{023A8D7A-9801-EE48-6E78-832F5FE031B2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>
            <a:off x="15300000" y="4560000"/>
            <a:ext cx="22800" cy="222708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32">
            <a:extLst>
              <a:ext uri="{FF2B5EF4-FFF2-40B4-BE49-F238E27FC236}">
                <a16:creationId xmlns:a16="http://schemas.microsoft.com/office/drawing/2014/main" id="{C310FD4E-C136-3270-B9CC-524DA117A2B8}"/>
              </a:ext>
            </a:extLst>
          </p:cNvPr>
          <p:cNvCxnSpPr>
            <a:cxnSpLocks/>
            <a:stCxn id="64" idx="2"/>
            <a:endCxn id="101" idx="0"/>
          </p:cNvCxnSpPr>
          <p:nvPr/>
        </p:nvCxnSpPr>
        <p:spPr>
          <a:xfrm>
            <a:off x="15322800" y="7526655"/>
            <a:ext cx="0" cy="732251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2">
            <a:extLst>
              <a:ext uri="{FF2B5EF4-FFF2-40B4-BE49-F238E27FC236}">
                <a16:creationId xmlns:a16="http://schemas.microsoft.com/office/drawing/2014/main" id="{0CEED69A-F534-B59A-547A-D005F4B76C9A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 flipH="1">
            <a:off x="11800000" y="2843500"/>
            <a:ext cx="17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">
            <a:extLst>
              <a:ext uri="{FF2B5EF4-FFF2-40B4-BE49-F238E27FC236}">
                <a16:creationId xmlns:a16="http://schemas.microsoft.com/office/drawing/2014/main" id="{0152FC65-8A2C-487B-459C-40457F0E27F6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H="1" flipV="1">
            <a:off x="13550000" y="2843500"/>
            <a:ext cx="1750000" cy="7165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715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육·공 협조 채널 상세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사람이 매개 — 음성 절차 지연으로 모델링 (전송로 성능이 아님, ADR-058).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7867650" cy="3132758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475" y="2900363"/>
            <a:ext cx="685800" cy="15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1725" y="2819400"/>
            <a:ext cx="22243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문자 — 45초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14475" y="3286125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MCRC → 방공C2A (공중항적 하달, report) / 방공C2A → MCRC ×2 (국지항적 상행, report)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14475" y="4170015"/>
            <a:ext cx="733844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지연 분포: Normal(45, </a:t>
            </a:r>
            <a:r>
              <a:rPr lang="en-US" sz="1800" b="1" dirty="0" err="1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=7.5)</a:t>
            </a:r>
            <a:r>
              <a:rPr lang="en-US" sz="1800" b="1" dirty="0" err="1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486025"/>
            <a:ext cx="7867650" cy="3132758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8825" y="2900363"/>
            <a:ext cx="6858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06075" y="2819400"/>
            <a:ext cx="23409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음성 — 20초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9648825" y="3286125"/>
            <a:ext cx="783717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→ MCRC (교전 </a:t>
            </a:r>
            <a:r>
              <a:rPr lang="en-US" sz="1800" dirty="0" err="1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협조</a:t>
            </a: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48825" y="3804270"/>
            <a:ext cx="7837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지연 분포: Normal(20, σ=5)초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143000" y="5885483"/>
            <a:ext cx="7867650" cy="3544267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9050">
            <a:solidFill>
              <a:srgbClr val="A300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" y="6309345"/>
            <a:ext cx="6858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81250" y="6228383"/>
            <a:ext cx="31788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voice/VTC 화상 — 135초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524000" y="6695108"/>
            <a:ext cx="731882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→ MCRC ×2 (교전현황 공유, status) · 지연 분포: Normal(135, σ22.5)초 — ADR-082 (종전 Tri(90,180,270), 대표값 180→135초)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24000" y="7578998"/>
            <a:ext cx="78162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유일한 유한 용량 채널 — 서버 1 · 수용 4건 · 신선도 300초 → 초과분 드롭 발생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277350" y="5885483"/>
            <a:ext cx="7867650" cy="3544267"/>
          </a:xfrm>
          <a:prstGeom prst="roundRect">
            <a:avLst>
              <a:gd name="adj" fmla="val 3225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9648825" y="6509891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합계: 4종 × 방공C2A 2개소 = 8가닥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648825" y="6976616"/>
            <a:ext cx="7338441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20·45·135초는 정책연구용 가정값(신뢰도 등급 C). 구조(사람 매개)는 2022.12.26 사건의 공식 교훈에 근거하나, 개별 수치의 출처 문헌은 없음 → 민감도 분석으로 보강. ADR-082의 분포 통일은 임무 지표를 유의하게 움직이지 않았고(12 seed, 7개 지표 CI 전부 0 포함) 교전현황 전달률만 10.3%→13.3%로 변했다.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7630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C2 연결 구조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— 합동방공 C2 조율층 신설 · 노드 65 (+IAOC) · 링크 223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3350" y="9486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사람 매개 4채널 전량 삭제(8→0가닥). 기존 군종별 보고선은 그대로 유지 — 병렬 배포이지 대체가 아님. kvmf-relay 2가닥은 존재하나 조율층 경로에 밀려 미선택.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40000" y="178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상위 작전사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000" y="275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합동방공 C2
조율층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000" y="39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524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6605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000" y="783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요격부대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0000" y="1560000"/>
            <a:ext cx="14000000" cy="7000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B0B6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5A6270"/>
                </a:solidFill>
                <a:latin typeface="Arial"/>
              </a:rPr>
              <a:t>상위 작전사 — 공작사 · 지작사 · 해작사 · 수방사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모델 범위 밖 (ADR-060) — 아키텍처 맥락만, 링크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0000" y="2480000"/>
            <a:ext cx="3400000" cy="800000"/>
          </a:xfrm>
          <a:prstGeom prst="roundRect">
            <a:avLst>
              <a:gd name="adj" fmla="val 12000"/>
            </a:avLst>
          </a:prstGeom>
          <a:solidFill>
            <a:srgbClr val="FFE99A"/>
          </a:solidFill>
          <a:ln w="25400">
            <a:solidFill>
              <a:srgbClr val="B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IAOC 통합공중작전통제소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To-Be 신설 조율층 — 서버 20 · 2.5초 · K40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0000" y="356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00000" y="3560000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000" y="49000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ICC ×11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정보통합센터 W·C·E·MDU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0000" y="4900000"/>
            <a:ext cx="30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ECS ×15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포대 교전통제소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00000" y="62600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Green Pine ×1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16초 · 900km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00000" y="6260000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FPS-117 ×2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8초 · 470km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0000" y="6260000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포대 MFR ×8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보고 1초 (천궁-II·PAC·L-SAM)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0" y="626000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TPS-880K ×8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보고 4초 · 40km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0000" y="7560000"/>
            <a:ext cx="65000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요격 포대 ×15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천마 5 · 천궁-II 6 · 비호 2 · PAC-3 1 · L-SAM 1</a:t>
            </a:r>
          </a:p>
        </p:txBody>
      </p:sp>
      <p:cxnSp>
        <p:nvCxnSpPr>
          <p:cNvPr id="25" name="Connector 24"/>
          <p:cNvCxnSpPr>
            <a:stCxn id="20" idx="0"/>
            <a:endCxn id="14" idx="2"/>
          </p:cNvCxnSpPr>
          <p:nvPr/>
        </p:nvCxnSpPr>
        <p:spPr>
          <a:xfrm flipV="1">
            <a:off x="2550000" y="4560000"/>
            <a:ext cx="6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50000" y="509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16초</a:t>
            </a:r>
          </a:p>
        </p:txBody>
      </p:sp>
      <p:cxnSp>
        <p:nvCxnSpPr>
          <p:cNvPr id="27" name="Connector 26"/>
          <p:cNvCxnSpPr>
            <a:stCxn id="21" idx="0"/>
            <a:endCxn id="15" idx="2"/>
          </p:cNvCxnSpPr>
          <p:nvPr/>
        </p:nvCxnSpPr>
        <p:spPr>
          <a:xfrm flipV="1">
            <a:off x="5250000" y="4560000"/>
            <a:ext cx="13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50000" y="564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8초</a:t>
            </a:r>
          </a:p>
        </p:txBody>
      </p:sp>
      <p:cxnSp>
        <p:nvCxnSpPr>
          <p:cNvPr id="29" name="Connector 28"/>
          <p:cNvCxnSpPr>
            <a:stCxn id="22" idx="0"/>
            <a:endCxn id="19" idx="2"/>
          </p:cNvCxnSpPr>
          <p:nvPr/>
        </p:nvCxnSpPr>
        <p:spPr>
          <a:xfrm flipV="1">
            <a:off x="8000000" y="5850000"/>
            <a:ext cx="2100000" cy="41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00000" y="6055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1초</a:t>
            </a:r>
          </a:p>
        </p:txBody>
      </p:sp>
      <p:cxnSp>
        <p:nvCxnSpPr>
          <p:cNvPr id="31" name="Connector 30"/>
          <p:cNvCxnSpPr>
            <a:stCxn id="23" idx="0"/>
            <a:endCxn id="16" idx="2"/>
          </p:cNvCxnSpPr>
          <p:nvPr/>
        </p:nvCxnSpPr>
        <p:spPr>
          <a:xfrm flipH="1" flipV="1">
            <a:off x="11800000" y="4560000"/>
            <a:ext cx="300000" cy="1700000"/>
          </a:xfrm>
          <a:prstGeom prst="line">
            <a:avLst/>
          </a:prstGeom>
          <a:ln w="158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400000" y="54100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보고 4초 (수방사에도 동일)</a:t>
            </a:r>
          </a:p>
        </p:txBody>
      </p:sp>
      <p:cxnSp>
        <p:nvCxnSpPr>
          <p:cNvPr id="33" name="Connector 32"/>
          <p:cNvCxnSpPr>
            <a:stCxn id="14" idx="2"/>
            <a:endCxn id="18" idx="0"/>
          </p:cNvCxnSpPr>
          <p:nvPr/>
        </p:nvCxnSpPr>
        <p:spPr>
          <a:xfrm>
            <a:off x="3150000" y="4560000"/>
            <a:ext cx="145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5" idx="2"/>
            <a:endCxn id="18" idx="0"/>
          </p:cNvCxnSpPr>
          <p:nvPr/>
        </p:nvCxnSpPr>
        <p:spPr>
          <a:xfrm flipH="1">
            <a:off x="4600000" y="4560000"/>
            <a:ext cx="195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8" idx="3"/>
            <a:endCxn id="19" idx="1"/>
          </p:cNvCxnSpPr>
          <p:nvPr/>
        </p:nvCxnSpPr>
        <p:spPr>
          <a:xfrm>
            <a:off x="5900000" y="5375000"/>
            <a:ext cx="2700000" cy="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00000" y="5075000"/>
            <a:ext cx="2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E6FB8"/>
                </a:solidFill>
                <a:latin typeface="Arial"/>
              </a:rPr>
              <a:t>datalink 1초 (C2↔C2 전부)</a:t>
            </a:r>
          </a:p>
        </p:txBody>
      </p:sp>
      <p:cxnSp>
        <p:nvCxnSpPr>
          <p:cNvPr id="37" name="Connector 36"/>
          <p:cNvCxnSpPr>
            <a:stCxn id="16" idx="2"/>
            <a:endCxn id="19" idx="0"/>
          </p:cNvCxnSpPr>
          <p:nvPr/>
        </p:nvCxnSpPr>
        <p:spPr>
          <a:xfrm flipH="1">
            <a:off x="10100000" y="4560000"/>
            <a:ext cx="1700000" cy="34000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9" idx="2"/>
            <a:endCxn id="24" idx="0"/>
          </p:cNvCxnSpPr>
          <p:nvPr/>
        </p:nvCxnSpPr>
        <p:spPr>
          <a:xfrm flipH="1">
            <a:off x="8750000" y="5850000"/>
            <a:ext cx="1350000" cy="1710000"/>
          </a:xfrm>
          <a:prstGeom prst="line">
            <a:avLst/>
          </a:prstGeom>
          <a:ln w="28575">
            <a:solidFill>
              <a:srgbClr val="333A45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300000" y="6980000"/>
            <a:ext cx="16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333A45"/>
                </a:solidFill>
                <a:latin typeface="Arial"/>
              </a:rPr>
              <a:t>발사명령 1초 ×15</a:t>
            </a:r>
          </a:p>
        </p:txBody>
      </p:sp>
      <p:cxnSp>
        <p:nvCxnSpPr>
          <p:cNvPr id="40" name="Connector 39"/>
          <p:cNvCxnSpPr>
            <a:stCxn id="16" idx="3"/>
            <a:endCxn id="17" idx="1"/>
          </p:cNvCxnSpPr>
          <p:nvPr/>
        </p:nvCxnSpPr>
        <p:spPr>
          <a:xfrm>
            <a:off x="13200000" y="4060000"/>
            <a:ext cx="700000" cy="0"/>
          </a:xfrm>
          <a:prstGeom prst="line">
            <a:avLst/>
          </a:prstGeom>
          <a:ln w="22225">
            <a:solidFill>
              <a:srgbClr val="B0B6BF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750000" y="3300000"/>
            <a:ext cx="24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B0B6BF"/>
                </a:solidFill>
                <a:latin typeface="Arial"/>
              </a:rPr>
              <a:t>kvmf-relay 30초 ×2 — 미선택</a:t>
            </a:r>
          </a:p>
        </p:txBody>
      </p:sp>
      <p:cxnSp>
        <p:nvCxnSpPr>
          <p:cNvPr id="42" name="Connector 41"/>
          <p:cNvCxnSpPr>
            <a:stCxn id="13" idx="2"/>
            <a:endCxn id="14" idx="0"/>
          </p:cNvCxnSpPr>
          <p:nvPr/>
        </p:nvCxnSpPr>
        <p:spPr>
          <a:xfrm flipH="1">
            <a:off x="3150000" y="3280000"/>
            <a:ext cx="6150000" cy="280000"/>
          </a:xfrm>
          <a:prstGeom prst="line">
            <a:avLst/>
          </a:prstGeom>
          <a:ln w="25400">
            <a:solidFill>
              <a:srgbClr val="1E8E3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5" idx="0"/>
          </p:cNvCxnSpPr>
          <p:nvPr/>
        </p:nvCxnSpPr>
        <p:spPr>
          <a:xfrm flipH="1">
            <a:off x="6550000" y="3280000"/>
            <a:ext cx="2750000" cy="280000"/>
          </a:xfrm>
          <a:prstGeom prst="line">
            <a:avLst/>
          </a:prstGeom>
          <a:ln w="25400">
            <a:solidFill>
              <a:srgbClr val="1E8E3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3" idx="2"/>
            <a:endCxn id="16" idx="0"/>
          </p:cNvCxnSpPr>
          <p:nvPr/>
        </p:nvCxnSpPr>
        <p:spPr>
          <a:xfrm>
            <a:off x="9300000" y="3280000"/>
            <a:ext cx="2500000" cy="280000"/>
          </a:xfrm>
          <a:prstGeom prst="line">
            <a:avLst/>
          </a:prstGeom>
          <a:ln w="25400">
            <a:solidFill>
              <a:srgbClr val="1E8E3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3" idx="2"/>
            <a:endCxn id="17" idx="0"/>
          </p:cNvCxnSpPr>
          <p:nvPr/>
        </p:nvCxnSpPr>
        <p:spPr>
          <a:xfrm>
            <a:off x="9300000" y="3280000"/>
            <a:ext cx="6000000" cy="280000"/>
          </a:xfrm>
          <a:prstGeom prst="line">
            <a:avLst/>
          </a:prstGeom>
          <a:ln w="25400">
            <a:solidFill>
              <a:srgbClr val="1E8E3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00000" y="2560000"/>
            <a:ext cx="33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E8E3E"/>
                </a:solidFill>
                <a:latin typeface="Arial"/>
              </a:rPr>
              <a:t>ifcn 1초 — C2 30개 노드 ⇄ IAOC (ICC·ECS 포함)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700000" y="2880000"/>
            <a:ext cx="5900000" cy="3380000"/>
          </a:xfrm>
          <a:prstGeom prst="line">
            <a:avLst/>
          </a:prstGeom>
          <a:ln w="15875">
            <a:solidFill>
              <a:srgbClr val="1E8E3E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00000" y="2730000"/>
            <a:ext cx="36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1E8E3E"/>
                </a:solidFill>
                <a:latin typeface="Arial"/>
              </a:rPr>
              <a:t>전 센서 ×19 → IAOC 직결 (보고주기 유지, 기존 보고선 병행)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0000" y="3930000"/>
            <a:ext cx="27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74C3C"/>
                </a:solidFill>
                <a:latin typeface="Arial"/>
              </a:rPr>
              <a:t>✕ 사람 매개 4채널 전량 삭제 (8→0가닥)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1E69-9673-85A8-4C0C-49BBD8C8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CD2A02-8926-FDF5-43CF-0C7E5C4E06AD}"/>
              </a:ext>
            </a:extLst>
          </p:cNvPr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C2 연결 구조</a:t>
            </a:r>
            <a:endParaRPr lang="en-US" sz="4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CDE97-B0AD-ADD8-DA0B-E74063E0176F}"/>
              </a:ext>
            </a:extLst>
          </p:cNvPr>
          <p:cNvSpPr txBox="1"/>
          <p:nvPr/>
        </p:nvSpPr>
        <p:spPr>
          <a:xfrm>
            <a:off x="340000" y="503418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C2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D4167-B949-C122-396E-E9899D9DDD9B}"/>
              </a:ext>
            </a:extLst>
          </p:cNvPr>
          <p:cNvSpPr txBox="1"/>
          <p:nvPr/>
        </p:nvSpPr>
        <p:spPr>
          <a:xfrm>
            <a:off x="340000" y="634918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교전통제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39F44-81B5-C496-A9D3-9CCFF455F657}"/>
              </a:ext>
            </a:extLst>
          </p:cNvPr>
          <p:cNvSpPr txBox="1"/>
          <p:nvPr/>
        </p:nvSpPr>
        <p:spPr>
          <a:xfrm>
            <a:off x="340000" y="3480708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0B6BF"/>
                </a:solidFill>
                <a:latin typeface="Arial"/>
              </a:rPr>
              <a:t>레이더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802DB-AACE-1BBA-5116-FF1A10EE11E1}"/>
              </a:ext>
            </a:extLst>
          </p:cNvPr>
          <p:cNvSpPr txBox="1"/>
          <p:nvPr/>
        </p:nvSpPr>
        <p:spPr>
          <a:xfrm>
            <a:off x="340000" y="9158469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dirty="0" err="1">
                <a:solidFill>
                  <a:srgbClr val="B0B6BF"/>
                </a:solidFill>
                <a:latin typeface="Arial"/>
              </a:rPr>
              <a:t>요격부대</a:t>
            </a:r>
            <a:endParaRPr sz="900" b="1" dirty="0">
              <a:solidFill>
                <a:srgbClr val="B0B6BF"/>
              </a:solidFill>
              <a:latin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D53F49-D1A8-5D28-CB00-B2E149F4F418}"/>
              </a:ext>
            </a:extLst>
          </p:cNvPr>
          <p:cNvSpPr/>
          <p:nvPr/>
        </p:nvSpPr>
        <p:spPr>
          <a:xfrm>
            <a:off x="1900000" y="4664181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KAMDOC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탄도탄 작전통제 · 공군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4A28B7-036D-4DE6-BA35-845F1021C202}"/>
              </a:ext>
            </a:extLst>
          </p:cNvPr>
          <p:cNvSpPr/>
          <p:nvPr/>
        </p:nvSpPr>
        <p:spPr>
          <a:xfrm>
            <a:off x="5300000" y="4664181"/>
            <a:ext cx="2500000" cy="1000000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MCRC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중앙방공통제 · 공군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A9DA4C-4EDB-875B-2788-6CAFF75448A3}"/>
              </a:ext>
            </a:extLst>
          </p:cNvPr>
          <p:cNvSpPr/>
          <p:nvPr/>
        </p:nvSpPr>
        <p:spPr>
          <a:xfrm>
            <a:off x="10400000" y="4664181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(1군단)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D01CEE-DAA5-8883-5BF4-E5ECF4F2480D}"/>
              </a:ext>
            </a:extLst>
          </p:cNvPr>
          <p:cNvSpPr/>
          <p:nvPr/>
        </p:nvSpPr>
        <p:spPr>
          <a:xfrm>
            <a:off x="13900000" y="4664181"/>
            <a:ext cx="2800000" cy="1000000"/>
          </a:xfrm>
          <a:prstGeom prst="roundRect">
            <a:avLst>
              <a:gd name="adj" fmla="val 12000"/>
            </a:avLst>
          </a:prstGeom>
          <a:solidFill>
            <a:srgbClr val="E9F2E4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방공C2A (수방사)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국지방공 · 육군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D462523-60F4-114D-00B9-67E51BB23A5C}"/>
              </a:ext>
            </a:extLst>
          </p:cNvPr>
          <p:cNvSpPr/>
          <p:nvPr/>
        </p:nvSpPr>
        <p:spPr>
          <a:xfrm>
            <a:off x="1834506" y="643444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066CA8C-5AC8-E3AA-D0CB-EE305453C66F}"/>
              </a:ext>
            </a:extLst>
          </p:cNvPr>
          <p:cNvSpPr/>
          <p:nvPr/>
        </p:nvSpPr>
        <p:spPr>
          <a:xfrm>
            <a:off x="1400000" y="3135708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Green Pine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48B89D8-60BE-E724-A7E7-4A58E2DCF162}"/>
              </a:ext>
            </a:extLst>
          </p:cNvPr>
          <p:cNvSpPr/>
          <p:nvPr/>
        </p:nvSpPr>
        <p:spPr>
          <a:xfrm>
            <a:off x="6450000" y="3168178"/>
            <a:ext cx="23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FPS-117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81EC8E3-3890-82FA-8663-56B1EB7834C3}"/>
              </a:ext>
            </a:extLst>
          </p:cNvPr>
          <p:cNvSpPr/>
          <p:nvPr/>
        </p:nvSpPr>
        <p:spPr>
          <a:xfrm>
            <a:off x="3900000" y="3135708"/>
            <a:ext cx="24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MFR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300CDD7-3821-617D-D790-D014EEFCD0A0}"/>
              </a:ext>
            </a:extLst>
          </p:cNvPr>
          <p:cNvSpPr/>
          <p:nvPr/>
        </p:nvSpPr>
        <p:spPr>
          <a:xfrm>
            <a:off x="12250000" y="3135708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FBF1DB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TPS-880K</a:t>
            </a:r>
            <a:r>
              <a:rPr lang="en-US" sz="1300" b="1" dirty="0">
                <a:solidFill>
                  <a:srgbClr val="1E2A4A"/>
                </a:solidFill>
                <a:latin typeface="Arial"/>
              </a:rPr>
              <a:t>/830K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A2C089-2853-B339-990E-F520A1AD7B45}"/>
              </a:ext>
            </a:extLst>
          </p:cNvPr>
          <p:cNvSpPr/>
          <p:nvPr/>
        </p:nvSpPr>
        <p:spPr>
          <a:xfrm>
            <a:off x="2088600" y="875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F7D01C6-AA0D-E424-9D9F-2F3FB1FD9272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3134506" y="5664181"/>
            <a:ext cx="15494" cy="770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ECF35123-6337-E5AE-5CE7-93F9B413C557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6550000" y="5664181"/>
            <a:ext cx="0" cy="735259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785F4674-910E-F722-E16A-D4484587D647}"/>
              </a:ext>
            </a:extLst>
          </p:cNvPr>
          <p:cNvSpPr/>
          <p:nvPr/>
        </p:nvSpPr>
        <p:spPr>
          <a:xfrm>
            <a:off x="5250000" y="6399440"/>
            <a:ext cx="2600000" cy="95000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ICC</a:t>
            </a:r>
          </a:p>
          <a:p>
            <a:pPr algn="ctr"/>
            <a:r>
              <a:rPr sz="950" dirty="0" err="1">
                <a:solidFill>
                  <a:srgbClr val="5A6270"/>
                </a:solidFill>
                <a:latin typeface="Arial"/>
              </a:rPr>
              <a:t>정보통합센터</a:t>
            </a:r>
            <a:r>
              <a:rPr sz="950" dirty="0">
                <a:solidFill>
                  <a:srgbClr val="5A6270"/>
                </a:solidFill>
                <a:latin typeface="Arial"/>
              </a:rPr>
              <a:t> W·C·E·MDU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263DABA6-E24C-E962-20CC-21353A99BC2F}"/>
              </a:ext>
            </a:extLst>
          </p:cNvPr>
          <p:cNvSpPr/>
          <p:nvPr/>
        </p:nvSpPr>
        <p:spPr>
          <a:xfrm>
            <a:off x="2080853" y="7700736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56" name="Connector 32">
            <a:extLst>
              <a:ext uri="{FF2B5EF4-FFF2-40B4-BE49-F238E27FC236}">
                <a16:creationId xmlns:a16="http://schemas.microsoft.com/office/drawing/2014/main" id="{74DEE02D-5C15-BE62-19A4-EDAC93C330D7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>
            <a:off x="3134506" y="7384440"/>
            <a:ext cx="7747" cy="316296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2D1B6E6F-CB1F-0D7B-00A4-A454576D364A}"/>
              </a:ext>
            </a:extLst>
          </p:cNvPr>
          <p:cNvSpPr/>
          <p:nvPr/>
        </p:nvSpPr>
        <p:spPr>
          <a:xfrm>
            <a:off x="5477200" y="7700735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60" name="Connector 32">
            <a:extLst>
              <a:ext uri="{FF2B5EF4-FFF2-40B4-BE49-F238E27FC236}">
                <a16:creationId xmlns:a16="http://schemas.microsoft.com/office/drawing/2014/main" id="{A960380B-A144-9BC7-0AF8-C49AFAE1EE28}"/>
              </a:ext>
            </a:extLst>
          </p:cNvPr>
          <p:cNvCxnSpPr>
            <a:cxnSpLocks/>
            <a:stCxn id="52" idx="2"/>
            <a:endCxn id="59" idx="0"/>
          </p:cNvCxnSpPr>
          <p:nvPr/>
        </p:nvCxnSpPr>
        <p:spPr>
          <a:xfrm flipH="1">
            <a:off x="6538600" y="7349440"/>
            <a:ext cx="11400" cy="351295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18">
            <a:extLst>
              <a:ext uri="{FF2B5EF4-FFF2-40B4-BE49-F238E27FC236}">
                <a16:creationId xmlns:a16="http://schemas.microsoft.com/office/drawing/2014/main" id="{22E18AF0-5076-8552-2DAB-431B023BBC24}"/>
              </a:ext>
            </a:extLst>
          </p:cNvPr>
          <p:cNvSpPr/>
          <p:nvPr/>
        </p:nvSpPr>
        <p:spPr>
          <a:xfrm>
            <a:off x="10738600" y="7580711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64" name="Rounded Rectangle 18">
            <a:extLst>
              <a:ext uri="{FF2B5EF4-FFF2-40B4-BE49-F238E27FC236}">
                <a16:creationId xmlns:a16="http://schemas.microsoft.com/office/drawing/2014/main" id="{8D570E08-0DDE-C56F-B943-DE535AC74544}"/>
              </a:ext>
            </a:extLst>
          </p:cNvPr>
          <p:cNvSpPr/>
          <p:nvPr/>
        </p:nvSpPr>
        <p:spPr>
          <a:xfrm>
            <a:off x="14261400" y="7580711"/>
            <a:ext cx="2122800" cy="739575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1E2A4A"/>
                </a:solidFill>
                <a:latin typeface="Arial"/>
              </a:rPr>
              <a:t>ECS</a:t>
            </a:r>
            <a:endParaRPr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71" name="Connector 33">
            <a:extLst>
              <a:ext uri="{FF2B5EF4-FFF2-40B4-BE49-F238E27FC236}">
                <a16:creationId xmlns:a16="http://schemas.microsoft.com/office/drawing/2014/main" id="{5A693DD1-86F0-0362-B747-E6AE5B4E4D85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6550000" y="4118178"/>
            <a:ext cx="1050000" cy="54600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3">
            <a:extLst>
              <a:ext uri="{FF2B5EF4-FFF2-40B4-BE49-F238E27FC236}">
                <a16:creationId xmlns:a16="http://schemas.microsoft.com/office/drawing/2014/main" id="{77452139-6BB3-1FF3-8DF8-ECC107B5E510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5100000" y="4085708"/>
            <a:ext cx="14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33">
            <a:extLst>
              <a:ext uri="{FF2B5EF4-FFF2-40B4-BE49-F238E27FC236}">
                <a16:creationId xmlns:a16="http://schemas.microsoft.com/office/drawing/2014/main" id="{E22B768C-EAF3-C46E-04D8-A3D32AC9F716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2550000" y="4085708"/>
            <a:ext cx="60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33">
            <a:extLst>
              <a:ext uri="{FF2B5EF4-FFF2-40B4-BE49-F238E27FC236}">
                <a16:creationId xmlns:a16="http://schemas.microsoft.com/office/drawing/2014/main" id="{C39038D6-4291-9968-7DCD-F149D1AFE1BE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flipH="1">
            <a:off x="3150000" y="4085708"/>
            <a:ext cx="19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23">
            <a:extLst>
              <a:ext uri="{FF2B5EF4-FFF2-40B4-BE49-F238E27FC236}">
                <a16:creationId xmlns:a16="http://schemas.microsoft.com/office/drawing/2014/main" id="{D6CD3F58-E77E-2CF9-B6C3-7ABB6348E7E2}"/>
              </a:ext>
            </a:extLst>
          </p:cNvPr>
          <p:cNvSpPr/>
          <p:nvPr/>
        </p:nvSpPr>
        <p:spPr>
          <a:xfrm>
            <a:off x="5488600" y="8740593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90" name="Connector 32">
            <a:extLst>
              <a:ext uri="{FF2B5EF4-FFF2-40B4-BE49-F238E27FC236}">
                <a16:creationId xmlns:a16="http://schemas.microsoft.com/office/drawing/2014/main" id="{74689CC2-A0AD-18F3-99C1-547B89E32457}"/>
              </a:ext>
            </a:extLst>
          </p:cNvPr>
          <p:cNvCxnSpPr>
            <a:cxnSpLocks/>
            <a:stCxn id="89" idx="0"/>
            <a:endCxn id="59" idx="2"/>
          </p:cNvCxnSpPr>
          <p:nvPr/>
        </p:nvCxnSpPr>
        <p:spPr>
          <a:xfrm flipH="1" flipV="1">
            <a:off x="6538600" y="8440310"/>
            <a:ext cx="11400" cy="3002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2">
            <a:extLst>
              <a:ext uri="{FF2B5EF4-FFF2-40B4-BE49-F238E27FC236}">
                <a16:creationId xmlns:a16="http://schemas.microsoft.com/office/drawing/2014/main" id="{5F5E69CA-D4B6-A2C0-D35F-ABFD2EE582FD}"/>
              </a:ext>
            </a:extLst>
          </p:cNvPr>
          <p:cNvCxnSpPr>
            <a:cxnSpLocks/>
            <a:stCxn id="24" idx="0"/>
            <a:endCxn id="55" idx="2"/>
          </p:cNvCxnSpPr>
          <p:nvPr/>
        </p:nvCxnSpPr>
        <p:spPr>
          <a:xfrm flipH="1" flipV="1">
            <a:off x="3142253" y="8440311"/>
            <a:ext cx="7747" cy="318158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23">
            <a:extLst>
              <a:ext uri="{FF2B5EF4-FFF2-40B4-BE49-F238E27FC236}">
                <a16:creationId xmlns:a16="http://schemas.microsoft.com/office/drawing/2014/main" id="{644B7A52-0DE5-1E13-257E-39F1AD3679AD}"/>
              </a:ext>
            </a:extLst>
          </p:cNvPr>
          <p:cNvSpPr/>
          <p:nvPr/>
        </p:nvSpPr>
        <p:spPr>
          <a:xfrm>
            <a:off x="10761841" y="863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sp>
        <p:nvSpPr>
          <p:cNvPr id="101" name="Rounded Rectangle 23">
            <a:extLst>
              <a:ext uri="{FF2B5EF4-FFF2-40B4-BE49-F238E27FC236}">
                <a16:creationId xmlns:a16="http://schemas.microsoft.com/office/drawing/2014/main" id="{6598AC28-7A9D-56A3-DE9D-782F2D87DE13}"/>
              </a:ext>
            </a:extLst>
          </p:cNvPr>
          <p:cNvSpPr/>
          <p:nvPr/>
        </p:nvSpPr>
        <p:spPr>
          <a:xfrm>
            <a:off x="14261400" y="8638469"/>
            <a:ext cx="2122800" cy="800000"/>
          </a:xfrm>
          <a:prstGeom prst="roundRect">
            <a:avLst>
              <a:gd name="adj" fmla="val 12000"/>
            </a:avLst>
          </a:prstGeom>
          <a:solidFill>
            <a:srgbClr val="F6E3E3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E2A4A"/>
                </a:solidFill>
                <a:latin typeface="Arial"/>
              </a:rPr>
              <a:t>요격</a:t>
            </a:r>
            <a:r>
              <a:rPr sz="1300" b="1" dirty="0">
                <a:solidFill>
                  <a:srgbClr val="1E2A4A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A4A"/>
                </a:solidFill>
                <a:latin typeface="Arial"/>
              </a:rPr>
              <a:t>포대</a:t>
            </a:r>
            <a:endParaRPr lang="de-DE" sz="950" dirty="0">
              <a:solidFill>
                <a:srgbClr val="5A6270"/>
              </a:solidFill>
              <a:latin typeface="Arial"/>
            </a:endParaRPr>
          </a:p>
        </p:txBody>
      </p:sp>
      <p:cxnSp>
        <p:nvCxnSpPr>
          <p:cNvPr id="111" name="Connector 32">
            <a:extLst>
              <a:ext uri="{FF2B5EF4-FFF2-40B4-BE49-F238E27FC236}">
                <a16:creationId xmlns:a16="http://schemas.microsoft.com/office/drawing/2014/main" id="{4FB349B0-F893-A114-9F30-288F15A1B5BF}"/>
              </a:ext>
            </a:extLst>
          </p:cNvPr>
          <p:cNvCxnSpPr>
            <a:cxnSpLocks/>
            <a:stCxn id="16" idx="2"/>
            <a:endCxn id="63" idx="0"/>
          </p:cNvCxnSpPr>
          <p:nvPr/>
        </p:nvCxnSpPr>
        <p:spPr>
          <a:xfrm>
            <a:off x="11800000" y="5664181"/>
            <a:ext cx="0" cy="19165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32">
            <a:extLst>
              <a:ext uri="{FF2B5EF4-FFF2-40B4-BE49-F238E27FC236}">
                <a16:creationId xmlns:a16="http://schemas.microsoft.com/office/drawing/2014/main" id="{C263AE82-8863-B593-352C-65A926773097}"/>
              </a:ext>
            </a:extLst>
          </p:cNvPr>
          <p:cNvCxnSpPr>
            <a:cxnSpLocks/>
            <a:stCxn id="63" idx="2"/>
            <a:endCxn id="96" idx="0"/>
          </p:cNvCxnSpPr>
          <p:nvPr/>
        </p:nvCxnSpPr>
        <p:spPr>
          <a:xfrm>
            <a:off x="11800000" y="8320286"/>
            <a:ext cx="23241" cy="3181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32">
            <a:extLst>
              <a:ext uri="{FF2B5EF4-FFF2-40B4-BE49-F238E27FC236}">
                <a16:creationId xmlns:a16="http://schemas.microsoft.com/office/drawing/2014/main" id="{79DC566C-BB11-2F3C-71B4-466781BC0116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>
            <a:off x="15300000" y="5664181"/>
            <a:ext cx="22800" cy="1916530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32">
            <a:extLst>
              <a:ext uri="{FF2B5EF4-FFF2-40B4-BE49-F238E27FC236}">
                <a16:creationId xmlns:a16="http://schemas.microsoft.com/office/drawing/2014/main" id="{BC1E8FD9-E30D-F6D7-732A-2E5ECD71EE9E}"/>
              </a:ext>
            </a:extLst>
          </p:cNvPr>
          <p:cNvCxnSpPr>
            <a:cxnSpLocks/>
            <a:stCxn id="64" idx="2"/>
            <a:endCxn id="101" idx="0"/>
          </p:cNvCxnSpPr>
          <p:nvPr/>
        </p:nvCxnSpPr>
        <p:spPr>
          <a:xfrm>
            <a:off x="15322800" y="8320286"/>
            <a:ext cx="0" cy="31818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2">
            <a:extLst>
              <a:ext uri="{FF2B5EF4-FFF2-40B4-BE49-F238E27FC236}">
                <a16:creationId xmlns:a16="http://schemas.microsoft.com/office/drawing/2014/main" id="{888DC4BB-78DD-C259-CA70-081CF755F845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 flipH="1">
            <a:off x="11800000" y="4085708"/>
            <a:ext cx="17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">
            <a:extLst>
              <a:ext uri="{FF2B5EF4-FFF2-40B4-BE49-F238E27FC236}">
                <a16:creationId xmlns:a16="http://schemas.microsoft.com/office/drawing/2014/main" id="{38009E0A-66EF-9804-6F79-9B6170DE3C01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H="1" flipV="1">
            <a:off x="13550000" y="4085708"/>
            <a:ext cx="1750000" cy="578473"/>
          </a:xfrm>
          <a:prstGeom prst="line">
            <a:avLst/>
          </a:prstGeom>
          <a:ln w="15875">
            <a:solidFill>
              <a:srgbClr val="2E6FB8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1">
            <a:extLst>
              <a:ext uri="{FF2B5EF4-FFF2-40B4-BE49-F238E27FC236}">
                <a16:creationId xmlns:a16="http://schemas.microsoft.com/office/drawing/2014/main" id="{D5472591-7D7F-CE0B-486F-632761134039}"/>
              </a:ext>
            </a:extLst>
          </p:cNvPr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— 합동방공 C2 조율층 신설 · 노드 65 (+IAOC) · 링크 223</a:t>
            </a:r>
            <a:endParaRPr lang="en-US" sz="1800" dirty="0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FC017CD3-13D4-D435-C70A-F27D2F1B3D7E}"/>
              </a:ext>
            </a:extLst>
          </p:cNvPr>
          <p:cNvSpPr/>
          <p:nvPr/>
        </p:nvSpPr>
        <p:spPr>
          <a:xfrm>
            <a:off x="7075000" y="1722175"/>
            <a:ext cx="3400000" cy="800000"/>
          </a:xfrm>
          <a:prstGeom prst="roundRect">
            <a:avLst>
              <a:gd name="adj" fmla="val 12000"/>
            </a:avLst>
          </a:prstGeom>
          <a:solidFill>
            <a:srgbClr val="FFE99A"/>
          </a:solidFill>
          <a:ln w="25400">
            <a:solidFill>
              <a:srgbClr val="B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A4A"/>
                </a:solidFill>
                <a:latin typeface="Arial"/>
              </a:rPr>
              <a:t>IAOC 통합공중작전통제소</a:t>
            </a:r>
          </a:p>
          <a:p>
            <a:pPr algn="ctr"/>
            <a:r>
              <a:rPr sz="950">
                <a:solidFill>
                  <a:srgbClr val="5A6270"/>
                </a:solidFill>
                <a:latin typeface="Arial"/>
              </a:rPr>
              <a:t>To-Be 신설 조율층 — 서버 20 · 2.5초 · K40</a:t>
            </a:r>
          </a:p>
        </p:txBody>
      </p:sp>
      <p:cxnSp>
        <p:nvCxnSpPr>
          <p:cNvPr id="6" name="Connector 33">
            <a:extLst>
              <a:ext uri="{FF2B5EF4-FFF2-40B4-BE49-F238E27FC236}">
                <a16:creationId xmlns:a16="http://schemas.microsoft.com/office/drawing/2014/main" id="{120EA2A3-A1E6-8392-73F3-F7CD6BF5F331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150000" y="2522175"/>
            <a:ext cx="56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nector 33">
            <a:extLst>
              <a:ext uri="{FF2B5EF4-FFF2-40B4-BE49-F238E27FC236}">
                <a16:creationId xmlns:a16="http://schemas.microsoft.com/office/drawing/2014/main" id="{5AC1841B-853E-BE50-7A65-4AB70A472EEE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6550000" y="2522175"/>
            <a:ext cx="22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nector 33">
            <a:extLst>
              <a:ext uri="{FF2B5EF4-FFF2-40B4-BE49-F238E27FC236}">
                <a16:creationId xmlns:a16="http://schemas.microsoft.com/office/drawing/2014/main" id="{557CAD24-7D78-91E7-86C0-A9E0AB4A7AD4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8775000" y="2522175"/>
            <a:ext cx="30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nector 33">
            <a:extLst>
              <a:ext uri="{FF2B5EF4-FFF2-40B4-BE49-F238E27FC236}">
                <a16:creationId xmlns:a16="http://schemas.microsoft.com/office/drawing/2014/main" id="{465CC8DB-42FB-40CD-BF37-53135DB01BB4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8775000" y="2522175"/>
            <a:ext cx="6525000" cy="2142006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36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F15E-B49C-3E4D-BED1-20CE7D9F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AC7F32-3B8B-9601-5FD2-F86EB5B4D603}"/>
              </a:ext>
            </a:extLst>
          </p:cNvPr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 파이프라인 구조와 평가 지표</a:t>
            </a:r>
            <a:endParaRPr lang="en-US" sz="4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8AE831-1B4A-BD3E-E485-14F3ECC43121}"/>
              </a:ext>
            </a:extLst>
          </p:cNvPr>
          <p:cNvSpPr/>
          <p:nvPr/>
        </p:nvSpPr>
        <p:spPr>
          <a:xfrm>
            <a:off x="114300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A39C3B-B0DE-3C59-7D9B-B01AA3AE5653}"/>
              </a:ext>
            </a:extLst>
          </p:cNvPr>
          <p:cNvSpPr/>
          <p:nvPr/>
        </p:nvSpPr>
        <p:spPr>
          <a:xfrm>
            <a:off x="114300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EF3EDD-752D-22D3-4F8A-088E42B4CD47}"/>
              </a:ext>
            </a:extLst>
          </p:cNvPr>
          <p:cNvSpPr/>
          <p:nvPr/>
        </p:nvSpPr>
        <p:spPr>
          <a:xfrm>
            <a:off x="114300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1CDA21-4B20-3019-B489-1DE9D3B24429}"/>
              </a:ext>
            </a:extLst>
          </p:cNvPr>
          <p:cNvSpPr/>
          <p:nvPr/>
        </p:nvSpPr>
        <p:spPr>
          <a:xfrm>
            <a:off x="11430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64773B-C3C1-7551-C225-4DF58AB7BF5A}"/>
              </a:ext>
            </a:extLst>
          </p:cNvPr>
          <p:cNvSpPr/>
          <p:nvPr/>
        </p:nvSpPr>
        <p:spPr>
          <a:xfrm>
            <a:off x="365760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154C02-C7D8-4DD4-C780-D608931F1013}"/>
              </a:ext>
            </a:extLst>
          </p:cNvPr>
          <p:cNvSpPr/>
          <p:nvPr/>
        </p:nvSpPr>
        <p:spPr>
          <a:xfrm>
            <a:off x="136207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06855E2-E63E-83F8-A0F7-35BA2773672E}"/>
              </a:ext>
            </a:extLst>
          </p:cNvPr>
          <p:cNvSpPr/>
          <p:nvPr/>
        </p:nvSpPr>
        <p:spPr>
          <a:xfrm>
            <a:off x="136207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탐지➡️항적융합</a:t>
            </a:r>
            <a:endParaRPr lang="en-US" sz="2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29F3EE-9CAE-FDC6-B436-96AAFAC53E58}"/>
              </a:ext>
            </a:extLst>
          </p:cNvPr>
          <p:cNvSpPr/>
          <p:nvPr/>
        </p:nvSpPr>
        <p:spPr>
          <a:xfrm>
            <a:off x="136207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CFA1DA-02AD-12B1-8809-9F406BC59F00}"/>
              </a:ext>
            </a:extLst>
          </p:cNvPr>
          <p:cNvSpPr/>
          <p:nvPr/>
        </p:nvSpPr>
        <p:spPr>
          <a:xfrm>
            <a:off x="38385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779BD3-98DB-30CD-BEB4-F557A8F46023}"/>
              </a:ext>
            </a:extLst>
          </p:cNvPr>
          <p:cNvSpPr/>
          <p:nvPr/>
        </p:nvSpPr>
        <p:spPr>
          <a:xfrm>
            <a:off x="38385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45A4435-86A0-4E6F-0565-891960C56E29}"/>
              </a:ext>
            </a:extLst>
          </p:cNvPr>
          <p:cNvSpPr/>
          <p:nvPr/>
        </p:nvSpPr>
        <p:spPr>
          <a:xfrm>
            <a:off x="38385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AC801A-9F01-626B-4344-24843D54386E}"/>
              </a:ext>
            </a:extLst>
          </p:cNvPr>
          <p:cNvSpPr/>
          <p:nvPr/>
        </p:nvSpPr>
        <p:spPr>
          <a:xfrm>
            <a:off x="38385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340D638-8087-497C-9012-C16F5A13DAEE}"/>
              </a:ext>
            </a:extLst>
          </p:cNvPr>
          <p:cNvSpPr/>
          <p:nvPr/>
        </p:nvSpPr>
        <p:spPr>
          <a:xfrm>
            <a:off x="63531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164AEA-10E3-A404-8D00-D70C02042680}"/>
              </a:ext>
            </a:extLst>
          </p:cNvPr>
          <p:cNvSpPr/>
          <p:nvPr/>
        </p:nvSpPr>
        <p:spPr>
          <a:xfrm>
            <a:off x="40576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75BEB7-95AB-0757-2F18-A34119FCA750}"/>
              </a:ext>
            </a:extLst>
          </p:cNvPr>
          <p:cNvSpPr/>
          <p:nvPr/>
        </p:nvSpPr>
        <p:spPr>
          <a:xfrm>
            <a:off x="40576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융합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➡️ 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할당준비</a:t>
            </a:r>
            <a:endParaRPr lang="en-US" sz="2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31C41B-9B13-8FC7-A521-5DF6BACBC71A}"/>
              </a:ext>
            </a:extLst>
          </p:cNvPr>
          <p:cNvSpPr/>
          <p:nvPr/>
        </p:nvSpPr>
        <p:spPr>
          <a:xfrm>
            <a:off x="4057650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적으로 확정하고 대응준비를 마치기까지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CD60B9A-AA06-4B40-A4DE-9793DBC92F30}"/>
              </a:ext>
            </a:extLst>
          </p:cNvPr>
          <p:cNvSpPr/>
          <p:nvPr/>
        </p:nvSpPr>
        <p:spPr>
          <a:xfrm>
            <a:off x="653415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1443D6D-CAE2-3C7A-65FA-C469140A8184}"/>
              </a:ext>
            </a:extLst>
          </p:cNvPr>
          <p:cNvSpPr/>
          <p:nvPr/>
        </p:nvSpPr>
        <p:spPr>
          <a:xfrm>
            <a:off x="653415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9795D3C-304A-9F1A-F517-FCB703E4CFB4}"/>
              </a:ext>
            </a:extLst>
          </p:cNvPr>
          <p:cNvSpPr/>
          <p:nvPr/>
        </p:nvSpPr>
        <p:spPr>
          <a:xfrm>
            <a:off x="65341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D3F2C82-93D8-0D18-F113-7491D185D3AE}"/>
              </a:ext>
            </a:extLst>
          </p:cNvPr>
          <p:cNvSpPr/>
          <p:nvPr/>
        </p:nvSpPr>
        <p:spPr>
          <a:xfrm>
            <a:off x="904875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CAE90E1-67E6-1E48-A1F0-80D86C4AA829}"/>
              </a:ext>
            </a:extLst>
          </p:cNvPr>
          <p:cNvSpPr/>
          <p:nvPr/>
        </p:nvSpPr>
        <p:spPr>
          <a:xfrm>
            <a:off x="675322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r>
              <a:rPr lang="en-US" altLang="ko-KR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협조 </a:t>
            </a:r>
            <a:endParaRPr lang="en-US" sz="2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28769E1-F185-C26E-9ACB-E0366014C651}"/>
              </a:ext>
            </a:extLst>
          </p:cNvPr>
          <p:cNvSpPr/>
          <p:nvPr/>
        </p:nvSpPr>
        <p:spPr>
          <a:xfrm>
            <a:off x="6753225" y="3566144"/>
            <a:ext cx="2294573" cy="612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쏴도 되는지 허락을 받기까지 — 자기승인 축·권한위임은 0초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34BEDCD-230C-42E3-86B4-90DEE465176D}"/>
              </a:ext>
            </a:extLst>
          </p:cNvPr>
          <p:cNvSpPr/>
          <p:nvPr/>
        </p:nvSpPr>
        <p:spPr>
          <a:xfrm>
            <a:off x="11887200" y="2415039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1734436-444F-2458-7D01-C8742A078750}"/>
              </a:ext>
            </a:extLst>
          </p:cNvPr>
          <p:cNvSpPr/>
          <p:nvPr/>
        </p:nvSpPr>
        <p:spPr>
          <a:xfrm>
            <a:off x="9213270" y="2507167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3E555F-7615-05FA-ED76-72E75FFBE8B5}"/>
              </a:ext>
            </a:extLst>
          </p:cNvPr>
          <p:cNvSpPr/>
          <p:nvPr/>
        </p:nvSpPr>
        <p:spPr>
          <a:xfrm>
            <a:off x="11887200" y="2415039"/>
            <a:ext cx="2524125" cy="57150"/>
          </a:xfrm>
          <a:prstGeom prst="rect">
            <a:avLst/>
          </a:prstGeom>
          <a:solidFill>
            <a:srgbClr val="E08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A946F72-C7A2-2F5E-77BC-261A9252D74C}"/>
              </a:ext>
            </a:extLst>
          </p:cNvPr>
          <p:cNvSpPr/>
          <p:nvPr/>
        </p:nvSpPr>
        <p:spPr>
          <a:xfrm>
            <a:off x="11887200" y="2415039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8DEF8DB-DE17-B948-596A-AFBF7859339D}"/>
              </a:ext>
            </a:extLst>
          </p:cNvPr>
          <p:cNvSpPr/>
          <p:nvPr/>
        </p:nvSpPr>
        <p:spPr>
          <a:xfrm>
            <a:off x="14401800" y="2415039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D8F3DD7-8E33-902B-5EDF-9111AA57F4ED}"/>
              </a:ext>
            </a:extLst>
          </p:cNvPr>
          <p:cNvSpPr/>
          <p:nvPr/>
        </p:nvSpPr>
        <p:spPr>
          <a:xfrm>
            <a:off x="12106275" y="2738889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E08A00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0EE0DD4-2B77-27E8-4943-C0CD9628E707}"/>
              </a:ext>
            </a:extLst>
          </p:cNvPr>
          <p:cNvSpPr/>
          <p:nvPr/>
        </p:nvSpPr>
        <p:spPr>
          <a:xfrm>
            <a:off x="12106275" y="3119889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12000"/>
              </a:lnSpc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사수선정 확정 ➡️ 발사</a:t>
            </a:r>
            <a:endParaRPr lang="en-US" sz="2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DD36FF7-C14F-8038-A694-149835B72CBA}"/>
              </a:ext>
            </a:extLst>
          </p:cNvPr>
          <p:cNvSpPr/>
          <p:nvPr/>
        </p:nvSpPr>
        <p:spPr>
          <a:xfrm>
            <a:off x="12106275" y="3580884"/>
            <a:ext cx="21621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6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확정된 교전명령이 ECS를 거쳐 발사대에 닿기까지</a:t>
            </a:r>
            <a:endParaRPr lang="en-US" sz="16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ABE0A05-BBD0-4777-579F-AB2EF0943C8E}"/>
              </a:ext>
            </a:extLst>
          </p:cNvPr>
          <p:cNvSpPr/>
          <p:nvPr/>
        </p:nvSpPr>
        <p:spPr>
          <a:xfrm>
            <a:off x="9251370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181669A-3FA4-2CAB-4B31-6595DB976A03}"/>
              </a:ext>
            </a:extLst>
          </p:cNvPr>
          <p:cNvSpPr/>
          <p:nvPr/>
        </p:nvSpPr>
        <p:spPr>
          <a:xfrm>
            <a:off x="9251370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52C201E-4371-C105-0D5A-6B0BC7B0DB88}"/>
              </a:ext>
            </a:extLst>
          </p:cNvPr>
          <p:cNvSpPr/>
          <p:nvPr/>
        </p:nvSpPr>
        <p:spPr>
          <a:xfrm>
            <a:off x="9251370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7775715-C45D-46D5-AB07-1A646C4754B3}"/>
              </a:ext>
            </a:extLst>
          </p:cNvPr>
          <p:cNvSpPr/>
          <p:nvPr/>
        </p:nvSpPr>
        <p:spPr>
          <a:xfrm>
            <a:off x="925137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25144C6-3D34-2B94-C0B8-9A1735262AF9}"/>
              </a:ext>
            </a:extLst>
          </p:cNvPr>
          <p:cNvSpPr/>
          <p:nvPr/>
        </p:nvSpPr>
        <p:spPr>
          <a:xfrm>
            <a:off x="11765970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E5FA5E-084C-07DD-AAA8-C473A895A890}"/>
              </a:ext>
            </a:extLst>
          </p:cNvPr>
          <p:cNvSpPr/>
          <p:nvPr/>
        </p:nvSpPr>
        <p:spPr>
          <a:xfrm>
            <a:off x="9470445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1F6386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EAD5278-E68E-4161-CEE9-807EBFA5E99F}"/>
              </a:ext>
            </a:extLst>
          </p:cNvPr>
          <p:cNvSpPr/>
          <p:nvPr/>
        </p:nvSpPr>
        <p:spPr>
          <a:xfrm>
            <a:off x="9470445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2100" b="1" dirty="0">
                <a:solidFill>
                  <a:srgbClr val="1E2A4A"/>
                </a:solidFill>
                <a:latin typeface="Arial" pitchFamily="34" charset="0"/>
                <a:cs typeface="Arial" pitchFamily="34" charset="-120"/>
              </a:rPr>
              <a:t>교전 가능 대기</a:t>
            </a:r>
            <a:endParaRPr lang="en-US" sz="2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62B833D-14BD-2321-31FD-18A752467278}"/>
              </a:ext>
            </a:extLst>
          </p:cNvPr>
          <p:cNvSpPr/>
          <p:nvPr/>
        </p:nvSpPr>
        <p:spPr>
          <a:xfrm>
            <a:off x="9470445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6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쏠 수 있는 포대가 생길 때까지 — WTA는 계속 후보 평가, 구조가 단축 못 함</a:t>
            </a:r>
            <a:endParaRPr lang="en-US" sz="16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A69F4D7-203F-E4C2-6C69-01640DB7C33D}"/>
              </a:ext>
            </a:extLst>
          </p:cNvPr>
          <p:cNvSpPr/>
          <p:nvPr/>
        </p:nvSpPr>
        <p:spPr>
          <a:xfrm>
            <a:off x="14620875" y="2400300"/>
            <a:ext cx="2524125" cy="2470770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D5B84E0-8DA4-9624-BA3B-511D2C5591AF}"/>
              </a:ext>
            </a:extLst>
          </p:cNvPr>
          <p:cNvSpPr/>
          <p:nvPr/>
        </p:nvSpPr>
        <p:spPr>
          <a:xfrm>
            <a:off x="14620875" y="4861545"/>
            <a:ext cx="25241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E2BA269-C731-6FDA-6DA8-631B6BB90133}"/>
              </a:ext>
            </a:extLst>
          </p:cNvPr>
          <p:cNvSpPr/>
          <p:nvPr/>
        </p:nvSpPr>
        <p:spPr>
          <a:xfrm>
            <a:off x="14620875" y="2400300"/>
            <a:ext cx="2524125" cy="57150"/>
          </a:xfrm>
          <a:prstGeom prst="rect">
            <a:avLst/>
          </a:prstGeom>
          <a:solidFill>
            <a:srgbClr val="1F63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02A7132-7287-D991-06D5-E5D6F189CD82}"/>
              </a:ext>
            </a:extLst>
          </p:cNvPr>
          <p:cNvSpPr/>
          <p:nvPr/>
        </p:nvSpPr>
        <p:spPr>
          <a:xfrm>
            <a:off x="146208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B8CFCDF-22AA-5823-478F-6589BADC8169}"/>
              </a:ext>
            </a:extLst>
          </p:cNvPr>
          <p:cNvSpPr/>
          <p:nvPr/>
        </p:nvSpPr>
        <p:spPr>
          <a:xfrm>
            <a:off x="17135475" y="2400300"/>
            <a:ext cx="9525" cy="247077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9815EC4-C5A0-E280-45FC-34D8E16F4A1E}"/>
              </a:ext>
            </a:extLst>
          </p:cNvPr>
          <p:cNvSpPr/>
          <p:nvPr/>
        </p:nvSpPr>
        <p:spPr>
          <a:xfrm>
            <a:off x="14839950" y="2724150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CF6041A-4667-E991-4081-219597C2BE67}"/>
              </a:ext>
            </a:extLst>
          </p:cNvPr>
          <p:cNvSpPr/>
          <p:nvPr/>
        </p:nvSpPr>
        <p:spPr>
          <a:xfrm>
            <a:off x="14839950" y="3105150"/>
            <a:ext cx="229457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2000"/>
              </a:lnSpc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</a:t>
            </a:r>
            <a:endParaRPr lang="en-US" sz="21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A6F0570-0FDE-A712-DEBC-A2C4BBFC29CA}"/>
              </a:ext>
            </a:extLst>
          </p:cNvPr>
          <p:cNvSpPr/>
          <p:nvPr/>
        </p:nvSpPr>
        <p:spPr>
          <a:xfrm>
            <a:off x="14839950" y="3566145"/>
            <a:ext cx="2294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>
              <a:lnSpc>
                <a:spcPct val="130909"/>
              </a:lnSpc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결과판정 — 실패 시 ④로 복귀(승인 재취득 없음) · 시간표 밖</a:t>
            </a:r>
            <a:endParaRPr lang="en-US" sz="1800" dirty="0"/>
          </a:p>
        </p:txBody>
      </p:sp>
      <p:sp>
        <p:nvSpPr>
          <p:cNvPr id="930" name="Shape">
            <a:extLst>
              <a:ext uri="{FF2B5EF4-FFF2-40B4-BE49-F238E27FC236}">
                <a16:creationId xmlns:a16="http://schemas.microsoft.com/office/drawing/2014/main" id="{E8B9E71D-1453-DCD4-24BF-79F97758F452}"/>
              </a:ext>
            </a:extLst>
          </p:cNvPr>
          <p:cNvSpPr/>
          <p:nvPr/>
        </p:nvSpPr>
        <p:spPr>
          <a:xfrm>
            <a:off x="114300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D9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1" name="Text">
            <a:extLst>
              <a:ext uri="{FF2B5EF4-FFF2-40B4-BE49-F238E27FC236}">
                <a16:creationId xmlns:a16="http://schemas.microsoft.com/office/drawing/2014/main" id="{36605B46-B9C1-9C98-B404-C9E453F7D7AF}"/>
              </a:ext>
            </a:extLst>
          </p:cNvPr>
          <p:cNvSpPr/>
          <p:nvPr/>
        </p:nvSpPr>
        <p:spPr>
          <a:xfrm>
            <a:off x="114300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입력·처리 — 보고선 전파 + 큐 대기·처리 (①+② 31.7 → 3.0초)</a:t>
            </a:r>
            <a:endParaRPr lang="en-US" dirty="0"/>
          </a:p>
        </p:txBody>
      </p:sp>
      <p:sp>
        <p:nvSpPr>
          <p:cNvPr id="932" name="Shape">
            <a:extLst>
              <a:ext uri="{FF2B5EF4-FFF2-40B4-BE49-F238E27FC236}">
                <a16:creationId xmlns:a16="http://schemas.microsoft.com/office/drawing/2014/main" id="{3E967799-B89A-B75F-06DA-627DBF170601}"/>
              </a:ext>
            </a:extLst>
          </p:cNvPr>
          <p:cNvSpPr/>
          <p:nvPr/>
        </p:nvSpPr>
        <p:spPr>
          <a:xfrm>
            <a:off x="653415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FBF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3" name="Text">
            <a:extLst>
              <a:ext uri="{FF2B5EF4-FFF2-40B4-BE49-F238E27FC236}">
                <a16:creationId xmlns:a16="http://schemas.microsoft.com/office/drawing/2014/main" id="{5F4233E2-7D3F-89FB-223C-ACA7CB41E7AF}"/>
              </a:ext>
            </a:extLst>
          </p:cNvPr>
          <p:cNvSpPr/>
          <p:nvPr/>
        </p:nvSpPr>
        <p:spPr>
          <a:xfrm>
            <a:off x="653415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3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승인·협조 = 유일한 사람 개입 구간(C2 구조) 14.6→0.7초 · ④ 대기 = 구조가 단축 못 함 51.3→90.2초 — 상쇄 발생</a:t>
            </a:r>
            <a:endParaRPr lang="en-US" dirty="0"/>
          </a:p>
        </p:txBody>
      </p:sp>
      <p:sp>
        <p:nvSpPr>
          <p:cNvPr id="934" name="Shape">
            <a:extLst>
              <a:ext uri="{FF2B5EF4-FFF2-40B4-BE49-F238E27FC236}">
                <a16:creationId xmlns:a16="http://schemas.microsoft.com/office/drawing/2014/main" id="{7BCA2F5F-D315-4EAD-C575-17FB24D52B99}"/>
              </a:ext>
            </a:extLst>
          </p:cNvPr>
          <p:cNvSpPr/>
          <p:nvPr/>
        </p:nvSpPr>
        <p:spPr>
          <a:xfrm>
            <a:off x="11925300" y="4995000"/>
            <a:ext cx="5219700" cy="400000"/>
          </a:xfrm>
          <a:prstGeom prst="roundRect">
            <a:avLst>
              <a:gd name="adj" fmla="val 18000"/>
            </a:avLst>
          </a:prstGeom>
          <a:solidFill>
            <a:srgbClr val="E3F0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5" name="Text">
            <a:extLst>
              <a:ext uri="{FF2B5EF4-FFF2-40B4-BE49-F238E27FC236}">
                <a16:creationId xmlns:a16="http://schemas.microsoft.com/office/drawing/2014/main" id="{F6E9D8EC-EE5D-9A5C-0FB8-C3F2E82AD0FF}"/>
              </a:ext>
            </a:extLst>
          </p:cNvPr>
          <p:cNvSpPr/>
          <p:nvPr/>
        </p:nvSpPr>
        <p:spPr>
          <a:xfrm>
            <a:off x="11925300" y="4995000"/>
            <a:ext cx="5219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명령 전파 8.9→6.8초 · 합계(탐지→발사) 106.4 → 100.7초 · ⑥ BDA·재교전은 시간표 밖(임무 지표)</a:t>
            </a:r>
            <a:endParaRPr lang="en-US" dirty="0"/>
          </a:p>
        </p:txBody>
      </p:sp>
      <p:sp>
        <p:nvSpPr>
          <p:cNvPr id="936" name="Shape">
            <a:extLst>
              <a:ext uri="{FF2B5EF4-FFF2-40B4-BE49-F238E27FC236}">
                <a16:creationId xmlns:a16="http://schemas.microsoft.com/office/drawing/2014/main" id="{8BEF2431-AD80-8F57-07B8-76F592285D28}"/>
              </a:ext>
            </a:extLst>
          </p:cNvPr>
          <p:cNvSpPr/>
          <p:nvPr/>
        </p:nvSpPr>
        <p:spPr>
          <a:xfrm>
            <a:off x="1143000" y="5560000"/>
            <a:ext cx="7867650" cy="4200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7" name="Text">
            <a:extLst>
              <a:ext uri="{FF2B5EF4-FFF2-40B4-BE49-F238E27FC236}">
                <a16:creationId xmlns:a16="http://schemas.microsoft.com/office/drawing/2014/main" id="{159C6527-5148-8EB4-806B-B7334E7FE113}"/>
              </a:ext>
            </a:extLst>
          </p:cNvPr>
          <p:cNvSpPr/>
          <p:nvPr/>
        </p:nvSpPr>
        <p:spPr>
          <a:xfrm>
            <a:off x="1457325" y="5790000"/>
            <a:ext cx="730000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1   </a:t>
            </a:r>
            <a:r>
              <a:rPr lang="en-US" sz="16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— 탐지→발사 파이프라인 시간표</a:t>
            </a:r>
            <a:endParaRPr lang="en-US" dirty="0"/>
          </a:p>
        </p:txBody>
      </p:sp>
      <p:sp>
        <p:nvSpPr>
          <p:cNvPr id="939" name="Shape">
            <a:extLst>
              <a:ext uri="{FF2B5EF4-FFF2-40B4-BE49-F238E27FC236}">
                <a16:creationId xmlns:a16="http://schemas.microsoft.com/office/drawing/2014/main" id="{D1450457-D615-DA18-9FEB-8EDA3C7CC600}"/>
              </a:ext>
            </a:extLst>
          </p:cNvPr>
          <p:cNvSpPr/>
          <p:nvPr/>
        </p:nvSpPr>
        <p:spPr>
          <a:xfrm>
            <a:off x="9277350" y="5560000"/>
            <a:ext cx="7867650" cy="4200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0" name="Text">
            <a:extLst>
              <a:ext uri="{FF2B5EF4-FFF2-40B4-BE49-F238E27FC236}">
                <a16:creationId xmlns:a16="http://schemas.microsoft.com/office/drawing/2014/main" id="{516A789E-6084-694E-CE0C-BFA4766DF68A}"/>
              </a:ext>
            </a:extLst>
          </p:cNvPr>
          <p:cNvSpPr/>
          <p:nvPr/>
        </p:nvSpPr>
        <p:spPr>
          <a:xfrm>
            <a:off x="9591675" y="5790000"/>
            <a:ext cx="730000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 2   </a:t>
            </a:r>
            <a:r>
              <a:rPr lang="en-US" sz="16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위협항적별 로그 병렬 대조 (캡처)</a:t>
            </a:r>
            <a:endParaRPr lang="en-US" dirty="0"/>
          </a:p>
        </p:txBody>
      </p:sp>
      <p:sp>
        <p:nvSpPr>
          <p:cNvPr id="942" name="Text">
            <a:extLst>
              <a:ext uri="{FF2B5EF4-FFF2-40B4-BE49-F238E27FC236}">
                <a16:creationId xmlns:a16="http://schemas.microsoft.com/office/drawing/2014/main" id="{17837380-4F8D-E20F-29CB-4B8E98C58043}"/>
              </a:ext>
            </a:extLst>
          </p:cNvPr>
          <p:cNvSpPr/>
          <p:nvPr/>
        </p:nvSpPr>
        <p:spPr>
          <a:xfrm>
            <a:off x="9591675" y="9833345"/>
            <a:ext cx="7300000" cy="3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seed에서 같은 위협이 두 구조를 통과한 결과 — SC3 예시: 추적 286건 중 개선 79 · 악화 17 · 동일 190</a:t>
            </a:r>
            <a:endParaRPr lang="en-US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FA270922-E768-5C51-BAF1-1973308211A8}"/>
              </a:ext>
            </a:extLst>
          </p:cNvPr>
          <p:cNvSpPr/>
          <p:nvPr/>
        </p:nvSpPr>
        <p:spPr>
          <a:xfrm>
            <a:off x="1390650" y="3566145"/>
            <a:ext cx="21621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ko-KR" alt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레이더가 본 것이 지휘소의 항적이 될 때까지</a:t>
            </a:r>
            <a:endParaRPr lang="en-US" sz="1800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2ED28395-5E5C-7F73-1515-96C45C1FCF02}"/>
              </a:ext>
            </a:extLst>
          </p:cNvPr>
          <p:cNvSpPr/>
          <p:nvPr/>
        </p:nvSpPr>
        <p:spPr>
          <a:xfrm>
            <a:off x="6523673" y="2400300"/>
            <a:ext cx="2524125" cy="57150"/>
          </a:xfrm>
          <a:prstGeom prst="rect">
            <a:avLst/>
          </a:prstGeom>
          <a:solidFill>
            <a:srgbClr val="E08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456B2C45-CECE-2981-A551-B4396F187B30}"/>
              </a:ext>
            </a:extLst>
          </p:cNvPr>
          <p:cNvSpPr/>
          <p:nvPr/>
        </p:nvSpPr>
        <p:spPr>
          <a:xfrm>
            <a:off x="6749761" y="2753925"/>
            <a:ext cx="22945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b="1" dirty="0">
                <a:solidFill>
                  <a:srgbClr val="E08A00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31728CC-5731-156B-B364-763DBD2A9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675" y="6242670"/>
            <a:ext cx="7421230" cy="30540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226495B-6368-1F8A-59BC-46694D98B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860" y="6351195"/>
            <a:ext cx="6184900" cy="10414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C0CC82A-EFAD-1ADB-3D98-A0710ED62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537" y="7502083"/>
            <a:ext cx="7772400" cy="196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6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구성과 대기행렬 파라미터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C2 노드 = 서버 c · 유한 대기실 K의 대기행렬. As-Is 64노드 / To-Be 65노드(+IAOC).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466725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52525" y="2495550"/>
            <a:ext cx="114300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43025" y="26670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95525" y="2495550"/>
            <a:ext cx="93154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86025" y="26670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097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72527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49225" y="2495550"/>
            <a:ext cx="1238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963525" y="26670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087475" y="2495550"/>
            <a:ext cx="16192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201775" y="26670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처리시간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706725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5821025" y="26670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대기실 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52525" y="3105150"/>
            <a:ext cx="114300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43025" y="32575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95525" y="3105150"/>
            <a:ext cx="93154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486025" y="32575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IAOC 통합공중작전통제소 </a:t>
            </a: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(To-Be 전용)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61097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172527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849225" y="3105150"/>
            <a:ext cx="1238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963525" y="32575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087475" y="3105150"/>
            <a:ext cx="16192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01775" y="32575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706725" y="3105150"/>
            <a:ext cx="1428750" cy="571500"/>
          </a:xfrm>
          <a:prstGeom prst="rect">
            <a:avLst/>
          </a:prstGeom>
          <a:solidFill>
            <a:srgbClr val="E6F4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5821025" y="32575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52525" y="367665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343025" y="3838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295525" y="367665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486025" y="3838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KAMDOC 탄도탄 작전통제소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61097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172527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849225" y="367665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963525" y="3838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087475" y="367665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4201775" y="3838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706725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5821025" y="3838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43025" y="44100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486025" y="44100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MCRC 중앙방공통제소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72527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963525" y="4410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01775" y="44100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37.5초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821025" y="44100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43025" y="498157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486025" y="498157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방공C2A/AOC (1군단·수방사)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72527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963525" y="49815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201775" y="498157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821025" y="49815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52525" y="540067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343025" y="556260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295525" y="540067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486025" y="556260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정보통합센터 (W1~4·C1~3·E1~3·MDU)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61097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172527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849225" y="540067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2963525" y="556260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087475" y="540067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4201775" y="556260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9초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706725" y="5400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5821025" y="55626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52525" y="5981700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343025" y="6143625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2295525" y="5981700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2486025" y="6143625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교전통제소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61097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1172527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849225" y="5981700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963525" y="614362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4087475" y="5981700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4201775" y="6143625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3.5초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706725" y="5981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5821025" y="614362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152525" y="6562725"/>
            <a:ext cx="114300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343025" y="6724650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2295525" y="6562725"/>
            <a:ext cx="93154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2486025" y="6724650"/>
            <a:ext cx="921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19 · 요격 포대 15 (천마 5 · 천궁-II 6 · 비호 2 · PAC-3 1 · L-SAM 1)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61097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172527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2849225" y="6562725"/>
            <a:ext cx="1238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12963525" y="6724650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4087475" y="6562725"/>
            <a:ext cx="16192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4201775" y="6724650"/>
            <a:ext cx="1314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706725" y="6562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5821025" y="672465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943" name="Text"/>
          <p:cNvSpPr/>
          <p:nvPr/>
        </p:nvSpPr>
        <p:spPr>
          <a:xfrm>
            <a:off x="1143000" y="7496175"/>
            <a:ext cx="1648206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 — </a:t>
            </a: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수: 동일 유형 노드의 개수 · 서버 c: 한 노드가 동시에 처리할 수 있는 작업 수 · 처리시간: 작업 1건의 평균 서비스 시간(시스템 + 운용자 중간 숙련, 예: MCRC 7.5초 + 30초 = 37.5초) · 대기실 K: 처리를 기다리며 줄 설 수 있는 최대 작업 수(가득 차면 이후 도착분은 차단)</a:t>
            </a:r>
            <a:endParaRPr lang="en-US" dirty="0"/>
          </a:p>
          <a:p>
            <a:pPr marL="0" indent="0" algn="l"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센서·요격 포대는 대기행렬이 아니라 물리 계층(탐지·교전 기하)으로 모델링되어 c·처리시간·K가 없다. K = 동시처리용량 × 계층 계수(지휘 10 · 대대 5 · 기타 2).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 구성과 보고 주기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19대 6종. 센서→C2 보고주기 차등이 항적 갱신 속도를 결정한다 (IADS_codex 정본, ADR-057).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486025"/>
            <a:ext cx="16002000" cy="6334125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52525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62075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05750" y="2495550"/>
            <a:ext cx="1047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39100" y="26670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53500" y="2495550"/>
            <a:ext cx="1428750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086850" y="26670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탐지거리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382250" y="2495550"/>
            <a:ext cx="6753225" cy="60960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91800" y="26670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보고주기 (비례 막대)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32575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Pine Block-B (GPR)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39100" y="32575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86850" y="32575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km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91800" y="3286125"/>
            <a:ext cx="4572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297150" y="3257550"/>
            <a:ext cx="5425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52525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62075" y="38385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FPS-117 (ACR_E · ACR_W)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5750" y="36766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039100" y="38385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53500" y="36766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086850" y="38385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km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82250" y="36766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591800" y="3867150"/>
            <a:ext cx="2286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011150" y="3838575"/>
            <a:ext cx="4286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52525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362075" y="441960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TPS-880K 국지방공레이더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05750" y="425767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39100" y="441960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953500" y="425767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086850" y="441960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82250" y="425767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591800" y="4448175"/>
            <a:ext cx="114300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868150" y="4419600"/>
            <a:ext cx="427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52525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362075" y="500062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천궁-II MFR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905750" y="483870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039100" y="500062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953500" y="483870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086850" y="500062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km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382250" y="483870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591800" y="502920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010900" y="500062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52525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362075" y="5581650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Patriot 레이더 (MFR_MDU_M)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05750" y="5419725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8039100" y="5581650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953500" y="5419725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086850" y="5581650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km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382250" y="5419725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591800" y="5610225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1010900" y="5581650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52525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362075" y="6162675"/>
            <a:ext cx="65367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L-SAM MFR (MFR_MDU_L)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905750" y="6000750"/>
            <a:ext cx="1047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039100" y="6162675"/>
            <a:ext cx="704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953500" y="6000750"/>
            <a:ext cx="1428750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9086850" y="6162675"/>
            <a:ext cx="1085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 km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382250" y="6000750"/>
            <a:ext cx="6753225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591800" y="6191250"/>
            <a:ext cx="285750" cy="209550"/>
          </a:xfrm>
          <a:prstGeom prst="roundRect">
            <a:avLst>
              <a:gd name="adj" fmla="val 22727"/>
            </a:avLst>
          </a:prstGeom>
          <a:solidFill>
            <a:srgbClr val="2E6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1010900" y="6162675"/>
            <a:ext cx="388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43000" y="91630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국지방공레이더(TPS-880K)의 MCRC 직접 보고는 As-Is에서 제거(ADR-080) — 방공C2A로만 보고. To-Be 측은 유지.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→ To-Be — 무엇이 달라지나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1866900"/>
            <a:ext cx="3843338" cy="4038600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5895975"/>
            <a:ext cx="3843338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1866900"/>
            <a:ext cx="3843338" cy="76200"/>
          </a:xfrm>
          <a:prstGeom prst="rect">
            <a:avLst/>
          </a:prstGeom>
          <a:solidFill>
            <a:srgbClr val="A300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976813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14475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— 8가닥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14475" y="2771775"/>
            <a:ext cx="3193399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육·공 사람 매개 4채널 전량 (chat ×4 · voice ×2 · VTC ×2). 방공C2A→IAOC status ×2가 VTC 135초의 기능을 대체.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95888" y="1866900"/>
            <a:ext cx="3843338" cy="4038600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95888" y="5895975"/>
            <a:ext cx="3843338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95888" y="1866900"/>
            <a:ext cx="3843338" cy="76200"/>
          </a:xfrm>
          <a:prstGeom prst="rect">
            <a:avLst/>
          </a:prstGeom>
          <a:solidFill>
            <a:srgbClr val="2EB8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95888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029700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567363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표기 변경 — 값 동일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67363" y="2771775"/>
            <a:ext cx="3193399" cy="192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C2↔C2 coord: datalink 1s → ifcn 1s (킬웹 IFCN, 전 링크 1초). ICC⇄KAMDOC 22 · ICC⇄MCRC 22 · ECS⇄ICC 24 · ECS⇄방공C2A 6.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48775" y="1866900"/>
            <a:ext cx="3843338" cy="4038600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248775" y="5895975"/>
            <a:ext cx="3843338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248775" y="1866900"/>
            <a:ext cx="3843338" cy="76200"/>
          </a:xfrm>
          <a:prstGeom prst="rect">
            <a:avLst/>
          </a:prstGeom>
          <a:solidFill>
            <a:srgbClr val="3D8B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248775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3082588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620250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— 조율층 결선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20250" y="2771775"/>
            <a:ext cx="3193399" cy="192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센서 → IAOC 직결 ×19 (주기 유지, 기존 보고선 병행) · C2 30개 노드 ⇄ IAOC report ×30 + coord ×60 + status ×2, 전부 ifcn 1s.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301663" y="1866900"/>
            <a:ext cx="3843338" cy="4038600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301663" y="5895975"/>
            <a:ext cx="3843338" cy="9525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301663" y="1866900"/>
            <a:ext cx="3843338" cy="76200"/>
          </a:xfrm>
          <a:prstGeom prst="rect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3301663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7135475" y="1866900"/>
            <a:ext cx="9525" cy="4038600"/>
          </a:xfrm>
          <a:prstGeom prst="rect">
            <a:avLst/>
          </a:prstGeom>
          <a:solidFill>
            <a:srgbClr val="C9D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3673138" y="2286000"/>
            <a:ext cx="34104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 모드 공통 신설 — 2가닥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673138" y="2771775"/>
            <a:ext cx="3193399" cy="2300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⇄ 방공C2A kvmf-relay 30초 ×2 (ADR-081). As-Is·To-Be 양쪽에 존재하며, To-Be에서는 조율층 2초 경로가 이겨 선택되지 않는다 — 차분에는 나타나지 않는다.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315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15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→ 65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43815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53902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매개 링크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53902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0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7620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792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최저속 링크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792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135s → 16s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08585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0309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유한 용량 채널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0309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0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4097000" y="8124825"/>
            <a:ext cx="3048000" cy="1304925"/>
          </a:xfrm>
          <a:prstGeom prst="roundRect">
            <a:avLst>
              <a:gd name="adj" fmla="val 8759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4269403" y="8382000"/>
            <a:ext cx="270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 모드 공통 신설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269403" y="8724900"/>
            <a:ext cx="270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2</a:t>
            </a:r>
            <a:endParaRPr lang="en-US" sz="3000" dirty="0"/>
          </a:p>
        </p:txBody>
      </p:sp>
      <p:sp>
        <p:nvSpPr>
          <p:cNvPr id="944" name="Shape"/>
          <p:cNvSpPr/>
          <p:nvPr/>
        </p:nvSpPr>
        <p:spPr>
          <a:xfrm>
            <a:off x="1143000" y="6150000"/>
            <a:ext cx="16002000" cy="1700000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5" name="Text"/>
          <p:cNvSpPr/>
          <p:nvPr/>
        </p:nvSpPr>
        <p:spPr>
          <a:xfrm>
            <a:off x="1457325" y="6320000"/>
            <a:ext cx="155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말하면</a:t>
            </a:r>
            <a:endParaRPr lang="en-US" dirty="0"/>
          </a:p>
        </p:txBody>
      </p:sp>
      <p:sp>
        <p:nvSpPr>
          <p:cNvPr id="946" name="Text"/>
          <p:cNvSpPr/>
          <p:nvPr/>
        </p:nvSpPr>
        <p:spPr>
          <a:xfrm>
            <a:off x="1457325" y="6770000"/>
            <a:ext cx="15500000" cy="1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지금(As-Is)은 육군과 공군이 서로 다른 방에서 일하면서, 필요할 때마다 문자(45초)·전화(20초)·화상회의(135초)로 묻고 답합니다. 이렇게 사람이 말로 잇는 연락선이 8가닥 있습니다.</a:t>
            </a:r>
            <a:endParaRPr lang="en-US" dirty="0"/>
          </a:p>
          <a:p>
            <a:pPr marL="0" indent="0" algn="l">
              <a:spcBef>
                <a:spcPts val="600"/>
              </a:spcBef>
              <a:buNone/>
            </a:pPr>
            <a:r>
              <a:rPr lang="en-US" sz="14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바꾼 뒤(To-Be)에는 모두가 같은 상황판(조율층 IAOC)을 1초 만에 함께 봅니다 — 지우는 것은 이 연락선 8가닥뿐이고, 원래 있던 보고선은 그대로 둡니다.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분석: SC3 복합 동시 공격 · 30분 · 양 모드 비교.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562225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514475" y="2895600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난수 (CRN)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14475" y="3343275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As-Is와 To-Be에 동일 seed의 동일 위협 스트림을 투입 — 구조 차이 외 변동 요인 제거, 대응표본 비교.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77350" y="2562225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48825" y="2895600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30회 반복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48825" y="3343275"/>
            <a:ext cx="783717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간 독립 seed로 신뢰구간 산출 — 수렴·유의성 검정, 단일 실행의 우연 배제.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6129338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514475" y="6462713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플래그 ablation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14475" y="6910388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신규 거동을 플래그 단위로 하나씩 끄고 재측정 — 개선 효과의 귀속(attribution) 확인.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6129338"/>
            <a:ext cx="7867650" cy="3300413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48825" y="6462713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가정값 민감도 스윕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48825" y="6910388"/>
            <a:ext cx="733844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 C 가정값(음성 20초·문자 45초·VTC 135초)을 상하로 변주 — 결론이 구조 효과인지 수치 선택의 산물인지 분리.</a:t>
            </a:r>
            <a:endParaRPr lang="en-US" sz="1800" dirty="0"/>
          </a:p>
        </p:txBody>
      </p:sp>
      <p:sp>
        <p:nvSpPr>
          <p:cNvPr id="947" name="Text"/>
          <p:cNvSpPr/>
          <p:nvPr/>
        </p:nvSpPr>
        <p:spPr>
          <a:xfrm>
            <a:off x="1514475" y="4400000"/>
            <a:ext cx="7338441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쉽게: 두 반의 실력을 비교하려면 똑같은 문제지로 시험을 봐야 합니다 — 두 구조에 같은 위협을 투입.</a:t>
            </a:r>
            <a:endParaRPr lang="en-US" dirty="0"/>
          </a:p>
        </p:txBody>
      </p:sp>
      <p:sp>
        <p:nvSpPr>
          <p:cNvPr id="948" name="Text"/>
          <p:cNvSpPr/>
          <p:nvPr/>
        </p:nvSpPr>
        <p:spPr>
          <a:xfrm>
            <a:off x="9648825" y="4400000"/>
            <a:ext cx="7338441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쉽게: 한 번의 시험은 운일 수 있으니, 문제지를 바꿔 30번 보고 평균으로 비교합니다.</a:t>
            </a:r>
            <a:endParaRPr lang="en-US" dirty="0"/>
          </a:p>
        </p:txBody>
      </p:sp>
      <p:sp>
        <p:nvSpPr>
          <p:cNvPr id="949" name="Text"/>
          <p:cNvSpPr/>
          <p:nvPr/>
        </p:nvSpPr>
        <p:spPr>
          <a:xfrm>
            <a:off x="1514475" y="7960000"/>
            <a:ext cx="7338441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쉽게: 새 기능 스위치를 하나씩 꺼 보면서, 정확히 어떤 기능 덕분에 좋아졌는지 확인합니다.</a:t>
            </a:r>
            <a:endParaRPr lang="en-US" dirty="0"/>
          </a:p>
        </p:txBody>
      </p:sp>
      <p:sp>
        <p:nvSpPr>
          <p:cNvPr id="950" name="Text"/>
          <p:cNvSpPr/>
          <p:nvPr/>
        </p:nvSpPr>
        <p:spPr>
          <a:xfrm>
            <a:off x="9648825" y="7960000"/>
            <a:ext cx="7338441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쉽게: 확실치 않은 숫자는 크게도 작게도 바꿔 봅니다 — 그래도 결론이 같아야 믿을 수 있습니다.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46995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가정과 한계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324237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33600" y="3156645"/>
            <a:ext cx="15265527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육·공 협조 채널의 20·45·135초는 정책연구용 가정값(신뢰도 등급 C) — 구조는 2022.12.26 사건의 공식 교훈에 근거하나 개별 수치의 출처 문헌은 없으며, 민감도 스윕으로 보강.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427866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33600" y="4192935"/>
            <a:ext cx="1401259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지상배치 방공 C2 한정 — 요격기·해상 자산(KNTDS·함정)·상위 작전사 계선은 범위 외(ADR-060), 결선도에는 개념 표시만.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90158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33600" y="4815855"/>
            <a:ext cx="124181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배치에 주한미군 자산 미포함 — 타국 부대에 대한 지휘 권한이 없어 의도적으로 제외(ADR-036, 독립 축).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" y="552450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33600" y="5438775"/>
            <a:ext cx="1608419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국지방공레이더의 MCRC 직접 보고는 As-Is에서 제거(ADR-080) — To-Be 측은 유지. 링크 의미론은 IADS_codex 정본(ADR-057)을 따름.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6147420"/>
            <a:ext cx="647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3600" y="6061695"/>
            <a:ext cx="15265527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방공C2A 사이 상급 경유 계선(kvmf-relay 30초, ADR-081)은 링크 지연이 아니라 체계 전체의 작전 반응시간을 옮겨 쓴 값이며, 중간 상급 노드 없이 왕복을 한 간선으로 축약했다. 임무 지표를 유의하게 움직이지 않는다 — 채택 근거는 구조 정합이다. 육↔공 세 채널의 지연 분포는 ADR-082로 전부 정규분포가 됐고, 세 값 모두 등급 C를 유지한다.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7873305"/>
            <a:ext cx="1718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자료의 모든 수치·좌표·확률은 공개자료 기반의 정책연구용 개념값이며 실제 작전자료가 아닙니다. 좌표는 도시·권역 수준 개념좌표입니다.</a:t>
            </a:r>
            <a:endParaRPr lang="en-US" sz="1800" dirty="0"/>
          </a:p>
        </p:txBody>
      </p:sp>
      <p:sp>
        <p:nvSpPr>
          <p:cNvPr id="951" name="Text"/>
          <p:cNvSpPr/>
          <p:nvPr/>
        </p:nvSpPr>
        <p:spPr>
          <a:xfrm>
            <a:off x="1333500" y="8400000"/>
            <a:ext cx="171831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요약하면 — 이 모델은 미래 전투 결과를 맞히는 도구가 아니라, 두 지휘구조의 차이를 공정하게 재는 저울입니다. 확실치 않은 숫자는 "가정"이라고 밝히고, 그 숫자를 바꿔 봐도 결론이 버티는지 확인합니다.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유형 범례와 파라미터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1866900"/>
            <a:ext cx="78867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7325" y="2324100"/>
            <a:ext cx="8572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2225" y="2124075"/>
            <a:ext cx="3705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report-cycle — 레이더 보고 주기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2225" y="2428875"/>
            <a:ext cx="3705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 · 주기 라벨 병기 (16 / 8 / 4 / 1초)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258300" y="1866900"/>
            <a:ext cx="78867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2625" y="2324100"/>
            <a:ext cx="8572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77525" y="2124075"/>
            <a:ext cx="3939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datalink / ifcn — 기계 간 1초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677525" y="2428875"/>
            <a:ext cx="3939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 · C2↔C2 및 To-Be 조율층 전 링크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143000" y="3181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7325" y="3648075"/>
            <a:ext cx="8572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2225" y="3448050"/>
            <a:ext cx="34904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포대 내부 발사명령 1초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2562225" y="3752850"/>
            <a:ext cx="34904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굵은 실선 · ECS → 발사대 ×15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258300" y="3181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AF5FD"/>
          </a:solidFill>
          <a:ln w="1905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150" y="3648075"/>
            <a:ext cx="8572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87050" y="3448050"/>
            <a:ext cx="54750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kvmf-relay — 상급 경유(육군 계통), 30초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0687050" y="3752850"/>
            <a:ext cx="54750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파선·중간 굵기 · 방공C2A ⇄ 방공C2A ×2 · 양 모드 공통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143000" y="45148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FF8EF"/>
          </a:solidFill>
          <a:ln w="19050">
            <a:solidFill>
              <a:srgbClr val="E08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6850" y="4981575"/>
            <a:ext cx="8572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571750" y="4781550"/>
            <a:ext cx="44440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— 사람이 타자, 45초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2571750" y="5086350"/>
            <a:ext cx="44440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파선·굵게 · Normal(45, σ7.5) · As-Is 전용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258300" y="45148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DF1F1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2150" y="4981575"/>
            <a:ext cx="857250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87050" y="4781550"/>
            <a:ext cx="3789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— 사람이 통화, 20초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10687050" y="5086350"/>
            <a:ext cx="3789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파선·굵게 · Normal(20,5) · As-Is 전용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1143000" y="5848350"/>
            <a:ext cx="7886700" cy="1104900"/>
          </a:xfrm>
          <a:prstGeom prst="roundRect">
            <a:avLst>
              <a:gd name="adj" fmla="val 10345"/>
            </a:avLst>
          </a:prstGeom>
          <a:solidFill>
            <a:srgbClr val="FBEEF0"/>
          </a:solidFill>
          <a:ln w="19050">
            <a:solidFill>
              <a:srgbClr val="A300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6850" y="6315075"/>
            <a:ext cx="857250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571750" y="6115050"/>
            <a:ext cx="5819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voice/VTC — 화상회의, 135초</a:t>
            </a:r>
            <a:endParaRPr lang="en-US" sz="1800" dirty="0"/>
          </a:p>
        </p:txBody>
      </p:sp>
      <p:sp>
        <p:nvSpPr>
          <p:cNvPr id="30" name="Text 21"/>
          <p:cNvSpPr/>
          <p:nvPr/>
        </p:nvSpPr>
        <p:spPr>
          <a:xfrm>
            <a:off x="2571750" y="6419850"/>
            <a:ext cx="5819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이중선·굵게 · Normal(135, σ22.5) · 1채널·4건 · As-Is 전용</a:t>
            </a:r>
            <a:endParaRPr lang="en-US" sz="1800" dirty="0"/>
          </a:p>
        </p:txBody>
      </p:sp>
      <p:sp>
        <p:nvSpPr>
          <p:cNvPr id="31" name="Text 22"/>
          <p:cNvSpPr/>
          <p:nvPr/>
        </p:nvSpPr>
        <p:spPr>
          <a:xfrm>
            <a:off x="342900" y="73152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매개하는 3종은 As-Is에만 존재 — 굵은 선 8가닥의 유무가 두 구조의 유일한 차이.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Text"/>
          <p:cNvSpPr/>
          <p:nvPr/>
        </p:nvSpPr>
        <p:spPr>
          <a:xfrm>
            <a:off x="1333500" y="1000000"/>
            <a:ext cx="16764000" cy="3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dirty="0"/>
          </a:p>
        </p:txBody>
      </p:sp>
      <p:sp>
        <p:nvSpPr>
          <p:cNvPr id="953" name="Text"/>
          <p:cNvSpPr/>
          <p:nvPr/>
        </p:nvSpPr>
        <p:spPr>
          <a:xfrm>
            <a:off x="1333500" y="1450000"/>
            <a:ext cx="167640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설계 요약 — 무엇을, 어떻게 재는가</a:t>
            </a:r>
            <a:endParaRPr lang="en-US" dirty="0"/>
          </a:p>
        </p:txBody>
      </p:sp>
      <p:sp>
        <p:nvSpPr>
          <p:cNvPr id="954" name="Text"/>
          <p:cNvSpPr/>
          <p:nvPr/>
        </p:nvSpPr>
        <p:spPr>
          <a:xfrm>
            <a:off x="1333500" y="2790000"/>
            <a:ext cx="647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dirty="0"/>
          </a:p>
        </p:txBody>
      </p:sp>
      <p:sp>
        <p:nvSpPr>
          <p:cNvPr id="955" name="Text"/>
          <p:cNvSpPr/>
          <p:nvPr/>
        </p:nvSpPr>
        <p:spPr>
          <a:xfrm>
            <a:off x="2133600" y="2750000"/>
            <a:ext cx="15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 — </a:t>
            </a:r>
            <a:r>
              <a:rPr lang="en-US" sz="15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무기 배치는 고정한 채, C2 구조(As-Is 분절형 ↔ To-Be 통합형) 하나만 바꿨을 때 방공 성과가 얼마나 달라지는가 — 3개 시나리오(SC1 책임 공백 · SC2 무인기 · SC3 복합 동시, 주 분석).</a:t>
            </a:r>
            <a:endParaRPr lang="en-US" dirty="0"/>
          </a:p>
        </p:txBody>
      </p:sp>
      <p:sp>
        <p:nvSpPr>
          <p:cNvPr id="956" name="Text"/>
          <p:cNvSpPr/>
          <p:nvPr/>
        </p:nvSpPr>
        <p:spPr>
          <a:xfrm>
            <a:off x="1333500" y="3970000"/>
            <a:ext cx="647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dirty="0"/>
          </a:p>
        </p:txBody>
      </p:sp>
      <p:sp>
        <p:nvSpPr>
          <p:cNvPr id="957" name="Text"/>
          <p:cNvSpPr/>
          <p:nvPr/>
        </p:nvSpPr>
        <p:spPr>
          <a:xfrm>
            <a:off x="2133600" y="3930000"/>
            <a:ext cx="15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— </a:t>
            </a:r>
            <a:r>
              <a:rPr lang="en-US" sz="15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C2 노드를 서버 c · 유한 대기실 K의 대기행렬로 둔 이산사건 시뮬레이션 — As-Is 64노드·118링크 / To-Be 65노드·223링크(+IAOC).</a:t>
            </a:r>
            <a:endParaRPr lang="en-US" dirty="0"/>
          </a:p>
        </p:txBody>
      </p:sp>
      <p:sp>
        <p:nvSpPr>
          <p:cNvPr id="958" name="Text"/>
          <p:cNvSpPr/>
          <p:nvPr/>
        </p:nvSpPr>
        <p:spPr>
          <a:xfrm>
            <a:off x="1333500" y="5150000"/>
            <a:ext cx="647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dirty="0"/>
          </a:p>
        </p:txBody>
      </p:sp>
      <p:sp>
        <p:nvSpPr>
          <p:cNvPr id="959" name="Text"/>
          <p:cNvSpPr/>
          <p:nvPr/>
        </p:nvSpPr>
        <p:spPr>
          <a:xfrm>
            <a:off x="2133600" y="5110000"/>
            <a:ext cx="15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차이 — </a:t>
            </a:r>
            <a:r>
              <a:rPr lang="en-US" sz="15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단 하나 — 육·공 사람 매개 4채널 8가닥(20·45·135초, As-Is 전용) ↔ 조율층 IAOC 전 링크 1초(To-Be). 기존 군종별 보고선은 양쪽 모두 유지.</a:t>
            </a:r>
            <a:endParaRPr lang="en-US" dirty="0"/>
          </a:p>
        </p:txBody>
      </p:sp>
      <p:sp>
        <p:nvSpPr>
          <p:cNvPr id="960" name="Text"/>
          <p:cNvSpPr/>
          <p:nvPr/>
        </p:nvSpPr>
        <p:spPr>
          <a:xfrm>
            <a:off x="1333500" y="6330000"/>
            <a:ext cx="647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dirty="0"/>
          </a:p>
        </p:txBody>
      </p:sp>
      <p:sp>
        <p:nvSpPr>
          <p:cNvPr id="961" name="Text"/>
          <p:cNvSpPr/>
          <p:nvPr/>
        </p:nvSpPr>
        <p:spPr>
          <a:xfrm>
            <a:off x="2133600" y="6290000"/>
            <a:ext cx="15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— </a:t>
            </a:r>
            <a:r>
              <a:rPr lang="en-US" sz="15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탐지→발사 파이프라인 시간표(ADR-083 — C2 입력·처리 / 승인·협조 / 교전 가능 대기 / C2 출력, ④ 잔여 정의로 부분합=합계 항등) + 위협항적별 로그 병렬 대조 — CRN 대응표본 · 30회 반복 CI · 기능 플래그 ablation · 가정값 민감도 스윕.</a:t>
            </a:r>
            <a:endParaRPr lang="en-US" dirty="0"/>
          </a:p>
        </p:txBody>
      </p:sp>
      <p:sp>
        <p:nvSpPr>
          <p:cNvPr id="962" name="Text"/>
          <p:cNvSpPr/>
          <p:nvPr/>
        </p:nvSpPr>
        <p:spPr>
          <a:xfrm>
            <a:off x="1333500" y="7510000"/>
            <a:ext cx="6477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dirty="0"/>
          </a:p>
        </p:txBody>
      </p:sp>
      <p:sp>
        <p:nvSpPr>
          <p:cNvPr id="963" name="Text"/>
          <p:cNvSpPr/>
          <p:nvPr/>
        </p:nvSpPr>
        <p:spPr>
          <a:xfrm>
            <a:off x="2133600" y="7470000"/>
            <a:ext cx="15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원칙 — </a:t>
            </a:r>
            <a:r>
              <a:rPr lang="en-US" sz="1500" dirty="0">
                <a:solidFill>
                  <a:srgbClr val="C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절대값이 아니라 모드 간 차이(Δ)와 병목 위치만 주장 — 모든 수치·좌표는 공개자료 기반 정책연구용 개념값이며 실제 작전자료가 아님.</a:t>
            </a:r>
            <a:endParaRPr lang="en-US" dirty="0"/>
          </a:p>
        </p:txBody>
      </p:sp>
      <p:sp>
        <p:nvSpPr>
          <p:cNvPr id="964" name="Text"/>
          <p:cNvSpPr/>
          <p:nvPr/>
        </p:nvSpPr>
        <p:spPr>
          <a:xfrm>
            <a:off x="1333500" y="8800000"/>
            <a:ext cx="171831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7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근거: 결선도(4·5p) · 파라미터(6·7p) · 협조 채널 분포(8p) · 실험 설계(10p) · 가정과 한계(11p)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6028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시뮬레이터 실측 화면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0" y="1019175"/>
            <a:ext cx="8858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SC3 · legacy 정상 배치 · 기본 플래그 · 2026-08-02 실행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3350" y="9486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캡처: K-JAMDS 시뮬레이터 단일본 — 좌: [C2 구조] 탭 정적 결선(As-Is 노드 64·링크 118 ↔ To-Be 노드 65·링크 223), 우: [분석] 탭 위협 항적 병렬 대조에서 항적 1건(mrl_large#4)을 펼친 화면.</a:t>
            </a:r>
            <a:endParaRPr lang="en-US" sz="1800" dirty="0"/>
          </a:p>
        </p:txBody>
      </p:sp>
      <p:pic>
        <p:nvPicPr>
          <p:cNvPr id="96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00000"/>
            <a:ext cx="8600000" cy="4648397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66" name="Text"/>
          <p:cNvSpPr/>
          <p:nvPr/>
        </p:nvSpPr>
        <p:spPr>
          <a:xfrm>
            <a:off x="1143000" y="7038397"/>
            <a:ext cx="86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[C2 구조] 탭 — As-Is ↔ To-Be 정적 결선 대조</a:t>
            </a:r>
            <a:endParaRPr lang="en-US" dirty="0"/>
          </a:p>
        </p:txBody>
      </p:sp>
      <p:pic>
        <p:nvPicPr>
          <p:cNvPr id="967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000" y="2300000"/>
            <a:ext cx="8100000" cy="5288932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68" name="Text"/>
          <p:cNvSpPr/>
          <p:nvPr/>
        </p:nvSpPr>
        <p:spPr>
          <a:xfrm>
            <a:off x="10043000" y="7678932"/>
            <a:ext cx="81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항적 병렬 대조 — 같은 위협의 As-Is(실패) ↔ To-Be(격추) 경로·타임라인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480000"/>
            <a:ext cx="16383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4A"/>
                </a:solidFill>
                <a:latin typeface="Arial"/>
              </a:rPr>
              <a:t>부록 — 탐지→발사 시간 계산 세부 로직 (1/2): 기준점과 C2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116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70"/>
                </a:solidFill>
                <a:latin typeface="Arial"/>
              </a:rPr>
              <a:t>스톱워치의 0초 = 탐지. 관문은 전부 항적 단계 마크(stages)의 후처리이며 엔진에 별도 계측이 없다 (ADR-083 · js/ui/panels.js pipelineStats)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52500" y="1650000"/>
          <a:ext cx="16300000" cy="6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구간 (관문 from → to)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무슨 일이 벌어지나 — 이벤트 체인 (엔진 마크)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시간을 만드는 요소 ⏱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SC3 실측 As-Is → To-Be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참고 · 침투 → 탐지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「생성」 → 「탐지」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0.2초마다 센서 스캔 — SNR(거리⁴·RCS비) → 스캔당 탐지확률을 누적 시행.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어느 한 센서라도 미탐지 상태를 벗어난 첫 tick에 「탐지」 마크 (_onIadsSensorScan).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센서 물리 — 스캔 주기·SNR·상태전이(탐지→추적→사격통제).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CRN 설계로 양 모드 동일 = 짝맞춤 공정성의 증거. 비교 대상 아님(회색 참고행).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4.0 → 4.0초 (Δ 0.00)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① 탐지 → 항적 융합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「탐지」 → 「항적융합:」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성격: C2 입력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책임 C2 결정(「책임C2:」)은 탐지와 같은 tick — 0초.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상관 추첨(조기경보급 실패 2%·MFR급 10%, 실패 시 5초 후 재시도) → 신선한 센서마다 센서→C2 최단 지연 경로(다익스트라) → 링크 전파 → 「항적정보접수:」「항적융합:」.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방공C2A 특칙: 국지 최속 1 + MCRC 유래 1을 함께 융합(지연은 둘의 max).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보고주기 첫 홉(그린파인 16 / FPS-117 8 / TPS-880K 4 / MFR 1초, 톱니 위상 반영)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+ 경로 링크 지연 합.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2.6 → 0.8초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② 융합 → 식별·할당준비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「항적융합:」 → 「위협판단·표적할당준비:」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성격: C2 처리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우선순위 산정(융합과 같은 이벤트) → 책임 C2 노드 M/M/c/K 큐 진입(_nodeArrive) —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서버 여유면 즉시, 아니면 우선순위 삽입 대기, 용량 K 초과면 드롭(그 축 상실).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서비스 완료 콜백에서 「식별확정:」+「위협판단·표적할당준비:」가 연속 마크 — 항상 같은 시각이라 별도 관문으로 두지 않는다.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큐 대기 Wq + 서비스 1건.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서비스시간이 갈림: MCRC·KAMDOC 37.5초 ↔ To-Be IAOC 2.5초×20서버 — 이 표에서 가장 큰 개선이 나는 이유.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29.2 → 2.2초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③ 승인 · 협조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first(「협조개시:」|「감독승인개시:」) → first(「승인완료:」)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마크 없으면 0초 · 성격: C2 구조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할당준비 완료가 즉시 _iadsDecide → _iadsApprovalGate: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자기승인(KAMDOC·MCRC)·사전승인·동적 권한위임(「권한위임:」) → 즉시 통과 = 0초.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육군 국지방공(human-in-loop)만: 「협조개시:」 → coord 경로 전파 → 승인노드 approval 큐·서비스 → 「승인완료:」. 한 번 granted면 영구 — 재교전 시 재취득 없음.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사람 채널 전파(음성 Normal(20, σ5)초) + 승인 큐 대기 + 승인 서비스.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사람이 개입하는 유일 구간 — 여기의 Δ는 온전히 지휘구조의 몫.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표에서는 [준비, 선정] 창에 겹치는 몫만 계상(창 클램프 — ④ 음수 방지).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14.6 → 0.7초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2500" y="974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70"/>
                </a:solidFill>
                <a:latin typeface="Arial"/>
              </a:rPr>
              <a:t>코호트: 탐지→발사 전 관문을 양 모드 모두 통과한 항적 1개 집합(SC3 57건 / 짝 157건). ③의 승인 마크는 코호트 조건이 아니다 — 부재는 제외가 아니라 0초.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480000"/>
            <a:ext cx="16383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4A"/>
                </a:solidFill>
                <a:latin typeface="Arial"/>
              </a:rPr>
              <a:t>부록 — 탐지→발사 시간 계산 세부 로직 (2/2): 대기·발사·재교전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116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70"/>
                </a:solidFill>
                <a:latin typeface="Arial"/>
              </a:rPr>
              <a:t>④는 잔여로 정의 — ①+②+③+④+⑤ ≡ ⑥이 항적마다 항등(실측 최대오차 1.1e-13). 부분합≠합계 왜곡이 구조적으로 불가능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52500" y="1650000"/>
          <a:ext cx="16300000" cy="6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구간 (관문 from → to)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무슨 일이 벌어지나 — 이벤트 체인 (엔진 마크)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시간을 만드는 요소 ⏱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SC3 실측 As-Is → To-Be</a:t>
                      </a:r>
                    </a:p>
                  </a:txBody>
                  <a:tcPr marL="80000" marR="80000" marT="50000" marB="50000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④ 교전 가능 상태 대기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잔여 = (준비→선정) − ③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성격: 대기 요인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_iadsDecide 재시도 루프 — 매회: 교전중복해소 검사(MCRC 현황공유·COP 2초 가시창) + 전 포대 WTA 평가(_iadsEvaluate):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no_fire_control(MFR 미포착·신선도 3초), no_feasible_pip/too_early(요격점 탐색 — 위협 미래 위치를 1초 간격으로 훑어 포락선·비행시간 성립 최초 시각), ammo_depleted·capacity_full.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후보 0이면 min(readyAt)에 재시도 예약 — WTA 점수 계산은 이 루프 안에서 매회 돈다.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위협 비행 기하·MFR 물리(불가 판정의 89~95%) + 탄약·동시교전 한도(5~11%) + 중복해소 대기.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지휘구조로 단축 불가 — 상류(①②③)를 앞당기면 그만큼 늘어난다(버스 정류장 효과).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⚠️ ④ 증가 = To-Be가 느려짐이 아니라 일찍 도착했다는 뜻.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51.3 → 90.2초 (+39.0)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⑤ 사수선정 확정 → 발사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「사수선정·표적할당:」 → 「발사:」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성격: C2 출력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후보 확정 「사수선정·표적할당:」 → 명령경로 링크 전파 → ECS 「교전명령접수:」 directive_reception 큐(3.5초×8서버) →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도착 시 재검증(유효창·사격직전중복해소·발수 상한·기하 재평가 — 실패 시 released 후 재시도, 이 재시도도 ⑤에 계상) → 발사대 선택(잔탄 최다) → 「발사:」.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예외: 자위권발사(ADR-071)는 이 경로 전체를 우회 — 사수선정 마크가 없어 코호트에서 빠지고 도달 수 열에만 보인다.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명령 링크 지연 합 + ECS 접수 큐·서비스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(+조건부 재검증 재시도).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8.9 → 6.8초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⑥ BDA · 재교전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「발사:」 이후 — 시간표 밖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유도탄 비행(flyout = PIP거리/탄속) 후 IADS_BDA: HIT → 「BDA:HIT」 격추 확정 /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MISS → 「BDA:MISS」, 발수 상한 미달이면 t+0.5초에 _iadsDecide 재진입 = ④로 복귀.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승인은 항적×지휘관별 granted 상태가 영구라 ③을 다시 거치지 않는다.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시간표는 각 관문의 최초 마크만 읽으므로 첫 발사에서 멈춘다.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2발째 이후·격추 여부·요격탄 소모는 임무 지표(격추율·누수·비용)가 담당.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80000" marR="80000" marT="50000" marB="5000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A4A"/>
                          </a:solidFill>
                          <a:latin typeface="Arial"/>
                        </a:rPr>
                        <a:t>⑥ 합계 · 탐지 → 발사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「탐지」 → 「발사」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①+②+③+④+⑤ ≡ ⑥ (④ 잔여 정의로 항등).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지휘구조 몫(①+②+③+⑤): 55.2 → 10.5초 (−81%) — ④가 +39.0초를 상쇄해 합계 이득이 지워진다.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합계만 떼어 인용 금지 — 어느 성격의 행에서 Δ가 났는지가 답.</a:t>
                      </a:r>
                    </a:p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이 표는 격추·누수를 대체하지 않는다.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A6270"/>
                          </a:solidFill>
                          <a:latin typeface="Arial"/>
                        </a:rPr>
                        <a:t>106.4 → 100.7초 (−5.8)</a:t>
                      </a:r>
                    </a:p>
                  </a:txBody>
                  <a:tcPr marL="80000" marR="80000" marT="50000" marB="5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2500" y="974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70"/>
                </a:solidFill>
                <a:latin typeface="Arial"/>
              </a:rPr>
              <a:t>수치: SC3 · LEGACY_NORMAL · seed 12345 · 900초 단일 실행(실제 렌더러 출력). 회귀: tests/analysis-pipeline-table.test.mjs — 산술 정합·승인 0초 규칙·구표 검산 53건.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480000"/>
            <a:ext cx="16383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4A"/>
                </a:solidFill>
                <a:latin typeface="Arial"/>
              </a:rPr>
              <a:t>부록 — 쉽게 풀어 쓴 버전: 시간이 어디에 쓰이나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116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70"/>
                </a:solidFill>
                <a:latin typeface="Arial"/>
              </a:rPr>
              <a:t>레이더가 처음 본 순간 스톱워치를 눌러, 우리 미사일이 발사될 때까지 잰다 — 교육·브리핑 보조용 비유 (정확한 정의는 앞 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" y="1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🔦 준비 — 레이더가 알아채기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나쁜 미사일이 날아와도 처음엔 아무도 몰라요. 레이더가 0.2초마다 하늘을 두리번거리다 "저기 뭔가 있다!" 하고 알아채요. 깜깜한 방에서 손전등을 휘두르다 도둑을 찾는 것과 같아요. 기계의 눈 성능이라 양 팀이 똑같고, 여기서 스톱워치를 눌러요.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02500" y="1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📮 ① 소식 전하기 (2.6 → 0.8초)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레이더가 봤다고 끝이 아니에요 — 지휘소에 소식이 도착해야 해요. 레이더마다 말하는 속도가 달라서(16초에 한 번 ~ 1초에 한 번), 여러 길 중 제일 빨리 닿는 길로 가요. 우체부마다 출발 시간이 다른 편지 배달과 같아요.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2500" y="1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🏦 ② 살펴보기 (29 → 2초)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소식이 도착하면 지휘소에서 줄을 서요 — 은행 창구예요. 창구 직원이 다 바쁘면 기다렸다가, 차례가 되면 "진짜 적이 맞아, 대응 준비 끝!" 도장을 찍어요. 옛날 팀은 창구가 느려서 29초, 새 팀은 창구가 많고 빨라서 2초 — 제일 크게 좋아진 곳!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402500" y="1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☎️ ③ 허락 받기 (15 → 1초)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쏘기 전에 허락이 필요한 팀이 있어요. 육군 팀은 공군에 전화를 걸어 "쏴도 될까요?" 물어봐요. 스스로 결정해도 되는 팀은 전화가 필요 없어서 0초! 새 팀은 모두 한 방에 있어서 전화 대신 말하면 돼요. 사람이 끼어드는 유일한 구간 — 여기서 줄어든 시간이 진짜 "조직을 바꿔 번" 시간이에요.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5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🚌 ④ 기다리기 (51 → 90초)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허락도 받고 준비도 끝났는데 아직 쏠 수 없어요 — 나쁜 미사일이 우리 미사일이 닿는 거리까지 날아와야 하거든요. 버스 정류장이에요: 집에서 아무리 빨리 나와도 버스는 제시간에 와요. 일찍 나온 사람일수록 더 오래 기다리죠. 새 팀은 준비를 42초 빨리 끝냈으니 그만큼 더 기다려요. ⚠️ 느려진 게 아니라 일찍 도착한 거예요!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500" y="5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EAF0F9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📣 ⑤ 발사! (9 → 7초)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드디어 닿는 거리에 들어왔어요! 어느 포대가 쏠지 정해지고, 명령이 포대까지 전달돼요. 선생님이 "철수야, 던져!" 외치면 철수가 듣고 공을 던지기까지의 시간이에요. 포대가 명령을 받고 단추를 누르면 — 슝! 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2500" y="5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🎯 ⑥ 맞았나 확인 — 스톱워치 끝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우리 미사일이 맞았는지 확인해요. 못 맞추면 ④로 돌아가서 한 발 더 쏴요 — 이때 허락(③)은 다시 안 받아도 돼요(아까 받은 허락이 계속 유효해요). 스톱워치는 첫 발사에서 멈추고, 몇 발 쐈는지·결국 맞췄는지는 다른 성적표(격추율)가 세요.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02500" y="5750000"/>
            <a:ext cx="3930000" cy="3650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 w="25400">
            <a:solidFill>
              <a:srgbClr val="B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110000" rIns="140000" bIns="110000" rtlCol="0" anchor="ctr"/>
          <a:lstStyle/>
          <a:p>
            <a:pPr algn="ctr"/>
            <a:r>
              <a:rPr sz="1350" b="1">
                <a:solidFill>
                  <a:srgbClr val="1E2A4A"/>
                </a:solidFill>
                <a:latin typeface="Arial"/>
              </a:rPr>
              <a:t>⭐ 제일 중요한 것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A6270"/>
                </a:solidFill>
                <a:latin typeface="Arial"/>
              </a:rPr>
              <a:t>팀이 일한 시간(①+②+③+⑤): 55초 → 10초, 5배 빨라짐! 그런데 버스 기다리기(④)가 51초 → 90초로 늘어서, 전체 합계는 106초 → 101초 — 겨우 5초 차이처럼 보여요. 합계만 보면 속아요! 그래서 표를 여섯 칸으로 쪼개 "어느 칸에서 빨라졌는지"를 봐요. 일찍 준비를 끝내는 건 헛일이 아니에요 — 여유 있게 제일 좋은 포대를 고를 수 있으니까요. 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9800000"/>
            <a:ext cx="16383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70"/>
                </a:solidFill>
                <a:latin typeface="Arial"/>
              </a:rPr>
              <a:t>숫자는 SC3 시나리오 실측(초 단위, 반올림). 옛날 팀 = As-Is 분절형 · 새 팀 = To-Be 통합형.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BE172B-17FC-3642-864E-FF2B5A90E23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52e3131-ef1c-4a9c-ae67-58e836f03e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6071</Words>
  <Application>Microsoft Macintosh PowerPoint</Application>
  <PresentationFormat>사용자 지정</PresentationFormat>
  <Paragraphs>560</Paragraphs>
  <Slides>20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오주연</cp:lastModifiedBy>
  <cp:revision>10</cp:revision>
  <dcterms:created xsi:type="dcterms:W3CDTF">2026-08-02T14:45:44Z</dcterms:created>
  <dcterms:modified xsi:type="dcterms:W3CDTF">2026-08-04T12:30:21Z</dcterms:modified>
</cp:coreProperties>
</file>