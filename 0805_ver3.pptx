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4" r:id="rId4"/>
    <p:sldId id="275" r:id="rId5"/>
    <p:sldId id="276" r:id="rId6"/>
    <p:sldId id="270" r:id="rId7"/>
    <p:sldId id="261" r:id="rId8"/>
    <p:sldId id="262" r:id="rId9"/>
    <p:sldId id="265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80"/>
    <p:restoredTop sz="88003"/>
  </p:normalViewPr>
  <p:slideViewPr>
    <p:cSldViewPr snapToGrid="0" snapToObjects="1">
      <p:cViewPr>
        <p:scale>
          <a:sx n="74" d="100"/>
          <a:sy n="74" d="100"/>
        </p:scale>
        <p:origin x="48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440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한국형 합동방공체계 C2 구조의 As-Is/To-Be를 이산사건 시뮬레이션으로 비교한 모델의 설계 브리핑. 결과가 아니라 모델 자체의 구조·교신·가정을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스크립트</a:t>
            </a:r>
            <a:r>
              <a:rPr dirty="0"/>
              <a:t> — </a:t>
            </a:r>
            <a:r>
              <a:rPr dirty="0" err="1"/>
              <a:t>쉽게</a:t>
            </a:r>
            <a:r>
              <a:rPr dirty="0"/>
              <a:t> </a:t>
            </a:r>
            <a:r>
              <a:rPr dirty="0" err="1"/>
              <a:t>설명하기</a:t>
            </a:r>
            <a:r>
              <a:rPr dirty="0"/>
              <a:t>]</a:t>
            </a:r>
          </a:p>
          <a:p>
            <a:endParaRPr dirty="0"/>
          </a:p>
          <a:p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장은</a:t>
            </a:r>
            <a:r>
              <a:rPr dirty="0"/>
              <a:t>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IADS와</a:t>
            </a:r>
            <a:r>
              <a:rPr dirty="0"/>
              <a:t> </a:t>
            </a:r>
            <a:r>
              <a:rPr dirty="0" err="1"/>
              <a:t>무엇이</a:t>
            </a:r>
            <a:r>
              <a:rPr dirty="0"/>
              <a:t> </a:t>
            </a:r>
            <a:r>
              <a:rPr dirty="0" err="1"/>
              <a:t>다른지</a:t>
            </a:r>
            <a:r>
              <a:rPr dirty="0"/>
              <a:t> </a:t>
            </a:r>
            <a:r>
              <a:rPr dirty="0" err="1"/>
              <a:t>정리한</a:t>
            </a:r>
            <a:r>
              <a:rPr dirty="0"/>
              <a:t> </a:t>
            </a:r>
            <a:r>
              <a:rPr dirty="0" err="1"/>
              <a:t>장입니다</a:t>
            </a:r>
            <a:r>
              <a:rPr dirty="0"/>
              <a:t>.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문장으로</a:t>
            </a:r>
            <a:r>
              <a:rPr dirty="0"/>
              <a:t> </a:t>
            </a:r>
            <a:r>
              <a:rPr dirty="0" err="1"/>
              <a:t>요약하면</a:t>
            </a:r>
            <a:r>
              <a:rPr dirty="0"/>
              <a:t> — "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무기·같은</a:t>
            </a:r>
            <a:r>
              <a:rPr dirty="0"/>
              <a:t> </a:t>
            </a:r>
            <a:r>
              <a:rPr dirty="0" err="1"/>
              <a:t>레이더</a:t>
            </a:r>
            <a:r>
              <a:rPr dirty="0"/>
              <a:t> </a:t>
            </a:r>
            <a:r>
              <a:rPr dirty="0" err="1"/>
              <a:t>숫자를</a:t>
            </a:r>
            <a:r>
              <a:rPr dirty="0"/>
              <a:t> </a:t>
            </a:r>
            <a:r>
              <a:rPr dirty="0" err="1"/>
              <a:t>쓰지만</a:t>
            </a:r>
            <a:r>
              <a:rPr dirty="0"/>
              <a:t>,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미사일이</a:t>
            </a:r>
            <a:r>
              <a:rPr dirty="0"/>
              <a:t> </a:t>
            </a:r>
            <a:r>
              <a:rPr dirty="0" err="1"/>
              <a:t>맞는</a:t>
            </a:r>
            <a:r>
              <a:rPr dirty="0"/>
              <a:t> </a:t>
            </a:r>
            <a:r>
              <a:rPr dirty="0" err="1"/>
              <a:t>순간을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그리고</a:t>
            </a:r>
            <a:r>
              <a:rPr dirty="0"/>
              <a:t>,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명령이</a:t>
            </a:r>
            <a:r>
              <a:rPr dirty="0"/>
              <a:t> </a:t>
            </a:r>
            <a:r>
              <a:rPr dirty="0" err="1"/>
              <a:t>도는</a:t>
            </a:r>
            <a:r>
              <a:rPr dirty="0"/>
              <a:t> </a:t>
            </a:r>
            <a:r>
              <a:rPr dirty="0" err="1"/>
              <a:t>과정을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그립니다</a:t>
            </a:r>
            <a:r>
              <a:rPr dirty="0"/>
              <a:t>."</a:t>
            </a:r>
          </a:p>
          <a:p>
            <a:endParaRPr dirty="0"/>
          </a:p>
          <a:p>
            <a:r>
              <a:rPr dirty="0" err="1"/>
              <a:t>표를</a:t>
            </a:r>
            <a:r>
              <a:rPr dirty="0"/>
              <a:t> </a:t>
            </a:r>
            <a:r>
              <a:rPr dirty="0" err="1"/>
              <a:t>위에서부터</a:t>
            </a:r>
            <a:r>
              <a:rPr dirty="0"/>
              <a:t> </a:t>
            </a:r>
            <a:r>
              <a:rPr dirty="0" err="1"/>
              <a:t>읽겠습니다</a:t>
            </a:r>
            <a:r>
              <a:rPr dirty="0"/>
              <a:t>.</a:t>
            </a:r>
          </a:p>
          <a:p>
            <a:r>
              <a:rPr dirty="0"/>
              <a:t>1)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초점</a:t>
            </a:r>
            <a:r>
              <a:rPr dirty="0"/>
              <a:t> —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모델의</a:t>
            </a:r>
            <a:r>
              <a:rPr dirty="0"/>
              <a:t> </a:t>
            </a:r>
            <a:r>
              <a:rPr dirty="0" err="1"/>
              <a:t>질문은</a:t>
            </a:r>
            <a:r>
              <a:rPr dirty="0"/>
              <a:t> "</a:t>
            </a:r>
            <a:r>
              <a:rPr dirty="0" err="1"/>
              <a:t>요격이</a:t>
            </a:r>
            <a:r>
              <a:rPr dirty="0"/>
              <a:t> </a:t>
            </a:r>
            <a:r>
              <a:rPr dirty="0" err="1"/>
              <a:t>성공하는가</a:t>
            </a:r>
            <a:r>
              <a:rPr dirty="0"/>
              <a:t>"(</a:t>
            </a:r>
            <a:r>
              <a:rPr dirty="0" err="1"/>
              <a:t>교전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)</a:t>
            </a:r>
            <a:r>
              <a:rPr dirty="0" err="1"/>
              <a:t>이고</a:t>
            </a:r>
            <a:r>
              <a:rPr dirty="0"/>
              <a:t>,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질문은</a:t>
            </a:r>
            <a:r>
              <a:rPr dirty="0"/>
              <a:t> "</a:t>
            </a:r>
            <a:r>
              <a:rPr dirty="0" err="1"/>
              <a:t>지휘조직을</a:t>
            </a:r>
            <a:r>
              <a:rPr dirty="0"/>
              <a:t> </a:t>
            </a:r>
            <a:r>
              <a:rPr dirty="0" err="1"/>
              <a:t>바꾸면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빨라지는가</a:t>
            </a:r>
            <a:r>
              <a:rPr dirty="0"/>
              <a:t>"(</a:t>
            </a:r>
            <a:r>
              <a:rPr dirty="0" err="1"/>
              <a:t>지휘통제</a:t>
            </a:r>
            <a:r>
              <a:rPr dirty="0"/>
              <a:t>)</a:t>
            </a:r>
            <a:r>
              <a:rPr dirty="0" err="1"/>
              <a:t>입니다</a:t>
            </a:r>
            <a:r>
              <a:rPr dirty="0"/>
              <a:t>. </a:t>
            </a:r>
            <a:r>
              <a:rPr dirty="0" err="1"/>
              <a:t>질문이</a:t>
            </a:r>
            <a:r>
              <a:rPr dirty="0"/>
              <a:t> </a:t>
            </a:r>
            <a:r>
              <a:rPr dirty="0" err="1"/>
              <a:t>다르니</a:t>
            </a:r>
            <a:r>
              <a:rPr dirty="0"/>
              <a:t> </a:t>
            </a:r>
            <a:r>
              <a:rPr dirty="0" err="1"/>
              <a:t>현미경을</a:t>
            </a:r>
            <a:r>
              <a:rPr dirty="0"/>
              <a:t> </a:t>
            </a:r>
            <a:r>
              <a:rPr dirty="0" err="1"/>
              <a:t>대는</a:t>
            </a:r>
            <a:r>
              <a:rPr dirty="0"/>
              <a:t> </a:t>
            </a:r>
            <a:r>
              <a:rPr dirty="0" err="1"/>
              <a:t>곳이</a:t>
            </a:r>
            <a:r>
              <a:rPr dirty="0"/>
              <a:t> </a:t>
            </a:r>
            <a:r>
              <a:rPr dirty="0" err="1"/>
              <a:t>다릅니다</a:t>
            </a:r>
            <a:r>
              <a:rPr dirty="0"/>
              <a:t>.</a:t>
            </a:r>
          </a:p>
          <a:p>
            <a:r>
              <a:rPr dirty="0"/>
              <a:t>2)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축</a:t>
            </a:r>
            <a:r>
              <a:rPr dirty="0"/>
              <a:t> —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미군식</a:t>
            </a:r>
            <a:r>
              <a:rPr dirty="0"/>
              <a:t> </a:t>
            </a:r>
            <a:r>
              <a:rPr dirty="0" err="1"/>
              <a:t>일반론</a:t>
            </a:r>
            <a:r>
              <a:rPr dirty="0"/>
              <a:t>(Linear vs Kill-web)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비교하고</a:t>
            </a:r>
            <a:r>
              <a:rPr dirty="0"/>
              <a:t>,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한국</a:t>
            </a:r>
            <a:r>
              <a:rPr dirty="0"/>
              <a:t> </a:t>
            </a:r>
            <a:r>
              <a:rPr dirty="0" err="1"/>
              <a:t>상황을</a:t>
            </a:r>
            <a:r>
              <a:rPr dirty="0"/>
              <a:t> </a:t>
            </a:r>
            <a:r>
              <a:rPr dirty="0" err="1"/>
              <a:t>비교합니다</a:t>
            </a:r>
            <a:r>
              <a:rPr dirty="0"/>
              <a:t> — </a:t>
            </a:r>
            <a:r>
              <a:rPr dirty="0" err="1"/>
              <a:t>육군과</a:t>
            </a:r>
            <a:r>
              <a:rPr dirty="0"/>
              <a:t> </a:t>
            </a:r>
            <a:r>
              <a:rPr dirty="0" err="1"/>
              <a:t>공군이</a:t>
            </a:r>
            <a:r>
              <a:rPr dirty="0"/>
              <a:t> </a:t>
            </a:r>
            <a:r>
              <a:rPr dirty="0" err="1"/>
              <a:t>갈라져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지금</a:t>
            </a:r>
            <a:r>
              <a:rPr dirty="0"/>
              <a:t>(As-Is)</a:t>
            </a:r>
            <a:r>
              <a:rPr dirty="0" err="1"/>
              <a:t>과</a:t>
            </a:r>
            <a:r>
              <a:rPr dirty="0"/>
              <a:t>, </a:t>
            </a:r>
            <a:r>
              <a:rPr dirty="0" err="1"/>
              <a:t>합동방공</a:t>
            </a:r>
            <a:r>
              <a:rPr dirty="0"/>
              <a:t> </a:t>
            </a:r>
            <a:r>
              <a:rPr dirty="0" err="1"/>
              <a:t>조율층</a:t>
            </a:r>
            <a:r>
              <a:rPr dirty="0"/>
              <a:t>(IAOC)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새로</a:t>
            </a:r>
            <a:r>
              <a:rPr dirty="0"/>
              <a:t> </a:t>
            </a:r>
            <a:r>
              <a:rPr dirty="0" err="1"/>
              <a:t>만든</a:t>
            </a:r>
            <a:r>
              <a:rPr dirty="0"/>
              <a:t> </a:t>
            </a:r>
            <a:r>
              <a:rPr dirty="0" err="1"/>
              <a:t>안</a:t>
            </a:r>
            <a:r>
              <a:rPr dirty="0"/>
              <a:t>(To-Be)</a:t>
            </a:r>
            <a:r>
              <a:rPr dirty="0" err="1"/>
              <a:t>입니다</a:t>
            </a:r>
            <a:r>
              <a:rPr dirty="0"/>
              <a:t>.</a:t>
            </a:r>
          </a:p>
          <a:p>
            <a:r>
              <a:rPr dirty="0"/>
              <a:t>3) </a:t>
            </a:r>
            <a:r>
              <a:rPr dirty="0" err="1"/>
              <a:t>해상도</a:t>
            </a:r>
            <a:r>
              <a:rPr dirty="0"/>
              <a:t> </a:t>
            </a:r>
            <a:r>
              <a:rPr dirty="0" err="1"/>
              <a:t>배분</a:t>
            </a:r>
            <a:r>
              <a:rPr dirty="0"/>
              <a:t> —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</a:t>
            </a:r>
            <a:r>
              <a:rPr dirty="0" err="1"/>
              <a:t>다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계산할</a:t>
            </a:r>
            <a:r>
              <a:rPr dirty="0"/>
              <a:t> </a:t>
            </a:r>
            <a:r>
              <a:rPr dirty="0" err="1"/>
              <a:t>수는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요격점·명중확률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물리를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,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지휘소의</a:t>
            </a:r>
            <a:r>
              <a:rPr dirty="0"/>
              <a:t> </a:t>
            </a:r>
            <a:r>
              <a:rPr dirty="0" err="1"/>
              <a:t>줄서기</a:t>
            </a:r>
            <a:r>
              <a:rPr dirty="0"/>
              <a:t>(</a:t>
            </a:r>
            <a:r>
              <a:rPr dirty="0" err="1"/>
              <a:t>대기행렬</a:t>
            </a:r>
            <a:r>
              <a:rPr dirty="0"/>
              <a:t>)·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절차·사람이</a:t>
            </a:r>
            <a:r>
              <a:rPr dirty="0"/>
              <a:t> </a:t>
            </a:r>
            <a:r>
              <a:rPr dirty="0" err="1"/>
              <a:t>전화하는</a:t>
            </a:r>
            <a:r>
              <a:rPr dirty="0"/>
              <a:t> </a:t>
            </a:r>
            <a:r>
              <a:rPr dirty="0" err="1"/>
              <a:t>채널을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계산합니다</a:t>
            </a:r>
            <a:r>
              <a:rPr dirty="0"/>
              <a:t>.</a:t>
            </a:r>
          </a:p>
          <a:p>
            <a:r>
              <a:rPr dirty="0"/>
              <a:t>4) </a:t>
            </a:r>
            <a:r>
              <a:rPr dirty="0" err="1"/>
              <a:t>위협</a:t>
            </a:r>
            <a:r>
              <a:rPr dirty="0"/>
              <a:t> </a:t>
            </a:r>
            <a:r>
              <a:rPr dirty="0" err="1"/>
              <a:t>운동학</a:t>
            </a:r>
            <a:r>
              <a:rPr dirty="0"/>
              <a:t> —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위협의</a:t>
            </a:r>
            <a:r>
              <a:rPr dirty="0"/>
              <a:t> </a:t>
            </a:r>
            <a:r>
              <a:rPr dirty="0" err="1"/>
              <a:t>비행경로를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경로로</a:t>
            </a:r>
            <a:r>
              <a:rPr dirty="0"/>
              <a:t> </a:t>
            </a:r>
            <a:r>
              <a:rPr dirty="0" err="1"/>
              <a:t>단순화했습니다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"</a:t>
            </a:r>
            <a:r>
              <a:rPr dirty="0" err="1"/>
              <a:t>요격점이</a:t>
            </a:r>
            <a:r>
              <a:rPr dirty="0"/>
              <a:t> </a:t>
            </a:r>
            <a:r>
              <a:rPr dirty="0" err="1"/>
              <a:t>성립하는가</a:t>
            </a:r>
            <a:r>
              <a:rPr dirty="0"/>
              <a:t>" </a:t>
            </a:r>
            <a:r>
              <a:rPr dirty="0" err="1"/>
              <a:t>계산만은</a:t>
            </a:r>
            <a:r>
              <a:rPr dirty="0"/>
              <a:t>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모델의</a:t>
            </a:r>
            <a:r>
              <a:rPr dirty="0"/>
              <a:t> </a:t>
            </a:r>
            <a:r>
              <a:rPr dirty="0" err="1"/>
              <a:t>계산기를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가져와</a:t>
            </a:r>
            <a:r>
              <a:rPr dirty="0"/>
              <a:t> </a:t>
            </a:r>
            <a:r>
              <a:rPr dirty="0" err="1"/>
              <a:t>썼기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(</a:t>
            </a:r>
            <a:r>
              <a:rPr dirty="0" err="1"/>
              <a:t>커널</a:t>
            </a:r>
            <a:r>
              <a:rPr dirty="0"/>
              <a:t> </a:t>
            </a:r>
            <a:r>
              <a:rPr dirty="0" err="1"/>
              <a:t>패리티</a:t>
            </a:r>
            <a:r>
              <a:rPr dirty="0"/>
              <a:t>) </a:t>
            </a:r>
            <a:r>
              <a:rPr dirty="0" err="1"/>
              <a:t>단순화가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왜곡하지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r>
              <a:rPr dirty="0"/>
              <a:t>5) </a:t>
            </a:r>
            <a:r>
              <a:rPr dirty="0" err="1"/>
              <a:t>검증</a:t>
            </a:r>
            <a:r>
              <a:rPr dirty="0"/>
              <a:t> —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새</a:t>
            </a:r>
            <a:r>
              <a:rPr dirty="0"/>
              <a:t> </a:t>
            </a:r>
            <a:r>
              <a:rPr dirty="0" err="1"/>
              <a:t>엔진과</a:t>
            </a:r>
            <a:r>
              <a:rPr dirty="0"/>
              <a:t> </a:t>
            </a:r>
            <a:r>
              <a:rPr dirty="0" err="1"/>
              <a:t>옛</a:t>
            </a:r>
            <a:r>
              <a:rPr dirty="0"/>
              <a:t> </a:t>
            </a:r>
            <a:r>
              <a:rPr dirty="0" err="1"/>
              <a:t>엔진을</a:t>
            </a:r>
            <a:r>
              <a:rPr dirty="0"/>
              <a:t> </a:t>
            </a:r>
            <a:r>
              <a:rPr dirty="0" err="1"/>
              <a:t>나란히</a:t>
            </a:r>
            <a:r>
              <a:rPr dirty="0"/>
              <a:t> </a:t>
            </a:r>
            <a:r>
              <a:rPr dirty="0" err="1"/>
              <a:t>돌려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방식이고</a:t>
            </a:r>
            <a:r>
              <a:rPr dirty="0"/>
              <a:t>,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결과의</a:t>
            </a:r>
            <a:r>
              <a:rPr dirty="0"/>
              <a:t> </a:t>
            </a:r>
            <a:r>
              <a:rPr dirty="0" err="1"/>
              <a:t>지문</a:t>
            </a:r>
            <a:r>
              <a:rPr dirty="0"/>
              <a:t>(SHA-256)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찍어</a:t>
            </a:r>
            <a:r>
              <a:rPr dirty="0"/>
              <a:t> </a:t>
            </a:r>
            <a:r>
              <a:rPr dirty="0" err="1"/>
              <a:t>두고</a:t>
            </a:r>
            <a:r>
              <a:rPr dirty="0"/>
              <a:t> </a:t>
            </a:r>
            <a:r>
              <a:rPr dirty="0" err="1"/>
              <a:t>코드를</a:t>
            </a:r>
            <a:r>
              <a:rPr dirty="0"/>
              <a:t> </a:t>
            </a:r>
            <a:r>
              <a:rPr dirty="0" err="1"/>
              <a:t>고칠</a:t>
            </a:r>
            <a:r>
              <a:rPr dirty="0"/>
              <a:t> </a:t>
            </a:r>
            <a:r>
              <a:rPr dirty="0" err="1"/>
              <a:t>때마다</a:t>
            </a:r>
            <a:r>
              <a:rPr dirty="0"/>
              <a:t> </a:t>
            </a:r>
            <a:r>
              <a:rPr dirty="0" err="1"/>
              <a:t>지문이</a:t>
            </a:r>
            <a:r>
              <a:rPr dirty="0"/>
              <a:t> </a:t>
            </a:r>
            <a:r>
              <a:rPr dirty="0" err="1"/>
              <a:t>그대로인지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방식입니다</a:t>
            </a:r>
            <a:r>
              <a:rPr dirty="0"/>
              <a:t>. </a:t>
            </a:r>
            <a:r>
              <a:rPr dirty="0" err="1"/>
              <a:t>지문이</a:t>
            </a:r>
            <a:r>
              <a:rPr dirty="0"/>
              <a:t> </a:t>
            </a:r>
            <a:r>
              <a:rPr dirty="0" err="1"/>
              <a:t>바뀌면</a:t>
            </a:r>
            <a:r>
              <a:rPr dirty="0"/>
              <a:t> </a:t>
            </a:r>
            <a:r>
              <a:rPr dirty="0" err="1"/>
              <a:t>회귀로</a:t>
            </a:r>
            <a:r>
              <a:rPr dirty="0"/>
              <a:t> </a:t>
            </a:r>
            <a:r>
              <a:rPr dirty="0" err="1"/>
              <a:t>간주하고</a:t>
            </a:r>
            <a:r>
              <a:rPr dirty="0"/>
              <a:t> </a:t>
            </a:r>
            <a:r>
              <a:rPr dirty="0" err="1"/>
              <a:t>커밋을</a:t>
            </a:r>
            <a:r>
              <a:rPr dirty="0"/>
              <a:t> </a:t>
            </a:r>
            <a:r>
              <a:rPr dirty="0" err="1"/>
              <a:t>막습니다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금색</a:t>
            </a:r>
            <a:r>
              <a:rPr dirty="0"/>
              <a:t> </a:t>
            </a:r>
            <a:r>
              <a:rPr dirty="0" err="1"/>
              <a:t>줄이</a:t>
            </a:r>
            <a:r>
              <a:rPr dirty="0"/>
              <a:t> </a:t>
            </a:r>
            <a:r>
              <a:rPr dirty="0" err="1"/>
              <a:t>제일</a:t>
            </a:r>
            <a:r>
              <a:rPr dirty="0"/>
              <a:t> </a:t>
            </a:r>
            <a:r>
              <a:rPr dirty="0" err="1"/>
              <a:t>중요합니다</a:t>
            </a:r>
            <a:r>
              <a:rPr dirty="0"/>
              <a:t> — </a:t>
            </a:r>
            <a:r>
              <a:rPr dirty="0" err="1"/>
              <a:t>무기·센서</a:t>
            </a:r>
            <a:r>
              <a:rPr dirty="0"/>
              <a:t> </a:t>
            </a:r>
            <a:r>
              <a:rPr dirty="0" err="1"/>
              <a:t>숫자의</a:t>
            </a:r>
            <a:r>
              <a:rPr dirty="0"/>
              <a:t> </a:t>
            </a:r>
            <a:r>
              <a:rPr dirty="0" err="1"/>
              <a:t>원장은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완전히</a:t>
            </a:r>
            <a:r>
              <a:rPr dirty="0"/>
              <a:t> </a:t>
            </a:r>
            <a:r>
              <a:rPr dirty="0" err="1"/>
              <a:t>같습니다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결과에서</a:t>
            </a:r>
            <a:r>
              <a:rPr dirty="0"/>
              <a:t> As-</a:t>
            </a:r>
            <a:r>
              <a:rPr dirty="0" err="1"/>
              <a:t>Is와</a:t>
            </a:r>
            <a:r>
              <a:rPr dirty="0"/>
              <a:t> To-</a:t>
            </a:r>
            <a:r>
              <a:rPr dirty="0" err="1"/>
              <a:t>Be의</a:t>
            </a:r>
            <a:r>
              <a:rPr dirty="0"/>
              <a:t> </a:t>
            </a:r>
            <a:r>
              <a:rPr dirty="0" err="1"/>
              <a:t>차이는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오로지</a:t>
            </a:r>
            <a:r>
              <a:rPr dirty="0"/>
              <a:t> </a:t>
            </a:r>
            <a:r>
              <a:rPr dirty="0" err="1"/>
              <a:t>지휘구조의</a:t>
            </a:r>
            <a:r>
              <a:rPr dirty="0"/>
              <a:t> </a:t>
            </a:r>
            <a:r>
              <a:rPr dirty="0" err="1"/>
              <a:t>차이에서만</a:t>
            </a:r>
            <a:r>
              <a:rPr dirty="0"/>
              <a:t> </a:t>
            </a:r>
            <a:r>
              <a:rPr dirty="0" err="1"/>
              <a:t>나옵니다</a:t>
            </a:r>
            <a:r>
              <a:rPr dirty="0"/>
              <a:t>. </a:t>
            </a:r>
            <a:r>
              <a:rPr dirty="0" err="1"/>
              <a:t>이것이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연구의</a:t>
            </a:r>
            <a:r>
              <a:rPr dirty="0"/>
              <a:t> </a:t>
            </a:r>
            <a:r>
              <a:rPr dirty="0" err="1"/>
              <a:t>비교가</a:t>
            </a:r>
            <a:r>
              <a:rPr dirty="0"/>
              <a:t> </a:t>
            </a:r>
            <a:r>
              <a:rPr dirty="0" err="1"/>
              <a:t>공정한</a:t>
            </a:r>
            <a:r>
              <a:rPr dirty="0"/>
              <a:t> </a:t>
            </a:r>
            <a:r>
              <a:rPr dirty="0" err="1"/>
              <a:t>이유입니다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(</a:t>
            </a:r>
            <a:r>
              <a:rPr dirty="0" err="1"/>
              <a:t>하단</a:t>
            </a:r>
            <a:r>
              <a:rPr dirty="0"/>
              <a:t> </a:t>
            </a:r>
            <a:r>
              <a:rPr dirty="0" err="1"/>
              <a:t>참고</a:t>
            </a:r>
            <a:r>
              <a:rPr dirty="0"/>
              <a:t>: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 3종 — </a:t>
            </a:r>
            <a:r>
              <a:rPr dirty="0" err="1"/>
              <a:t>주</a:t>
            </a:r>
            <a:r>
              <a:rPr dirty="0"/>
              <a:t> </a:t>
            </a:r>
            <a:r>
              <a:rPr dirty="0" err="1"/>
              <a:t>분석은</a:t>
            </a:r>
            <a:r>
              <a:rPr dirty="0"/>
              <a:t> SC3 </a:t>
            </a:r>
            <a:r>
              <a:rPr dirty="0" err="1"/>
              <a:t>복합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공격입니다</a:t>
            </a:r>
            <a:r>
              <a:rPr dirty="0"/>
              <a:t>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6C317-7050-E93A-E11A-2EAF1BD53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33D21-308B-B922-CAB8-01443795F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28AEE-A3EC-2001-D0B4-791CF3510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스크립트</a:t>
            </a:r>
            <a:r>
              <a:rPr dirty="0"/>
              <a:t> — </a:t>
            </a:r>
            <a:r>
              <a:rPr dirty="0" err="1"/>
              <a:t>쉽게</a:t>
            </a:r>
            <a:r>
              <a:rPr dirty="0"/>
              <a:t> </a:t>
            </a:r>
            <a:r>
              <a:rPr dirty="0" err="1"/>
              <a:t>설명하기</a:t>
            </a:r>
            <a:r>
              <a:rPr dirty="0"/>
              <a:t>]</a:t>
            </a:r>
          </a:p>
          <a:p>
            <a:endParaRPr dirty="0"/>
          </a:p>
          <a:p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장은</a:t>
            </a:r>
            <a:r>
              <a:rPr dirty="0"/>
              <a:t>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IADS와</a:t>
            </a:r>
            <a:r>
              <a:rPr dirty="0"/>
              <a:t> </a:t>
            </a:r>
            <a:r>
              <a:rPr dirty="0" err="1"/>
              <a:t>무엇이</a:t>
            </a:r>
            <a:r>
              <a:rPr dirty="0"/>
              <a:t> </a:t>
            </a:r>
            <a:r>
              <a:rPr dirty="0" err="1"/>
              <a:t>다른지</a:t>
            </a:r>
            <a:r>
              <a:rPr dirty="0"/>
              <a:t> </a:t>
            </a:r>
            <a:r>
              <a:rPr dirty="0" err="1"/>
              <a:t>정리한</a:t>
            </a:r>
            <a:r>
              <a:rPr dirty="0"/>
              <a:t> </a:t>
            </a:r>
            <a:r>
              <a:rPr dirty="0" err="1"/>
              <a:t>장입니다</a:t>
            </a:r>
            <a:r>
              <a:rPr dirty="0"/>
              <a:t>.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문장으로</a:t>
            </a:r>
            <a:r>
              <a:rPr dirty="0"/>
              <a:t> </a:t>
            </a:r>
            <a:r>
              <a:rPr dirty="0" err="1"/>
              <a:t>요약하면</a:t>
            </a:r>
            <a:r>
              <a:rPr dirty="0"/>
              <a:t> — "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무기·같은</a:t>
            </a:r>
            <a:r>
              <a:rPr dirty="0"/>
              <a:t> </a:t>
            </a:r>
            <a:r>
              <a:rPr dirty="0" err="1"/>
              <a:t>레이더</a:t>
            </a:r>
            <a:r>
              <a:rPr dirty="0"/>
              <a:t> </a:t>
            </a:r>
            <a:r>
              <a:rPr dirty="0" err="1"/>
              <a:t>숫자를</a:t>
            </a:r>
            <a:r>
              <a:rPr dirty="0"/>
              <a:t> </a:t>
            </a:r>
            <a:r>
              <a:rPr dirty="0" err="1"/>
              <a:t>쓰지만</a:t>
            </a:r>
            <a:r>
              <a:rPr dirty="0"/>
              <a:t>,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미사일이</a:t>
            </a:r>
            <a:r>
              <a:rPr dirty="0"/>
              <a:t> </a:t>
            </a:r>
            <a:r>
              <a:rPr dirty="0" err="1"/>
              <a:t>맞는</a:t>
            </a:r>
            <a:r>
              <a:rPr dirty="0"/>
              <a:t> </a:t>
            </a:r>
            <a:r>
              <a:rPr dirty="0" err="1"/>
              <a:t>순간을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그리고</a:t>
            </a:r>
            <a:r>
              <a:rPr dirty="0"/>
              <a:t>,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명령이</a:t>
            </a:r>
            <a:r>
              <a:rPr dirty="0"/>
              <a:t> </a:t>
            </a:r>
            <a:r>
              <a:rPr dirty="0" err="1"/>
              <a:t>도는</a:t>
            </a:r>
            <a:r>
              <a:rPr dirty="0"/>
              <a:t> </a:t>
            </a:r>
            <a:r>
              <a:rPr dirty="0" err="1"/>
              <a:t>과정을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그립니다</a:t>
            </a:r>
            <a:r>
              <a:rPr dirty="0"/>
              <a:t>."</a:t>
            </a:r>
          </a:p>
          <a:p>
            <a:endParaRPr dirty="0"/>
          </a:p>
          <a:p>
            <a:r>
              <a:rPr dirty="0" err="1"/>
              <a:t>표를</a:t>
            </a:r>
            <a:r>
              <a:rPr dirty="0"/>
              <a:t> </a:t>
            </a:r>
            <a:r>
              <a:rPr dirty="0" err="1"/>
              <a:t>위에서부터</a:t>
            </a:r>
            <a:r>
              <a:rPr dirty="0"/>
              <a:t> </a:t>
            </a:r>
            <a:r>
              <a:rPr dirty="0" err="1"/>
              <a:t>읽겠습니다</a:t>
            </a:r>
            <a:r>
              <a:rPr dirty="0"/>
              <a:t>.</a:t>
            </a:r>
          </a:p>
          <a:p>
            <a:r>
              <a:rPr dirty="0"/>
              <a:t>1)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초점</a:t>
            </a:r>
            <a:r>
              <a:rPr dirty="0"/>
              <a:t> —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모델의</a:t>
            </a:r>
            <a:r>
              <a:rPr dirty="0"/>
              <a:t> </a:t>
            </a:r>
            <a:r>
              <a:rPr dirty="0" err="1"/>
              <a:t>질문은</a:t>
            </a:r>
            <a:r>
              <a:rPr dirty="0"/>
              <a:t> "</a:t>
            </a:r>
            <a:r>
              <a:rPr dirty="0" err="1"/>
              <a:t>요격이</a:t>
            </a:r>
            <a:r>
              <a:rPr dirty="0"/>
              <a:t> </a:t>
            </a:r>
            <a:r>
              <a:rPr dirty="0" err="1"/>
              <a:t>성공하는가</a:t>
            </a:r>
            <a:r>
              <a:rPr dirty="0"/>
              <a:t>"(</a:t>
            </a:r>
            <a:r>
              <a:rPr dirty="0" err="1"/>
              <a:t>교전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)</a:t>
            </a:r>
            <a:r>
              <a:rPr dirty="0" err="1"/>
              <a:t>이고</a:t>
            </a:r>
            <a:r>
              <a:rPr dirty="0"/>
              <a:t>,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질문은</a:t>
            </a:r>
            <a:r>
              <a:rPr dirty="0"/>
              <a:t> "</a:t>
            </a:r>
            <a:r>
              <a:rPr dirty="0" err="1"/>
              <a:t>지휘조직을</a:t>
            </a:r>
            <a:r>
              <a:rPr dirty="0"/>
              <a:t> </a:t>
            </a:r>
            <a:r>
              <a:rPr dirty="0" err="1"/>
              <a:t>바꾸면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빨라지는가</a:t>
            </a:r>
            <a:r>
              <a:rPr dirty="0"/>
              <a:t>"(</a:t>
            </a:r>
            <a:r>
              <a:rPr dirty="0" err="1"/>
              <a:t>지휘통제</a:t>
            </a:r>
            <a:r>
              <a:rPr dirty="0"/>
              <a:t>)</a:t>
            </a:r>
            <a:r>
              <a:rPr dirty="0" err="1"/>
              <a:t>입니다</a:t>
            </a:r>
            <a:r>
              <a:rPr dirty="0"/>
              <a:t>. </a:t>
            </a:r>
            <a:r>
              <a:rPr dirty="0" err="1"/>
              <a:t>질문이</a:t>
            </a:r>
            <a:r>
              <a:rPr dirty="0"/>
              <a:t> </a:t>
            </a:r>
            <a:r>
              <a:rPr dirty="0" err="1"/>
              <a:t>다르니</a:t>
            </a:r>
            <a:r>
              <a:rPr dirty="0"/>
              <a:t> </a:t>
            </a:r>
            <a:r>
              <a:rPr dirty="0" err="1"/>
              <a:t>현미경을</a:t>
            </a:r>
            <a:r>
              <a:rPr dirty="0"/>
              <a:t> </a:t>
            </a:r>
            <a:r>
              <a:rPr dirty="0" err="1"/>
              <a:t>대는</a:t>
            </a:r>
            <a:r>
              <a:rPr dirty="0"/>
              <a:t> </a:t>
            </a:r>
            <a:r>
              <a:rPr dirty="0" err="1"/>
              <a:t>곳이</a:t>
            </a:r>
            <a:r>
              <a:rPr dirty="0"/>
              <a:t> </a:t>
            </a:r>
            <a:r>
              <a:rPr dirty="0" err="1"/>
              <a:t>다릅니다</a:t>
            </a:r>
            <a:r>
              <a:rPr dirty="0"/>
              <a:t>.</a:t>
            </a:r>
          </a:p>
          <a:p>
            <a:r>
              <a:rPr dirty="0"/>
              <a:t>2)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축</a:t>
            </a:r>
            <a:r>
              <a:rPr dirty="0"/>
              <a:t> —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미군식</a:t>
            </a:r>
            <a:r>
              <a:rPr dirty="0"/>
              <a:t> </a:t>
            </a:r>
            <a:r>
              <a:rPr dirty="0" err="1"/>
              <a:t>일반론</a:t>
            </a:r>
            <a:r>
              <a:rPr dirty="0"/>
              <a:t>(Linear vs Kill-web)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비교하고</a:t>
            </a:r>
            <a:r>
              <a:rPr dirty="0"/>
              <a:t>,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한국</a:t>
            </a:r>
            <a:r>
              <a:rPr dirty="0"/>
              <a:t> </a:t>
            </a:r>
            <a:r>
              <a:rPr dirty="0" err="1"/>
              <a:t>상황을</a:t>
            </a:r>
            <a:r>
              <a:rPr dirty="0"/>
              <a:t> </a:t>
            </a:r>
            <a:r>
              <a:rPr dirty="0" err="1"/>
              <a:t>비교합니다</a:t>
            </a:r>
            <a:r>
              <a:rPr dirty="0"/>
              <a:t> — </a:t>
            </a:r>
            <a:r>
              <a:rPr dirty="0" err="1"/>
              <a:t>육군과</a:t>
            </a:r>
            <a:r>
              <a:rPr dirty="0"/>
              <a:t> </a:t>
            </a:r>
            <a:r>
              <a:rPr dirty="0" err="1"/>
              <a:t>공군이</a:t>
            </a:r>
            <a:r>
              <a:rPr dirty="0"/>
              <a:t> </a:t>
            </a:r>
            <a:r>
              <a:rPr dirty="0" err="1"/>
              <a:t>갈라져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지금</a:t>
            </a:r>
            <a:r>
              <a:rPr dirty="0"/>
              <a:t>(As-Is)</a:t>
            </a:r>
            <a:r>
              <a:rPr dirty="0" err="1"/>
              <a:t>과</a:t>
            </a:r>
            <a:r>
              <a:rPr dirty="0"/>
              <a:t>, </a:t>
            </a:r>
            <a:r>
              <a:rPr dirty="0" err="1"/>
              <a:t>합동방공</a:t>
            </a:r>
            <a:r>
              <a:rPr dirty="0"/>
              <a:t> </a:t>
            </a:r>
            <a:r>
              <a:rPr dirty="0" err="1"/>
              <a:t>조율층</a:t>
            </a:r>
            <a:r>
              <a:rPr dirty="0"/>
              <a:t>(IAOC)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새로</a:t>
            </a:r>
            <a:r>
              <a:rPr dirty="0"/>
              <a:t> </a:t>
            </a:r>
            <a:r>
              <a:rPr dirty="0" err="1"/>
              <a:t>만든</a:t>
            </a:r>
            <a:r>
              <a:rPr dirty="0"/>
              <a:t> </a:t>
            </a:r>
            <a:r>
              <a:rPr dirty="0" err="1"/>
              <a:t>안</a:t>
            </a:r>
            <a:r>
              <a:rPr dirty="0"/>
              <a:t>(To-Be)</a:t>
            </a:r>
            <a:r>
              <a:rPr dirty="0" err="1"/>
              <a:t>입니다</a:t>
            </a:r>
            <a:r>
              <a:rPr dirty="0"/>
              <a:t>.</a:t>
            </a:r>
          </a:p>
          <a:p>
            <a:r>
              <a:rPr dirty="0"/>
              <a:t>3) </a:t>
            </a:r>
            <a:r>
              <a:rPr dirty="0" err="1"/>
              <a:t>해상도</a:t>
            </a:r>
            <a:r>
              <a:rPr dirty="0"/>
              <a:t> </a:t>
            </a:r>
            <a:r>
              <a:rPr dirty="0" err="1"/>
              <a:t>배분</a:t>
            </a:r>
            <a:r>
              <a:rPr dirty="0"/>
              <a:t> —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</a:t>
            </a:r>
            <a:r>
              <a:rPr dirty="0" err="1"/>
              <a:t>다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계산할</a:t>
            </a:r>
            <a:r>
              <a:rPr dirty="0"/>
              <a:t> </a:t>
            </a:r>
            <a:r>
              <a:rPr dirty="0" err="1"/>
              <a:t>수는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요격점·명중확률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물리를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,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지휘소의</a:t>
            </a:r>
            <a:r>
              <a:rPr dirty="0"/>
              <a:t> </a:t>
            </a:r>
            <a:r>
              <a:rPr dirty="0" err="1"/>
              <a:t>줄서기</a:t>
            </a:r>
            <a:r>
              <a:rPr dirty="0"/>
              <a:t>(</a:t>
            </a:r>
            <a:r>
              <a:rPr dirty="0" err="1"/>
              <a:t>대기행렬</a:t>
            </a:r>
            <a:r>
              <a:rPr dirty="0"/>
              <a:t>)·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절차·사람이</a:t>
            </a:r>
            <a:r>
              <a:rPr dirty="0"/>
              <a:t> </a:t>
            </a:r>
            <a:r>
              <a:rPr dirty="0" err="1"/>
              <a:t>전화하는</a:t>
            </a:r>
            <a:r>
              <a:rPr dirty="0"/>
              <a:t> </a:t>
            </a:r>
            <a:r>
              <a:rPr dirty="0" err="1"/>
              <a:t>채널을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계산합니다</a:t>
            </a:r>
            <a:r>
              <a:rPr dirty="0"/>
              <a:t>.</a:t>
            </a:r>
          </a:p>
          <a:p>
            <a:r>
              <a:rPr dirty="0"/>
              <a:t>4) </a:t>
            </a:r>
            <a:r>
              <a:rPr dirty="0" err="1"/>
              <a:t>위협</a:t>
            </a:r>
            <a:r>
              <a:rPr dirty="0"/>
              <a:t> </a:t>
            </a:r>
            <a:r>
              <a:rPr dirty="0" err="1"/>
              <a:t>운동학</a:t>
            </a:r>
            <a:r>
              <a:rPr dirty="0"/>
              <a:t> —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위협의</a:t>
            </a:r>
            <a:r>
              <a:rPr dirty="0"/>
              <a:t> </a:t>
            </a:r>
            <a:r>
              <a:rPr dirty="0" err="1"/>
              <a:t>비행경로를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경로로</a:t>
            </a:r>
            <a:r>
              <a:rPr dirty="0"/>
              <a:t> </a:t>
            </a:r>
            <a:r>
              <a:rPr dirty="0" err="1"/>
              <a:t>단순화했습니다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"</a:t>
            </a:r>
            <a:r>
              <a:rPr dirty="0" err="1"/>
              <a:t>요격점이</a:t>
            </a:r>
            <a:r>
              <a:rPr dirty="0"/>
              <a:t> </a:t>
            </a:r>
            <a:r>
              <a:rPr dirty="0" err="1"/>
              <a:t>성립하는가</a:t>
            </a:r>
            <a:r>
              <a:rPr dirty="0"/>
              <a:t>" </a:t>
            </a:r>
            <a:r>
              <a:rPr dirty="0" err="1"/>
              <a:t>계산만은</a:t>
            </a:r>
            <a:r>
              <a:rPr dirty="0"/>
              <a:t>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모델의</a:t>
            </a:r>
            <a:r>
              <a:rPr dirty="0"/>
              <a:t> </a:t>
            </a:r>
            <a:r>
              <a:rPr dirty="0" err="1"/>
              <a:t>계산기를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가져와</a:t>
            </a:r>
            <a:r>
              <a:rPr dirty="0"/>
              <a:t> </a:t>
            </a:r>
            <a:r>
              <a:rPr dirty="0" err="1"/>
              <a:t>썼기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(</a:t>
            </a:r>
            <a:r>
              <a:rPr dirty="0" err="1"/>
              <a:t>커널</a:t>
            </a:r>
            <a:r>
              <a:rPr dirty="0"/>
              <a:t> </a:t>
            </a:r>
            <a:r>
              <a:rPr dirty="0" err="1"/>
              <a:t>패리티</a:t>
            </a:r>
            <a:r>
              <a:rPr dirty="0"/>
              <a:t>) </a:t>
            </a:r>
            <a:r>
              <a:rPr dirty="0" err="1"/>
              <a:t>단순화가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왜곡하지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r>
              <a:rPr dirty="0"/>
              <a:t>5) </a:t>
            </a:r>
            <a:r>
              <a:rPr dirty="0" err="1"/>
              <a:t>검증</a:t>
            </a:r>
            <a:r>
              <a:rPr dirty="0"/>
              <a:t> —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새</a:t>
            </a:r>
            <a:r>
              <a:rPr dirty="0"/>
              <a:t> </a:t>
            </a:r>
            <a:r>
              <a:rPr dirty="0" err="1"/>
              <a:t>엔진과</a:t>
            </a:r>
            <a:r>
              <a:rPr dirty="0"/>
              <a:t> </a:t>
            </a:r>
            <a:r>
              <a:rPr dirty="0" err="1"/>
              <a:t>옛</a:t>
            </a:r>
            <a:r>
              <a:rPr dirty="0"/>
              <a:t> </a:t>
            </a:r>
            <a:r>
              <a:rPr dirty="0" err="1"/>
              <a:t>엔진을</a:t>
            </a:r>
            <a:r>
              <a:rPr dirty="0"/>
              <a:t> </a:t>
            </a:r>
            <a:r>
              <a:rPr dirty="0" err="1"/>
              <a:t>나란히</a:t>
            </a:r>
            <a:r>
              <a:rPr dirty="0"/>
              <a:t> </a:t>
            </a:r>
            <a:r>
              <a:rPr dirty="0" err="1"/>
              <a:t>돌려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방식이고</a:t>
            </a:r>
            <a:r>
              <a:rPr dirty="0"/>
              <a:t>,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결과의</a:t>
            </a:r>
            <a:r>
              <a:rPr dirty="0"/>
              <a:t> </a:t>
            </a:r>
            <a:r>
              <a:rPr dirty="0" err="1"/>
              <a:t>지문</a:t>
            </a:r>
            <a:r>
              <a:rPr dirty="0"/>
              <a:t>(SHA-256)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찍어</a:t>
            </a:r>
            <a:r>
              <a:rPr dirty="0"/>
              <a:t> </a:t>
            </a:r>
            <a:r>
              <a:rPr dirty="0" err="1"/>
              <a:t>두고</a:t>
            </a:r>
            <a:r>
              <a:rPr dirty="0"/>
              <a:t> </a:t>
            </a:r>
            <a:r>
              <a:rPr dirty="0" err="1"/>
              <a:t>코드를</a:t>
            </a:r>
            <a:r>
              <a:rPr dirty="0"/>
              <a:t> </a:t>
            </a:r>
            <a:r>
              <a:rPr dirty="0" err="1"/>
              <a:t>고칠</a:t>
            </a:r>
            <a:r>
              <a:rPr dirty="0"/>
              <a:t> </a:t>
            </a:r>
            <a:r>
              <a:rPr dirty="0" err="1"/>
              <a:t>때마다</a:t>
            </a:r>
            <a:r>
              <a:rPr dirty="0"/>
              <a:t> </a:t>
            </a:r>
            <a:r>
              <a:rPr dirty="0" err="1"/>
              <a:t>지문이</a:t>
            </a:r>
            <a:r>
              <a:rPr dirty="0"/>
              <a:t> </a:t>
            </a:r>
            <a:r>
              <a:rPr dirty="0" err="1"/>
              <a:t>그대로인지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방식입니다</a:t>
            </a:r>
            <a:r>
              <a:rPr dirty="0"/>
              <a:t>. </a:t>
            </a:r>
            <a:r>
              <a:rPr dirty="0" err="1"/>
              <a:t>지문이</a:t>
            </a:r>
            <a:r>
              <a:rPr dirty="0"/>
              <a:t> </a:t>
            </a:r>
            <a:r>
              <a:rPr dirty="0" err="1"/>
              <a:t>바뀌면</a:t>
            </a:r>
            <a:r>
              <a:rPr dirty="0"/>
              <a:t> </a:t>
            </a:r>
            <a:r>
              <a:rPr dirty="0" err="1"/>
              <a:t>회귀로</a:t>
            </a:r>
            <a:r>
              <a:rPr dirty="0"/>
              <a:t> </a:t>
            </a:r>
            <a:r>
              <a:rPr dirty="0" err="1"/>
              <a:t>간주하고</a:t>
            </a:r>
            <a:r>
              <a:rPr dirty="0"/>
              <a:t> </a:t>
            </a:r>
            <a:r>
              <a:rPr dirty="0" err="1"/>
              <a:t>커밋을</a:t>
            </a:r>
            <a:r>
              <a:rPr dirty="0"/>
              <a:t> </a:t>
            </a:r>
            <a:r>
              <a:rPr dirty="0" err="1"/>
              <a:t>막습니다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금색</a:t>
            </a:r>
            <a:r>
              <a:rPr dirty="0"/>
              <a:t> </a:t>
            </a:r>
            <a:r>
              <a:rPr dirty="0" err="1"/>
              <a:t>줄이</a:t>
            </a:r>
            <a:r>
              <a:rPr dirty="0"/>
              <a:t> </a:t>
            </a:r>
            <a:r>
              <a:rPr dirty="0" err="1"/>
              <a:t>제일</a:t>
            </a:r>
            <a:r>
              <a:rPr dirty="0"/>
              <a:t> </a:t>
            </a:r>
            <a:r>
              <a:rPr dirty="0" err="1"/>
              <a:t>중요합니다</a:t>
            </a:r>
            <a:r>
              <a:rPr dirty="0"/>
              <a:t> — </a:t>
            </a:r>
            <a:r>
              <a:rPr dirty="0" err="1"/>
              <a:t>무기·센서</a:t>
            </a:r>
            <a:r>
              <a:rPr dirty="0"/>
              <a:t> </a:t>
            </a:r>
            <a:r>
              <a:rPr dirty="0" err="1"/>
              <a:t>숫자의</a:t>
            </a:r>
            <a:r>
              <a:rPr dirty="0"/>
              <a:t> </a:t>
            </a:r>
            <a:r>
              <a:rPr dirty="0" err="1"/>
              <a:t>원장은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완전히</a:t>
            </a:r>
            <a:r>
              <a:rPr dirty="0"/>
              <a:t> </a:t>
            </a:r>
            <a:r>
              <a:rPr dirty="0" err="1"/>
              <a:t>같습니다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결과에서</a:t>
            </a:r>
            <a:r>
              <a:rPr dirty="0"/>
              <a:t> As-</a:t>
            </a:r>
            <a:r>
              <a:rPr dirty="0" err="1"/>
              <a:t>Is와</a:t>
            </a:r>
            <a:r>
              <a:rPr dirty="0"/>
              <a:t> To-</a:t>
            </a:r>
            <a:r>
              <a:rPr dirty="0" err="1"/>
              <a:t>Be의</a:t>
            </a:r>
            <a:r>
              <a:rPr dirty="0"/>
              <a:t> </a:t>
            </a:r>
            <a:r>
              <a:rPr dirty="0" err="1"/>
              <a:t>차이는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오로지</a:t>
            </a:r>
            <a:r>
              <a:rPr dirty="0"/>
              <a:t> </a:t>
            </a:r>
            <a:r>
              <a:rPr dirty="0" err="1"/>
              <a:t>지휘구조의</a:t>
            </a:r>
            <a:r>
              <a:rPr dirty="0"/>
              <a:t> </a:t>
            </a:r>
            <a:r>
              <a:rPr dirty="0" err="1"/>
              <a:t>차이에서만</a:t>
            </a:r>
            <a:r>
              <a:rPr dirty="0"/>
              <a:t> </a:t>
            </a:r>
            <a:r>
              <a:rPr dirty="0" err="1"/>
              <a:t>나옵니다</a:t>
            </a:r>
            <a:r>
              <a:rPr dirty="0"/>
              <a:t>. </a:t>
            </a:r>
            <a:r>
              <a:rPr dirty="0" err="1"/>
              <a:t>이것이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연구의</a:t>
            </a:r>
            <a:r>
              <a:rPr dirty="0"/>
              <a:t> </a:t>
            </a:r>
            <a:r>
              <a:rPr dirty="0" err="1"/>
              <a:t>비교가</a:t>
            </a:r>
            <a:r>
              <a:rPr dirty="0"/>
              <a:t> </a:t>
            </a:r>
            <a:r>
              <a:rPr dirty="0" err="1"/>
              <a:t>공정한</a:t>
            </a:r>
            <a:r>
              <a:rPr dirty="0"/>
              <a:t> </a:t>
            </a:r>
            <a:r>
              <a:rPr dirty="0" err="1"/>
              <a:t>이유입니다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(</a:t>
            </a:r>
            <a:r>
              <a:rPr dirty="0" err="1"/>
              <a:t>하단</a:t>
            </a:r>
            <a:r>
              <a:rPr dirty="0"/>
              <a:t> </a:t>
            </a:r>
            <a:r>
              <a:rPr dirty="0" err="1"/>
              <a:t>참고</a:t>
            </a:r>
            <a:r>
              <a:rPr dirty="0"/>
              <a:t>: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 3종 — </a:t>
            </a:r>
            <a:r>
              <a:rPr dirty="0" err="1"/>
              <a:t>주</a:t>
            </a:r>
            <a:r>
              <a:rPr dirty="0"/>
              <a:t> </a:t>
            </a:r>
            <a:r>
              <a:rPr dirty="0" err="1"/>
              <a:t>분석은</a:t>
            </a:r>
            <a:r>
              <a:rPr dirty="0"/>
              <a:t> SC3 </a:t>
            </a:r>
            <a:r>
              <a:rPr dirty="0" err="1"/>
              <a:t>복합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공격입니다</a:t>
            </a:r>
            <a:r>
              <a:rPr dirty="0"/>
              <a:t>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DFCB7-C1A1-C2BA-DF54-A62EAB1D0B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46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F590A-6166-B47A-49D9-22320CCF4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74B00-BE43-E5EF-BB56-28C19342B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C97B7-D621-637E-DEA5-697CF80FA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TPS-880K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074D8-52C5-63D4-DDDC-68420FD3C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81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05F99-B2D6-7248-DB59-20A459D8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9B8AE-1F87-461F-7C04-1ECCCBEAB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580F3-A080-B7E3-E9CA-81F88892C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TPS-880K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9270F-FBFD-30FF-8223-DC736C4579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89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7F422-E2DB-4CDF-C467-042CEBB7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3E865-F8CC-72B7-1471-22D8F37F0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D25CC-18C4-6CE1-4DDC-5A63F1152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 엔진이 실행하는 native IADS 파이프라인 6단계. 모든 신규 거동은 기능 플래그로 토글되어 감사 추적이 남고, ablation 실험의 기반이 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94A37-21BC-BA63-6854-35773F3C9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45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노드별 대기행렬 파라미터. 각 C2 노드는 서버 c개·유한 대기실 K의 대기행렬로 모델링되며 처리시간이 서비스 시간이다. As-Is 64노드, To-Be는 IAOC 1개가 추가된 65노드.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 19대 6종. 보고주기 차등(16/8/4/1초)이 링크 의미론의 핵심 — 센서→C2 report-cycle이 항적 갱신 주기를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모델의 가정과 한계를 명시하고 마무리. 신뢰도 등급 C 가정값(20·45·135초), 범위 제한 ADR, 미군 미배치 사유, ADR-081 kvmf 계선의 축약 가정과 ADR-082 정규분포 통일.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452813"/>
            <a:ext cx="1676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ko-KR" altLang="en-US" b="1" kern="0" spc="300" dirty="0" err="1">
                <a:solidFill>
                  <a:srgbClr val="7FA8C9"/>
                </a:solidFill>
                <a:latin typeface="Arial" pitchFamily="34" charset="0"/>
                <a:cs typeface="Arial" pitchFamily="34" charset="-120"/>
              </a:rPr>
              <a:t>통합방공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24000" y="4062412"/>
            <a:ext cx="16764000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571"/>
              </a:lnSpc>
              <a:buNone/>
            </a:pPr>
            <a:r>
              <a:rPr lang="en-US" sz="570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구조 </a:t>
            </a:r>
            <a:r>
              <a:rPr lang="en-US" sz="5700" b="1" kern="0" spc="-7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</a:t>
            </a:r>
            <a:r>
              <a:rPr lang="en-US" sz="570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700" b="1" kern="0" spc="-7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시뮬레이션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524000" y="5310188"/>
            <a:ext cx="16764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A9B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분절형 ↔ To-Be </a:t>
            </a:r>
            <a:r>
              <a:rPr lang="en-US" sz="2550" dirty="0" err="1">
                <a:solidFill>
                  <a:srgbClr val="A9B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통합형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IADS와의 차이점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669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무기</a:t>
            </a:r>
            <a:r>
              <a:rPr lang="en-US" altLang="ko-KR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ko-KR" alt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자산 파라미터는 고정하고</a:t>
            </a:r>
            <a:r>
              <a:rPr lang="en-US" altLang="ko-KR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C2 구조(분절 ↔ 통합)의 효과만 잰다</a:t>
            </a:r>
            <a:endParaRPr lang="en-US" sz="21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211239"/>
              </p:ext>
            </p:extLst>
          </p:nvPr>
        </p:nvGraphicFramePr>
        <p:xfrm>
          <a:off x="1143000" y="2500000"/>
          <a:ext cx="16383000" cy="4501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관점</a:t>
                      </a:r>
                    </a:p>
                  </a:txBody>
                  <a:tcPr marL="120000" marR="120000" marT="60000" marB="60000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rial"/>
                        </a:rPr>
                        <a:t>IADS </a:t>
                      </a:r>
                    </a:p>
                  </a:txBody>
                  <a:tcPr marL="120000" marR="120000" marT="60000" marB="60000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본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모델</a:t>
                      </a:r>
                      <a:endParaRPr sz="13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285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E2A4A"/>
                          </a:solidFill>
                          <a:latin typeface="Arial"/>
                        </a:rPr>
                        <a:t>모델</a:t>
                      </a:r>
                      <a:r>
                        <a:rPr sz="1400" b="1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E2A4A"/>
                          </a:solidFill>
                          <a:latin typeface="Arial"/>
                        </a:rPr>
                        <a:t>초점</a:t>
                      </a:r>
                      <a:endParaRPr sz="1400" b="1" dirty="0">
                        <a:solidFill>
                          <a:srgbClr val="1E2A4A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교전·물리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중심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— "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요격이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성공하는가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"</a:t>
                      </a: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270"/>
                          </a:solidFill>
                          <a:latin typeface="Arial"/>
                        </a:rPr>
                        <a:t>C2 큐잉 중심 — "지휘구조를 바꾸면 얼마나 빨라지는가"</a:t>
                      </a: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2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4A"/>
                          </a:solidFill>
                          <a:latin typeface="Arial"/>
                        </a:rPr>
                        <a:t>비교 축</a:t>
                      </a:r>
                    </a:p>
                  </a:txBody>
                  <a:tcPr marL="120000" marR="120000" marT="60000" marB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Linear 3축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지휘구조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 vs  Kill-web(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IBCS류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20000" marR="120000" marT="60000" marB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270"/>
                          </a:solidFill>
                          <a:latin typeface="Arial"/>
                        </a:rPr>
                        <a:t>As-Is 분절형  vs  To-Be 통합형 (합동방공 조율층 IAOC 신설)</a:t>
                      </a:r>
                    </a:p>
                  </a:txBody>
                  <a:tcPr marL="120000" marR="120000" marT="60000" marB="6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2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4A"/>
                          </a:solidFill>
                          <a:latin typeface="Arial"/>
                        </a:rPr>
                        <a:t>해상도 배분</a:t>
                      </a: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교전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물리·확률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정밀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— PIP·PSSEK·포락선·3D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비행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프로파일</a:t>
                      </a:r>
                      <a:endParaRPr sz="1400" b="0" dirty="0">
                        <a:solidFill>
                          <a:srgbClr val="5A6270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270"/>
                          </a:solidFill>
                          <a:latin typeface="Arial"/>
                        </a:rPr>
                        <a:t>C2 큐잉 정밀 — M/M/c/K 대기행렬·승인계선·사람 매개 채널·병목 도출</a:t>
                      </a: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285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E2A4A"/>
                          </a:solidFill>
                          <a:latin typeface="Arial"/>
                        </a:rPr>
                        <a:t>엔진·회귀</a:t>
                      </a:r>
                      <a:r>
                        <a:rPr sz="1400" b="1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E2A4A"/>
                          </a:solidFill>
                          <a:latin typeface="Arial"/>
                        </a:rPr>
                        <a:t>방어</a:t>
                      </a:r>
                      <a:endParaRPr sz="1400" b="1" dirty="0">
                        <a:solidFill>
                          <a:srgbClr val="1E2A4A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DES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정본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+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레거시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오라클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이중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실행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통계적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등가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게이트</a:t>
                      </a:r>
                      <a:endParaRPr sz="1400" b="0" dirty="0">
                        <a:solidFill>
                          <a:srgbClr val="5A6270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단일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DES(native) · SHA-256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비트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기준선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+ 38종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회귀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스위트</a:t>
                      </a:r>
                      <a:endParaRPr sz="1400" b="0" dirty="0">
                        <a:solidFill>
                          <a:srgbClr val="5A6270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2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4A"/>
                          </a:solidFill>
                          <a:latin typeface="Arial"/>
                        </a:rPr>
                        <a:t>공통점</a:t>
                      </a:r>
                    </a:p>
                  </a:txBody>
                  <a:tcPr marL="120000" marR="120000" marT="60000" marB="60000" anchor="ctr">
                    <a:solidFill>
                      <a:srgbClr val="FFF3D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무기·센서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파라미터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동일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물리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커널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이식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이산사건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(DES)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기반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공통난수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+ Monte Carlo · USFK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독립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축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—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결과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차이는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데이터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차이가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아니라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구조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차이</a:t>
                      </a:r>
                      <a:endParaRPr sz="1200" b="0" dirty="0">
                        <a:solidFill>
                          <a:srgbClr val="1E2A4A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FFF3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DF36-5A46-4061-EFCA-ADB2B4B5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4B968F-5DC8-C9A1-E029-451CCBCBBBAD}"/>
              </a:ext>
            </a:extLst>
          </p:cNvPr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IADS와의 차이점</a:t>
            </a:r>
            <a:endParaRPr lang="en-US" sz="4200" dirty="0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A0DCB34-79D9-3872-A0E1-FD807F71D7C5}"/>
              </a:ext>
            </a:extLst>
          </p:cNvPr>
          <p:cNvSpPr/>
          <p:nvPr/>
        </p:nvSpPr>
        <p:spPr>
          <a:xfrm>
            <a:off x="966159" y="2863970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 dirty="0">
                <a:solidFill>
                  <a:schemeClr val="tx1"/>
                </a:solidFill>
              </a:rPr>
              <a:t>공중 방어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F4572AC-8236-DF64-2E01-250ADD99479F}"/>
              </a:ext>
            </a:extLst>
          </p:cNvPr>
          <p:cNvSpPr/>
          <p:nvPr/>
        </p:nvSpPr>
        <p:spPr>
          <a:xfrm>
            <a:off x="5121216" y="2863969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 dirty="0">
                <a:solidFill>
                  <a:schemeClr val="tx1"/>
                </a:solidFill>
              </a:rPr>
              <a:t>탄도탄 방어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5B36FFC-5184-222A-E3B1-9328E7D39067}"/>
              </a:ext>
            </a:extLst>
          </p:cNvPr>
          <p:cNvSpPr/>
          <p:nvPr/>
        </p:nvSpPr>
        <p:spPr>
          <a:xfrm>
            <a:off x="966159" y="4845170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tx1"/>
                </a:solidFill>
              </a:rPr>
              <a:t>MCRC</a:t>
            </a:r>
            <a:endParaRPr kumimoji="1"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EE2CEF9D-783B-4060-87CD-4B8A1CF9C322}"/>
              </a:ext>
            </a:extLst>
          </p:cNvPr>
          <p:cNvSpPr/>
          <p:nvPr/>
        </p:nvSpPr>
        <p:spPr>
          <a:xfrm>
            <a:off x="966159" y="7136921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400" b="1" dirty="0">
                <a:solidFill>
                  <a:schemeClr val="tx1"/>
                </a:solidFill>
              </a:rPr>
              <a:t>감시레이더</a:t>
            </a:r>
            <a:endParaRPr kumimoji="1"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(FPS-117)</a:t>
            </a:r>
            <a:endParaRPr kumimoji="1"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93B0F0F-945A-7DEC-5CAB-82ED8E0957A4}"/>
              </a:ext>
            </a:extLst>
          </p:cNvPr>
          <p:cNvSpPr/>
          <p:nvPr/>
        </p:nvSpPr>
        <p:spPr>
          <a:xfrm>
            <a:off x="5121216" y="4845170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tx1"/>
                </a:solidFill>
              </a:rPr>
              <a:t>KAMDOC</a:t>
            </a:r>
            <a:endParaRPr kumimoji="1"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D651110C-61C1-4C9D-5878-6CDB8AA93D58}"/>
              </a:ext>
            </a:extLst>
          </p:cNvPr>
          <p:cNvSpPr/>
          <p:nvPr/>
        </p:nvSpPr>
        <p:spPr>
          <a:xfrm>
            <a:off x="5121216" y="7136921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400" b="1" dirty="0" err="1">
                <a:solidFill>
                  <a:schemeClr val="tx1"/>
                </a:solidFill>
              </a:rPr>
              <a:t>그린파인레이더</a:t>
            </a:r>
            <a:endParaRPr kumimoji="1"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2400" b="1" dirty="0">
                <a:solidFill>
                  <a:schemeClr val="tx1"/>
                </a:solidFill>
              </a:rPr>
              <a:t>천궁</a:t>
            </a:r>
            <a:r>
              <a:rPr kumimoji="1" lang="en-US" altLang="ko-KR" sz="2400" b="1" dirty="0">
                <a:solidFill>
                  <a:schemeClr val="tx1"/>
                </a:solidFill>
              </a:rPr>
              <a:t>,</a:t>
            </a:r>
            <a:r>
              <a:rPr kumimoji="1" lang="ko-KR" altLang="en-US" sz="2400" b="1" dirty="0">
                <a:solidFill>
                  <a:schemeClr val="tx1"/>
                </a:solidFill>
              </a:rPr>
              <a:t> </a:t>
            </a:r>
            <a:r>
              <a:rPr kumimoji="1" lang="en-US" altLang="ko-KR" sz="2400" b="1" dirty="0">
                <a:solidFill>
                  <a:schemeClr val="tx1"/>
                </a:solidFill>
              </a:rPr>
              <a:t>L-SAM MFR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4D53708-A975-B120-5AF5-85320C008542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V="1">
            <a:off x="2337759" y="5897593"/>
            <a:ext cx="0" cy="12393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42D17E7-4A38-83BF-3DC3-9D99608CA406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2337759" y="3916393"/>
            <a:ext cx="0" cy="914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656BD15-B5FB-3DE5-4321-526B29318484}"/>
              </a:ext>
            </a:extLst>
          </p:cNvPr>
          <p:cNvCxnSpPr>
            <a:cxnSpLocks/>
            <a:stCxn id="11" idx="0"/>
            <a:endCxn id="7" idx="2"/>
          </p:cNvCxnSpPr>
          <p:nvPr/>
        </p:nvCxnSpPr>
        <p:spPr>
          <a:xfrm flipV="1">
            <a:off x="6492816" y="3916392"/>
            <a:ext cx="0" cy="92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5F6069F-53CF-D19D-8BAF-91EFF9B2D1E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6492816" y="5897593"/>
            <a:ext cx="0" cy="12393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4637FDF4-6B52-B4E9-6DE1-330B85310C3C}"/>
              </a:ext>
            </a:extLst>
          </p:cNvPr>
          <p:cNvCxnSpPr>
            <a:cxnSpLocks/>
          </p:cNvCxnSpPr>
          <p:nvPr/>
        </p:nvCxnSpPr>
        <p:spPr>
          <a:xfrm>
            <a:off x="4520242" y="2863969"/>
            <a:ext cx="0" cy="5556131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 1">
            <a:extLst>
              <a:ext uri="{FF2B5EF4-FFF2-40B4-BE49-F238E27FC236}">
                <a16:creationId xmlns:a16="http://schemas.microsoft.com/office/drawing/2014/main" id="{8F0C28DC-B297-0E5D-5259-97E3751E97EA}"/>
              </a:ext>
            </a:extLst>
          </p:cNvPr>
          <p:cNvSpPr/>
          <p:nvPr/>
        </p:nvSpPr>
        <p:spPr>
          <a:xfrm>
            <a:off x="3489384" y="8996452"/>
            <a:ext cx="53498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altLang="ko-KR" sz="210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IADS(Linear)</a:t>
            </a:r>
            <a:endParaRPr lang="en-US" sz="2100" b="1" dirty="0"/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E53E732-E455-3DBF-FB98-6C78CF208F2A}"/>
              </a:ext>
            </a:extLst>
          </p:cNvPr>
          <p:cNvSpPr/>
          <p:nvPr/>
        </p:nvSpPr>
        <p:spPr>
          <a:xfrm>
            <a:off x="10210801" y="2404163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tx1"/>
                </a:solidFill>
              </a:rPr>
              <a:t>MCRC</a:t>
            </a:r>
            <a:endParaRPr kumimoji="1"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3FEFE544-CD54-E8F2-C6A7-DCBE8D43B724}"/>
              </a:ext>
            </a:extLst>
          </p:cNvPr>
          <p:cNvSpPr/>
          <p:nvPr/>
        </p:nvSpPr>
        <p:spPr>
          <a:xfrm>
            <a:off x="14365858" y="2404163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tx1"/>
                </a:solidFill>
              </a:rPr>
              <a:t>KAMDOC</a:t>
            </a:r>
            <a:endParaRPr kumimoji="1"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8EB424EB-7F71-51A2-49C4-6F708BB95286}"/>
              </a:ext>
            </a:extLst>
          </p:cNvPr>
          <p:cNvSpPr/>
          <p:nvPr/>
        </p:nvSpPr>
        <p:spPr>
          <a:xfrm>
            <a:off x="9586823" y="4373593"/>
            <a:ext cx="8338867" cy="1052423"/>
          </a:xfrm>
          <a:prstGeom prst="roundRect">
            <a:avLst/>
          </a:prstGeom>
          <a:solidFill>
            <a:schemeClr val="accent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 dirty="0" err="1">
                <a:solidFill>
                  <a:schemeClr val="tx1"/>
                </a:solidFill>
              </a:rPr>
              <a:t>킬웹</a:t>
            </a:r>
            <a:r>
              <a:rPr kumimoji="1" lang="ko-KR" altLang="en-US" sz="2800" b="1" dirty="0">
                <a:solidFill>
                  <a:schemeClr val="tx1"/>
                </a:solidFill>
              </a:rPr>
              <a:t> 통합 데이터 층</a:t>
            </a:r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CD78CAAE-55ED-AFF2-546E-9B4BFE2AD1E9}"/>
              </a:ext>
            </a:extLst>
          </p:cNvPr>
          <p:cNvSpPr/>
          <p:nvPr/>
        </p:nvSpPr>
        <p:spPr>
          <a:xfrm>
            <a:off x="9483305" y="7054072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400" b="1" dirty="0">
                <a:solidFill>
                  <a:schemeClr val="tx1"/>
                </a:solidFill>
              </a:rPr>
              <a:t>센서 전체</a:t>
            </a:r>
            <a:endParaRPr kumimoji="1"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ko-KR" b="1" dirty="0">
                <a:solidFill>
                  <a:schemeClr val="tx1"/>
                </a:solidFill>
              </a:rPr>
              <a:t>(</a:t>
            </a:r>
            <a:r>
              <a:rPr kumimoji="1" lang="ko-KR" altLang="en-US" b="1" dirty="0">
                <a:solidFill>
                  <a:schemeClr val="tx1"/>
                </a:solidFill>
              </a:rPr>
              <a:t>그린파인</a:t>
            </a:r>
            <a:r>
              <a:rPr kumimoji="1" lang="en-US" altLang="ko-KR" b="1" dirty="0">
                <a:solidFill>
                  <a:schemeClr val="tx1"/>
                </a:solidFill>
              </a:rPr>
              <a:t>,</a:t>
            </a:r>
            <a:r>
              <a:rPr kumimoji="1" lang="ko-KR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ko-KR" b="1" dirty="0">
                <a:solidFill>
                  <a:schemeClr val="tx1"/>
                </a:solidFill>
              </a:rPr>
              <a:t>FPS-117, MFR)</a:t>
            </a:r>
            <a:endParaRPr kumimoji="1"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22795252-8779-E11C-A10E-5124D34F754F}"/>
              </a:ext>
            </a:extLst>
          </p:cNvPr>
          <p:cNvSpPr/>
          <p:nvPr/>
        </p:nvSpPr>
        <p:spPr>
          <a:xfrm>
            <a:off x="12473793" y="7054071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C2</a:t>
            </a:r>
            <a:r>
              <a:rPr kumimoji="1" lang="ko-KR" altLang="en-US" sz="2400" b="1" dirty="0">
                <a:solidFill>
                  <a:schemeClr val="tx1"/>
                </a:solidFill>
              </a:rPr>
              <a:t> 전체</a:t>
            </a:r>
            <a:endParaRPr kumimoji="1"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ko-KR" b="1" dirty="0">
                <a:solidFill>
                  <a:schemeClr val="tx1"/>
                </a:solidFill>
              </a:rPr>
              <a:t>(ICC,</a:t>
            </a:r>
            <a:r>
              <a:rPr kumimoji="1" lang="ko-KR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ko-KR" b="1" dirty="0">
                <a:solidFill>
                  <a:schemeClr val="tx1"/>
                </a:solidFill>
              </a:rPr>
              <a:t>ECS)</a:t>
            </a:r>
            <a:endParaRPr kumimoji="1"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764C73DF-AAF5-2AAF-FDA0-A65F2327A874}"/>
              </a:ext>
            </a:extLst>
          </p:cNvPr>
          <p:cNvSpPr/>
          <p:nvPr/>
        </p:nvSpPr>
        <p:spPr>
          <a:xfrm>
            <a:off x="15441282" y="7054070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400" b="1" dirty="0" err="1">
                <a:solidFill>
                  <a:schemeClr val="tx1"/>
                </a:solidFill>
              </a:rPr>
              <a:t>슈터</a:t>
            </a:r>
            <a:r>
              <a:rPr kumimoji="1" lang="ko-KR" altLang="en-US" sz="2400" b="1" dirty="0">
                <a:solidFill>
                  <a:schemeClr val="tx1"/>
                </a:solidFill>
              </a:rPr>
              <a:t> 전체</a:t>
            </a:r>
            <a:endParaRPr kumimoji="1"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ko-KR" b="1" dirty="0">
                <a:solidFill>
                  <a:schemeClr val="tx1"/>
                </a:solidFill>
              </a:rPr>
              <a:t>(</a:t>
            </a:r>
            <a:r>
              <a:rPr kumimoji="1" lang="ko-KR" altLang="en-US" b="1" dirty="0">
                <a:solidFill>
                  <a:schemeClr val="tx1"/>
                </a:solidFill>
              </a:rPr>
              <a:t>천궁</a:t>
            </a:r>
            <a:r>
              <a:rPr kumimoji="1" lang="en-US" altLang="ko-KR" b="1" dirty="0">
                <a:solidFill>
                  <a:schemeClr val="tx1"/>
                </a:solidFill>
              </a:rPr>
              <a:t>,</a:t>
            </a:r>
            <a:r>
              <a:rPr kumimoji="1" lang="ko-KR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ko-KR" b="1" dirty="0">
                <a:solidFill>
                  <a:schemeClr val="tx1"/>
                </a:solidFill>
              </a:rPr>
              <a:t>L-SAM)</a:t>
            </a:r>
            <a:endParaRPr kumimoji="1"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CD5CCD8-20B8-E13E-24EE-0EFEEAB9C335}"/>
              </a:ext>
            </a:extLst>
          </p:cNvPr>
          <p:cNvCxnSpPr>
            <a:cxnSpLocks/>
            <a:stCxn id="57" idx="0"/>
          </p:cNvCxnSpPr>
          <p:nvPr/>
        </p:nvCxnSpPr>
        <p:spPr>
          <a:xfrm flipV="1">
            <a:off x="10854905" y="5426016"/>
            <a:ext cx="0" cy="1628056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A89FEFF7-693C-BA2A-35FC-145B06B33F4D}"/>
              </a:ext>
            </a:extLst>
          </p:cNvPr>
          <p:cNvCxnSpPr>
            <a:cxnSpLocks/>
            <a:stCxn id="58" idx="0"/>
            <a:endCxn id="56" idx="2"/>
          </p:cNvCxnSpPr>
          <p:nvPr/>
        </p:nvCxnSpPr>
        <p:spPr>
          <a:xfrm flipH="1" flipV="1">
            <a:off x="13756257" y="5426016"/>
            <a:ext cx="89136" cy="162805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ACB5789A-94E1-FDAB-1846-1DD7DA18C67C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16746744" y="5371381"/>
            <a:ext cx="66138" cy="1682689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2E7E98BA-BB14-CA7B-63F4-CDAE8ED55665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15737458" y="3456586"/>
            <a:ext cx="0" cy="90851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66AC0AEA-046E-99D7-F471-6EC892C078F8}"/>
              </a:ext>
            </a:extLst>
          </p:cNvPr>
          <p:cNvCxnSpPr>
            <a:cxnSpLocks/>
            <a:endCxn id="54" idx="2"/>
          </p:cNvCxnSpPr>
          <p:nvPr/>
        </p:nvCxnSpPr>
        <p:spPr>
          <a:xfrm flipV="1">
            <a:off x="11582401" y="3456586"/>
            <a:ext cx="0" cy="92419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 1">
            <a:extLst>
              <a:ext uri="{FF2B5EF4-FFF2-40B4-BE49-F238E27FC236}">
                <a16:creationId xmlns:a16="http://schemas.microsoft.com/office/drawing/2014/main" id="{BFA18156-8CC4-CD2F-31AC-EBE106BF6375}"/>
              </a:ext>
            </a:extLst>
          </p:cNvPr>
          <p:cNvSpPr/>
          <p:nvPr/>
        </p:nvSpPr>
        <p:spPr>
          <a:xfrm>
            <a:off x="12766381" y="8820239"/>
            <a:ext cx="22435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altLang="ko-KR" sz="210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IADS(Kill-Web)</a:t>
            </a:r>
            <a:endParaRPr lang="en-US" sz="2100" b="1" dirty="0"/>
          </a:p>
        </p:txBody>
      </p:sp>
      <p:sp>
        <p:nvSpPr>
          <p:cNvPr id="76" name="Text 1">
            <a:extLst>
              <a:ext uri="{FF2B5EF4-FFF2-40B4-BE49-F238E27FC236}">
                <a16:creationId xmlns:a16="http://schemas.microsoft.com/office/drawing/2014/main" id="{DAADABBE-FA7E-E0D7-52FE-D9B17844FF96}"/>
              </a:ext>
            </a:extLst>
          </p:cNvPr>
          <p:cNvSpPr/>
          <p:nvPr/>
        </p:nvSpPr>
        <p:spPr>
          <a:xfrm>
            <a:off x="1143000" y="18669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IADS</a:t>
            </a:r>
            <a:r>
              <a:rPr lang="ko-KR" alt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구조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846106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7B5DD-0CFF-CFB2-52FC-A0B0967B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747D9C-36F9-24CA-334F-D98E958599DB}"/>
              </a:ext>
            </a:extLst>
          </p:cNvPr>
          <p:cNvSpPr/>
          <p:nvPr/>
        </p:nvSpPr>
        <p:spPr>
          <a:xfrm>
            <a:off x="952500" y="666750"/>
            <a:ext cx="460289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C2 연결 구조</a:t>
            </a:r>
            <a:endParaRPr lang="en-US" sz="4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B1018A-D96D-355C-53F7-D7148893F1DE}"/>
              </a:ext>
            </a:extLst>
          </p:cNvPr>
          <p:cNvSpPr/>
          <p:nvPr/>
        </p:nvSpPr>
        <p:spPr>
          <a:xfrm>
            <a:off x="9144000" y="1019175"/>
            <a:ext cx="8858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분절형 — 군종별 수직 계선, 육·공 간 사람 매개 협조 · 노드 64 · 링크 118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F3CDBA-63B6-5655-B737-464039374D72}"/>
              </a:ext>
            </a:extLst>
          </p:cNvPr>
          <p:cNvSpPr txBox="1"/>
          <p:nvPr/>
        </p:nvSpPr>
        <p:spPr>
          <a:xfrm>
            <a:off x="340000" y="393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C2 체계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6AB22-95BC-4A01-1B08-D6A6577DAC48}"/>
              </a:ext>
            </a:extLst>
          </p:cNvPr>
          <p:cNvSpPr txBox="1"/>
          <p:nvPr/>
        </p:nvSpPr>
        <p:spPr>
          <a:xfrm>
            <a:off x="340000" y="5245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교전통제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3A01D-8702-30A6-E70D-7FE76F44B246}"/>
              </a:ext>
            </a:extLst>
          </p:cNvPr>
          <p:cNvSpPr txBox="1"/>
          <p:nvPr/>
        </p:nvSpPr>
        <p:spPr>
          <a:xfrm>
            <a:off x="340000" y="22385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레이더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AA32B5-CD96-4AEF-2334-F7D26E04CFCF}"/>
              </a:ext>
            </a:extLst>
          </p:cNvPr>
          <p:cNvSpPr txBox="1"/>
          <p:nvPr/>
        </p:nvSpPr>
        <p:spPr>
          <a:xfrm>
            <a:off x="340000" y="8778906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dirty="0" err="1">
                <a:solidFill>
                  <a:srgbClr val="B0B6BF"/>
                </a:solidFill>
                <a:latin typeface="Arial"/>
              </a:rPr>
              <a:t>요격부대</a:t>
            </a:r>
            <a:endParaRPr sz="900" b="1" dirty="0">
              <a:solidFill>
                <a:srgbClr val="B0B6BF"/>
              </a:solidFill>
              <a:latin typeface="Arial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41DAC82-EA04-3CE3-C3B7-D6885D77DCEC}"/>
              </a:ext>
            </a:extLst>
          </p:cNvPr>
          <p:cNvSpPr/>
          <p:nvPr/>
        </p:nvSpPr>
        <p:spPr>
          <a:xfrm>
            <a:off x="1900000" y="3560000"/>
            <a:ext cx="2500000" cy="1000000"/>
          </a:xfrm>
          <a:prstGeom prst="roundRect">
            <a:avLst>
              <a:gd name="adj" fmla="val 12000"/>
            </a:avLst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KAMDOC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탄도탄 작전통제 · 공군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AA0EBAE-D4D0-62E9-6228-8D63C18FF8C5}"/>
              </a:ext>
            </a:extLst>
          </p:cNvPr>
          <p:cNvSpPr/>
          <p:nvPr/>
        </p:nvSpPr>
        <p:spPr>
          <a:xfrm>
            <a:off x="5300000" y="3560000"/>
            <a:ext cx="2500000" cy="1000000"/>
          </a:xfrm>
          <a:prstGeom prst="roundRect">
            <a:avLst>
              <a:gd name="adj" fmla="val 12000"/>
            </a:avLst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MCRC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중앙방공통제 · 공군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DB6EFF6-AF37-964E-2B71-A8DB78EF4289}"/>
              </a:ext>
            </a:extLst>
          </p:cNvPr>
          <p:cNvSpPr/>
          <p:nvPr/>
        </p:nvSpPr>
        <p:spPr>
          <a:xfrm>
            <a:off x="10400000" y="3560000"/>
            <a:ext cx="2800000" cy="1000000"/>
          </a:xfrm>
          <a:prstGeom prst="roundRect">
            <a:avLst>
              <a:gd name="adj" fmla="val 12000"/>
            </a:avLst>
          </a:prstGeom>
          <a:solidFill>
            <a:srgbClr val="E9F2E4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방공C2A (1군단)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육군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82EBDE7-183F-EF3E-1386-7CC2EE5A8127}"/>
              </a:ext>
            </a:extLst>
          </p:cNvPr>
          <p:cNvSpPr/>
          <p:nvPr/>
        </p:nvSpPr>
        <p:spPr>
          <a:xfrm>
            <a:off x="13900000" y="3560000"/>
            <a:ext cx="2800000" cy="1000000"/>
          </a:xfrm>
          <a:prstGeom prst="roundRect">
            <a:avLst>
              <a:gd name="adj" fmla="val 12000"/>
            </a:avLst>
          </a:prstGeom>
          <a:solidFill>
            <a:srgbClr val="E9F2E4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방공C2A (수방사)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육군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E02D8AA-FED2-C5F9-9A24-64B6A4385569}"/>
              </a:ext>
            </a:extLst>
          </p:cNvPr>
          <p:cNvSpPr/>
          <p:nvPr/>
        </p:nvSpPr>
        <p:spPr>
          <a:xfrm>
            <a:off x="1834506" y="5330259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ICC</a:t>
            </a:r>
          </a:p>
          <a:p>
            <a:pPr algn="ctr"/>
            <a:r>
              <a:rPr sz="950" dirty="0" err="1">
                <a:solidFill>
                  <a:srgbClr val="5A6270"/>
                </a:solidFill>
                <a:latin typeface="Arial"/>
              </a:rPr>
              <a:t>정보통합센터</a:t>
            </a:r>
            <a:r>
              <a:rPr sz="950" dirty="0">
                <a:solidFill>
                  <a:srgbClr val="5A6270"/>
                </a:solidFill>
                <a:latin typeface="Arial"/>
              </a:rPr>
              <a:t> W·C·E·MDU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614E508-4168-A9BD-68CE-CD518E0C2B4F}"/>
              </a:ext>
            </a:extLst>
          </p:cNvPr>
          <p:cNvSpPr/>
          <p:nvPr/>
        </p:nvSpPr>
        <p:spPr>
          <a:xfrm>
            <a:off x="1400000" y="1893500"/>
            <a:ext cx="23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Green Pine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65858AB-E809-A8ED-3A88-E94CD39FF887}"/>
              </a:ext>
            </a:extLst>
          </p:cNvPr>
          <p:cNvSpPr/>
          <p:nvPr/>
        </p:nvSpPr>
        <p:spPr>
          <a:xfrm>
            <a:off x="6450000" y="1925970"/>
            <a:ext cx="23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FPS-117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E90EBD-F8EA-4A12-2435-3B5FCED9466A}"/>
              </a:ext>
            </a:extLst>
          </p:cNvPr>
          <p:cNvSpPr/>
          <p:nvPr/>
        </p:nvSpPr>
        <p:spPr>
          <a:xfrm>
            <a:off x="3900000" y="1893500"/>
            <a:ext cx="24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MFR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26F1387-2162-A629-4938-4928AB7EB7D0}"/>
              </a:ext>
            </a:extLst>
          </p:cNvPr>
          <p:cNvSpPr/>
          <p:nvPr/>
        </p:nvSpPr>
        <p:spPr>
          <a:xfrm>
            <a:off x="12250000" y="1893500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TPS-880K</a:t>
            </a:r>
            <a:r>
              <a:rPr lang="en-US" sz="1300" b="1" dirty="0">
                <a:solidFill>
                  <a:srgbClr val="1E2A4A"/>
                </a:solidFill>
                <a:latin typeface="Arial"/>
              </a:rPr>
              <a:t>/830K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D375675-B95D-620F-69D7-0718F9E7A947}"/>
              </a:ext>
            </a:extLst>
          </p:cNvPr>
          <p:cNvSpPr/>
          <p:nvPr/>
        </p:nvSpPr>
        <p:spPr>
          <a:xfrm>
            <a:off x="2088600" y="8378906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072A0169-9801-C7B7-1CB2-B3DE1E226B13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 flipH="1">
            <a:off x="3134506" y="4560000"/>
            <a:ext cx="15494" cy="770259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035C206A-E576-77EA-B112-6DE512997EB9}"/>
              </a:ext>
            </a:extLst>
          </p:cNvPr>
          <p:cNvCxnSpPr>
            <a:cxnSpLocks/>
            <a:stCxn id="15" idx="2"/>
            <a:endCxn id="52" idx="0"/>
          </p:cNvCxnSpPr>
          <p:nvPr/>
        </p:nvCxnSpPr>
        <p:spPr>
          <a:xfrm>
            <a:off x="6550000" y="4560000"/>
            <a:ext cx="0" cy="735259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E1C48A8D-332E-C6FC-6335-01E7BE805D27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13200000" y="4060000"/>
            <a:ext cx="700000" cy="0"/>
          </a:xfrm>
          <a:prstGeom prst="line">
            <a:avLst/>
          </a:prstGeom>
          <a:ln w="22225">
            <a:solidFill>
              <a:srgbClr val="7D3C98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F358E71C-DC31-0204-3D95-5EF404EC89B2}"/>
              </a:ext>
            </a:extLst>
          </p:cNvPr>
          <p:cNvCxnSpPr/>
          <p:nvPr/>
        </p:nvCxnSpPr>
        <p:spPr>
          <a:xfrm>
            <a:off x="7800000" y="4360000"/>
            <a:ext cx="2600000" cy="0"/>
          </a:xfrm>
          <a:prstGeom prst="line">
            <a:avLst/>
          </a:prstGeom>
          <a:ln w="41275">
            <a:solidFill>
              <a:srgbClr val="9B1B30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17">
            <a:extLst>
              <a:ext uri="{FF2B5EF4-FFF2-40B4-BE49-F238E27FC236}">
                <a16:creationId xmlns:a16="http://schemas.microsoft.com/office/drawing/2014/main" id="{168A4DF7-AECD-EC18-8350-63E9578A9857}"/>
              </a:ext>
            </a:extLst>
          </p:cNvPr>
          <p:cNvSpPr/>
          <p:nvPr/>
        </p:nvSpPr>
        <p:spPr>
          <a:xfrm>
            <a:off x="5250000" y="5295259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ICC</a:t>
            </a:r>
          </a:p>
          <a:p>
            <a:pPr algn="ctr"/>
            <a:r>
              <a:rPr sz="950" dirty="0" err="1">
                <a:solidFill>
                  <a:srgbClr val="5A6270"/>
                </a:solidFill>
                <a:latin typeface="Arial"/>
              </a:rPr>
              <a:t>정보통합센터</a:t>
            </a:r>
            <a:r>
              <a:rPr sz="950" dirty="0">
                <a:solidFill>
                  <a:srgbClr val="5A6270"/>
                </a:solidFill>
                <a:latin typeface="Arial"/>
              </a:rPr>
              <a:t> W·C·E·MDU</a:t>
            </a:r>
          </a:p>
        </p:txBody>
      </p:sp>
      <p:sp>
        <p:nvSpPr>
          <p:cNvPr id="55" name="Rounded Rectangle 18">
            <a:extLst>
              <a:ext uri="{FF2B5EF4-FFF2-40B4-BE49-F238E27FC236}">
                <a16:creationId xmlns:a16="http://schemas.microsoft.com/office/drawing/2014/main" id="{C5B48026-5245-1003-DCBC-7F6FBE3732E1}"/>
              </a:ext>
            </a:extLst>
          </p:cNvPr>
          <p:cNvSpPr/>
          <p:nvPr/>
        </p:nvSpPr>
        <p:spPr>
          <a:xfrm>
            <a:off x="2080853" y="6907105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56" name="Connector 32">
            <a:extLst>
              <a:ext uri="{FF2B5EF4-FFF2-40B4-BE49-F238E27FC236}">
                <a16:creationId xmlns:a16="http://schemas.microsoft.com/office/drawing/2014/main" id="{10616D89-9438-BA9C-A5C5-0338B74A214E}"/>
              </a:ext>
            </a:extLst>
          </p:cNvPr>
          <p:cNvCxnSpPr>
            <a:cxnSpLocks/>
            <a:stCxn id="18" idx="2"/>
            <a:endCxn id="55" idx="0"/>
          </p:cNvCxnSpPr>
          <p:nvPr/>
        </p:nvCxnSpPr>
        <p:spPr>
          <a:xfrm>
            <a:off x="3134506" y="6280259"/>
            <a:ext cx="7747" cy="626846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B13AC5A5-EC9A-09BF-B830-BF329CCA05D7}"/>
              </a:ext>
            </a:extLst>
          </p:cNvPr>
          <p:cNvSpPr/>
          <p:nvPr/>
        </p:nvSpPr>
        <p:spPr>
          <a:xfrm>
            <a:off x="5477200" y="6907104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60" name="Connector 32">
            <a:extLst>
              <a:ext uri="{FF2B5EF4-FFF2-40B4-BE49-F238E27FC236}">
                <a16:creationId xmlns:a16="http://schemas.microsoft.com/office/drawing/2014/main" id="{6C7373D6-9057-31AF-9374-6758FD013753}"/>
              </a:ext>
            </a:extLst>
          </p:cNvPr>
          <p:cNvCxnSpPr>
            <a:cxnSpLocks/>
            <a:stCxn id="52" idx="2"/>
            <a:endCxn id="59" idx="0"/>
          </p:cNvCxnSpPr>
          <p:nvPr/>
        </p:nvCxnSpPr>
        <p:spPr>
          <a:xfrm flipH="1">
            <a:off x="6538600" y="6245259"/>
            <a:ext cx="11400" cy="661845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18">
            <a:extLst>
              <a:ext uri="{FF2B5EF4-FFF2-40B4-BE49-F238E27FC236}">
                <a16:creationId xmlns:a16="http://schemas.microsoft.com/office/drawing/2014/main" id="{AF8B0284-26EB-6341-A009-281D7E036A23}"/>
              </a:ext>
            </a:extLst>
          </p:cNvPr>
          <p:cNvSpPr/>
          <p:nvPr/>
        </p:nvSpPr>
        <p:spPr>
          <a:xfrm>
            <a:off x="10738600" y="6787080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64" name="Rounded Rectangle 18">
            <a:extLst>
              <a:ext uri="{FF2B5EF4-FFF2-40B4-BE49-F238E27FC236}">
                <a16:creationId xmlns:a16="http://schemas.microsoft.com/office/drawing/2014/main" id="{77EA3D54-0ED6-232A-FAEA-1F9714A15927}"/>
              </a:ext>
            </a:extLst>
          </p:cNvPr>
          <p:cNvSpPr/>
          <p:nvPr/>
        </p:nvSpPr>
        <p:spPr>
          <a:xfrm>
            <a:off x="14261400" y="6787080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71" name="Connector 33">
            <a:extLst>
              <a:ext uri="{FF2B5EF4-FFF2-40B4-BE49-F238E27FC236}">
                <a16:creationId xmlns:a16="http://schemas.microsoft.com/office/drawing/2014/main" id="{D5B00EC7-BD05-7EA9-954A-1626E71C893A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 flipH="1">
            <a:off x="6550000" y="2875970"/>
            <a:ext cx="1050000" cy="68403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33">
            <a:extLst>
              <a:ext uri="{FF2B5EF4-FFF2-40B4-BE49-F238E27FC236}">
                <a16:creationId xmlns:a16="http://schemas.microsoft.com/office/drawing/2014/main" id="{14A32D8E-7761-832F-CA10-7F584CF3F634}"/>
              </a:ext>
            </a:extLst>
          </p:cNvPr>
          <p:cNvCxnSpPr>
            <a:cxnSpLocks/>
            <a:stCxn id="22" idx="2"/>
            <a:endCxn id="15" idx="0"/>
          </p:cNvCxnSpPr>
          <p:nvPr/>
        </p:nvCxnSpPr>
        <p:spPr>
          <a:xfrm>
            <a:off x="5100000" y="2843500"/>
            <a:ext cx="1450000" cy="7165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33">
            <a:extLst>
              <a:ext uri="{FF2B5EF4-FFF2-40B4-BE49-F238E27FC236}">
                <a16:creationId xmlns:a16="http://schemas.microsoft.com/office/drawing/2014/main" id="{E542E93F-0A33-51E8-B8CB-D6932C5CD3AC}"/>
              </a:ext>
            </a:extLst>
          </p:cNvPr>
          <p:cNvCxnSpPr>
            <a:cxnSpLocks/>
            <a:stCxn id="20" idx="2"/>
            <a:endCxn id="14" idx="0"/>
          </p:cNvCxnSpPr>
          <p:nvPr/>
        </p:nvCxnSpPr>
        <p:spPr>
          <a:xfrm>
            <a:off x="2550000" y="2843500"/>
            <a:ext cx="600000" cy="7165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33">
            <a:extLst>
              <a:ext uri="{FF2B5EF4-FFF2-40B4-BE49-F238E27FC236}">
                <a16:creationId xmlns:a16="http://schemas.microsoft.com/office/drawing/2014/main" id="{88340AF7-E44E-E8A8-6D10-B7CEF1EF1147}"/>
              </a:ext>
            </a:extLst>
          </p:cNvPr>
          <p:cNvCxnSpPr>
            <a:cxnSpLocks/>
            <a:stCxn id="22" idx="2"/>
            <a:endCxn id="14" idx="0"/>
          </p:cNvCxnSpPr>
          <p:nvPr/>
        </p:nvCxnSpPr>
        <p:spPr>
          <a:xfrm flipH="1">
            <a:off x="3150000" y="2843500"/>
            <a:ext cx="1950000" cy="7165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23">
            <a:extLst>
              <a:ext uri="{FF2B5EF4-FFF2-40B4-BE49-F238E27FC236}">
                <a16:creationId xmlns:a16="http://schemas.microsoft.com/office/drawing/2014/main" id="{4A00E5D4-B434-A542-81DB-B72A8BF107BD}"/>
              </a:ext>
            </a:extLst>
          </p:cNvPr>
          <p:cNvSpPr/>
          <p:nvPr/>
        </p:nvSpPr>
        <p:spPr>
          <a:xfrm>
            <a:off x="5488600" y="8361030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90" name="Connector 32">
            <a:extLst>
              <a:ext uri="{FF2B5EF4-FFF2-40B4-BE49-F238E27FC236}">
                <a16:creationId xmlns:a16="http://schemas.microsoft.com/office/drawing/2014/main" id="{BC18B9F4-9F09-8311-3073-F49D1F2E8A32}"/>
              </a:ext>
            </a:extLst>
          </p:cNvPr>
          <p:cNvCxnSpPr>
            <a:cxnSpLocks/>
            <a:stCxn id="89" idx="0"/>
            <a:endCxn id="59" idx="2"/>
          </p:cNvCxnSpPr>
          <p:nvPr/>
        </p:nvCxnSpPr>
        <p:spPr>
          <a:xfrm flipH="1" flipV="1">
            <a:off x="6538600" y="7646679"/>
            <a:ext cx="11400" cy="714351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32">
            <a:extLst>
              <a:ext uri="{FF2B5EF4-FFF2-40B4-BE49-F238E27FC236}">
                <a16:creationId xmlns:a16="http://schemas.microsoft.com/office/drawing/2014/main" id="{9AE8C272-6F68-6405-931B-6C5C01787560}"/>
              </a:ext>
            </a:extLst>
          </p:cNvPr>
          <p:cNvCxnSpPr>
            <a:cxnSpLocks/>
            <a:stCxn id="24" idx="0"/>
            <a:endCxn id="55" idx="2"/>
          </p:cNvCxnSpPr>
          <p:nvPr/>
        </p:nvCxnSpPr>
        <p:spPr>
          <a:xfrm flipH="1" flipV="1">
            <a:off x="3142253" y="7646680"/>
            <a:ext cx="7747" cy="732226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23">
            <a:extLst>
              <a:ext uri="{FF2B5EF4-FFF2-40B4-BE49-F238E27FC236}">
                <a16:creationId xmlns:a16="http://schemas.microsoft.com/office/drawing/2014/main" id="{9B1D71C3-95BB-3942-E8A9-58AB815B32A8}"/>
              </a:ext>
            </a:extLst>
          </p:cNvPr>
          <p:cNvSpPr/>
          <p:nvPr/>
        </p:nvSpPr>
        <p:spPr>
          <a:xfrm>
            <a:off x="10761841" y="8258906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101" name="Rounded Rectangle 23">
            <a:extLst>
              <a:ext uri="{FF2B5EF4-FFF2-40B4-BE49-F238E27FC236}">
                <a16:creationId xmlns:a16="http://schemas.microsoft.com/office/drawing/2014/main" id="{0243F36C-694B-8C6E-F9A5-0D6CEA0C6B0F}"/>
              </a:ext>
            </a:extLst>
          </p:cNvPr>
          <p:cNvSpPr/>
          <p:nvPr/>
        </p:nvSpPr>
        <p:spPr>
          <a:xfrm>
            <a:off x="14261400" y="8258906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111" name="Connector 32">
            <a:extLst>
              <a:ext uri="{FF2B5EF4-FFF2-40B4-BE49-F238E27FC236}">
                <a16:creationId xmlns:a16="http://schemas.microsoft.com/office/drawing/2014/main" id="{14BA959B-8A78-FBDB-494F-108350D495FC}"/>
              </a:ext>
            </a:extLst>
          </p:cNvPr>
          <p:cNvCxnSpPr>
            <a:cxnSpLocks/>
            <a:stCxn id="16" idx="2"/>
            <a:endCxn id="63" idx="0"/>
          </p:cNvCxnSpPr>
          <p:nvPr/>
        </p:nvCxnSpPr>
        <p:spPr>
          <a:xfrm>
            <a:off x="11800000" y="4560000"/>
            <a:ext cx="0" cy="222708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32">
            <a:extLst>
              <a:ext uri="{FF2B5EF4-FFF2-40B4-BE49-F238E27FC236}">
                <a16:creationId xmlns:a16="http://schemas.microsoft.com/office/drawing/2014/main" id="{A8D9AC3C-3DA1-7B13-FEC2-2971632909BB}"/>
              </a:ext>
            </a:extLst>
          </p:cNvPr>
          <p:cNvCxnSpPr>
            <a:cxnSpLocks/>
            <a:stCxn id="63" idx="2"/>
            <a:endCxn id="96" idx="0"/>
          </p:cNvCxnSpPr>
          <p:nvPr/>
        </p:nvCxnSpPr>
        <p:spPr>
          <a:xfrm>
            <a:off x="11800000" y="7526655"/>
            <a:ext cx="23241" cy="732251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32">
            <a:extLst>
              <a:ext uri="{FF2B5EF4-FFF2-40B4-BE49-F238E27FC236}">
                <a16:creationId xmlns:a16="http://schemas.microsoft.com/office/drawing/2014/main" id="{023A8D7A-9801-EE48-6E78-832F5FE031B2}"/>
              </a:ext>
            </a:extLst>
          </p:cNvPr>
          <p:cNvCxnSpPr>
            <a:cxnSpLocks/>
            <a:stCxn id="17" idx="2"/>
            <a:endCxn id="64" idx="0"/>
          </p:cNvCxnSpPr>
          <p:nvPr/>
        </p:nvCxnSpPr>
        <p:spPr>
          <a:xfrm>
            <a:off x="15300000" y="4560000"/>
            <a:ext cx="22800" cy="222708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32">
            <a:extLst>
              <a:ext uri="{FF2B5EF4-FFF2-40B4-BE49-F238E27FC236}">
                <a16:creationId xmlns:a16="http://schemas.microsoft.com/office/drawing/2014/main" id="{C310FD4E-C136-3270-B9CC-524DA117A2B8}"/>
              </a:ext>
            </a:extLst>
          </p:cNvPr>
          <p:cNvCxnSpPr>
            <a:cxnSpLocks/>
            <a:stCxn id="64" idx="2"/>
            <a:endCxn id="101" idx="0"/>
          </p:cNvCxnSpPr>
          <p:nvPr/>
        </p:nvCxnSpPr>
        <p:spPr>
          <a:xfrm>
            <a:off x="15322800" y="7526655"/>
            <a:ext cx="0" cy="732251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32">
            <a:extLst>
              <a:ext uri="{FF2B5EF4-FFF2-40B4-BE49-F238E27FC236}">
                <a16:creationId xmlns:a16="http://schemas.microsoft.com/office/drawing/2014/main" id="{0CEED69A-F534-B59A-547A-D005F4B76C9A}"/>
              </a:ext>
            </a:extLst>
          </p:cNvPr>
          <p:cNvCxnSpPr>
            <a:cxnSpLocks/>
            <a:stCxn id="23" idx="2"/>
            <a:endCxn id="16" idx="0"/>
          </p:cNvCxnSpPr>
          <p:nvPr/>
        </p:nvCxnSpPr>
        <p:spPr>
          <a:xfrm flipH="1">
            <a:off x="11800000" y="2843500"/>
            <a:ext cx="1750000" cy="7165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32">
            <a:extLst>
              <a:ext uri="{FF2B5EF4-FFF2-40B4-BE49-F238E27FC236}">
                <a16:creationId xmlns:a16="http://schemas.microsoft.com/office/drawing/2014/main" id="{0152FC65-8A2C-487B-459C-40457F0E27F6}"/>
              </a:ext>
            </a:extLst>
          </p:cNvPr>
          <p:cNvCxnSpPr>
            <a:cxnSpLocks/>
            <a:stCxn id="17" idx="0"/>
            <a:endCxn id="23" idx="2"/>
          </p:cNvCxnSpPr>
          <p:nvPr/>
        </p:nvCxnSpPr>
        <p:spPr>
          <a:xfrm flipH="1" flipV="1">
            <a:off x="13550000" y="2843500"/>
            <a:ext cx="1750000" cy="7165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91EDA33A-6C1D-866A-B50D-16E700397BD0}"/>
              </a:ext>
            </a:extLst>
          </p:cNvPr>
          <p:cNvSpPr txBox="1"/>
          <p:nvPr/>
        </p:nvSpPr>
        <p:spPr>
          <a:xfrm>
            <a:off x="12373125" y="3712708"/>
            <a:ext cx="240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7D3C98"/>
                </a:solidFill>
                <a:latin typeface="Arial"/>
              </a:rPr>
              <a:t>kvmf-relay 30초 ×2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F5F15E7-39D3-29F7-CF77-C7402D787AF4}"/>
              </a:ext>
            </a:extLst>
          </p:cNvPr>
          <p:cNvSpPr txBox="1"/>
          <p:nvPr/>
        </p:nvSpPr>
        <p:spPr>
          <a:xfrm>
            <a:off x="2374962" y="3074741"/>
            <a:ext cx="230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E6FB8"/>
                </a:solidFill>
                <a:latin typeface="Arial"/>
              </a:rPr>
              <a:t>datalink 1초 (C2↔C2 전부)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784B449-F444-2781-03DC-8E85C77A74DE}"/>
              </a:ext>
            </a:extLst>
          </p:cNvPr>
          <p:cNvSpPr txBox="1"/>
          <p:nvPr/>
        </p:nvSpPr>
        <p:spPr>
          <a:xfrm>
            <a:off x="5324962" y="3089612"/>
            <a:ext cx="230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E6FB8"/>
                </a:solidFill>
                <a:latin typeface="Arial"/>
              </a:rPr>
              <a:t>datalink 1초 (C2↔C2 전부)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CBEB264-5D61-0627-ECB2-F173C74DFCB2}"/>
              </a:ext>
            </a:extLst>
          </p:cNvPr>
          <p:cNvSpPr txBox="1"/>
          <p:nvPr/>
        </p:nvSpPr>
        <p:spPr>
          <a:xfrm>
            <a:off x="7782747" y="3419886"/>
            <a:ext cx="250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dirty="0">
                <a:solidFill>
                  <a:srgbClr val="E67E22"/>
                </a:solidFill>
                <a:latin typeface="Arial"/>
              </a:rPr>
              <a:t>chat 45초</a:t>
            </a:r>
            <a:r>
              <a:rPr lang="en-US" altLang="ko-KR" sz="1050" b="1" dirty="0">
                <a:solidFill>
                  <a:srgbClr val="E67E22"/>
                </a:solidFill>
                <a:latin typeface="Arial"/>
              </a:rPr>
              <a:t>(</a:t>
            </a:r>
            <a:r>
              <a:rPr lang="ko-KR" altLang="en-US" sz="1050" b="1" dirty="0">
                <a:solidFill>
                  <a:srgbClr val="E67E22"/>
                </a:solidFill>
                <a:latin typeface="Arial"/>
              </a:rPr>
              <a:t>항적공유</a:t>
            </a:r>
            <a:r>
              <a:rPr lang="en-US" altLang="ko-KR" sz="1050" b="1" dirty="0">
                <a:solidFill>
                  <a:srgbClr val="E67E22"/>
                </a:solidFill>
                <a:latin typeface="Arial"/>
              </a:rPr>
              <a:t>)</a:t>
            </a:r>
            <a:endParaRPr sz="1050" b="1" dirty="0">
              <a:solidFill>
                <a:srgbClr val="E67E22"/>
              </a:solidFill>
              <a:latin typeface="Arial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70CDAAD-5E1A-01EC-3595-70305A13B69F}"/>
              </a:ext>
            </a:extLst>
          </p:cNvPr>
          <p:cNvSpPr txBox="1"/>
          <p:nvPr/>
        </p:nvSpPr>
        <p:spPr>
          <a:xfrm>
            <a:off x="7922800" y="4490102"/>
            <a:ext cx="250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dirty="0">
                <a:solidFill>
                  <a:srgbClr val="9B1B30"/>
                </a:solidFill>
                <a:latin typeface="Arial"/>
              </a:rPr>
              <a:t>VTC 135초 </a:t>
            </a:r>
            <a:r>
              <a:rPr lang="en-US" altLang="ko-KR" sz="1050" b="1" dirty="0">
                <a:solidFill>
                  <a:srgbClr val="9B1B30"/>
                </a:solidFill>
                <a:latin typeface="Arial"/>
              </a:rPr>
              <a:t>(</a:t>
            </a:r>
            <a:r>
              <a:rPr lang="ko-KR" altLang="en-US" sz="1050" b="1" dirty="0">
                <a:solidFill>
                  <a:srgbClr val="9B1B30"/>
                </a:solidFill>
                <a:latin typeface="Arial"/>
              </a:rPr>
              <a:t>교전현황 공유</a:t>
            </a:r>
            <a:r>
              <a:rPr lang="en-US" altLang="ko-KR" sz="1050" b="1" dirty="0">
                <a:solidFill>
                  <a:srgbClr val="9B1B30"/>
                </a:solidFill>
                <a:latin typeface="Arial"/>
              </a:rPr>
              <a:t>)</a:t>
            </a:r>
            <a:endParaRPr sz="1050" b="1" dirty="0">
              <a:solidFill>
                <a:srgbClr val="9B1B30"/>
              </a:solidFill>
              <a:latin typeface="Arial"/>
            </a:endParaRPr>
          </a:p>
        </p:txBody>
      </p:sp>
      <p:cxnSp>
        <p:nvCxnSpPr>
          <p:cNvPr id="139" name="Connector 41">
            <a:extLst>
              <a:ext uri="{FF2B5EF4-FFF2-40B4-BE49-F238E27FC236}">
                <a16:creationId xmlns:a16="http://schemas.microsoft.com/office/drawing/2014/main" id="{9204C89B-D7B9-DD97-45B8-DC65419306CD}"/>
              </a:ext>
            </a:extLst>
          </p:cNvPr>
          <p:cNvCxnSpPr/>
          <p:nvPr/>
        </p:nvCxnSpPr>
        <p:spPr>
          <a:xfrm>
            <a:off x="7800000" y="3760000"/>
            <a:ext cx="2600000" cy="0"/>
          </a:xfrm>
          <a:prstGeom prst="line">
            <a:avLst/>
          </a:prstGeom>
          <a:ln w="31750">
            <a:solidFill>
              <a:srgbClr val="E67E22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E1F889A9-CDC1-DFA9-CF20-3897415E9D9D}"/>
              </a:ext>
            </a:extLst>
          </p:cNvPr>
          <p:cNvSpPr txBox="1"/>
          <p:nvPr/>
        </p:nvSpPr>
        <p:spPr>
          <a:xfrm>
            <a:off x="7800000" y="3863103"/>
            <a:ext cx="250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dirty="0">
                <a:solidFill>
                  <a:srgbClr val="E74C3C"/>
                </a:solidFill>
                <a:latin typeface="Arial"/>
              </a:rPr>
              <a:t>voice 20초</a:t>
            </a:r>
            <a:r>
              <a:rPr lang="en-US" altLang="ko-KR" sz="1050" b="1" dirty="0">
                <a:solidFill>
                  <a:srgbClr val="E74C3C"/>
                </a:solidFill>
                <a:latin typeface="Arial"/>
              </a:rPr>
              <a:t>(</a:t>
            </a:r>
            <a:r>
              <a:rPr lang="ko-KR" altLang="en-US" sz="1050" b="1" dirty="0">
                <a:solidFill>
                  <a:srgbClr val="E74C3C"/>
                </a:solidFill>
                <a:latin typeface="Arial"/>
              </a:rPr>
              <a:t>교전승인협조</a:t>
            </a:r>
            <a:r>
              <a:rPr lang="en-US" altLang="ko-KR" sz="1050" b="1" dirty="0">
                <a:solidFill>
                  <a:srgbClr val="E74C3C"/>
                </a:solidFill>
                <a:latin typeface="Arial"/>
              </a:rPr>
              <a:t>)</a:t>
            </a:r>
            <a:endParaRPr sz="1050" b="1" dirty="0">
              <a:solidFill>
                <a:srgbClr val="E74C3C"/>
              </a:solidFill>
              <a:latin typeface="Arial"/>
            </a:endParaRPr>
          </a:p>
        </p:txBody>
      </p:sp>
      <p:cxnSp>
        <p:nvCxnSpPr>
          <p:cNvPr id="142" name="Connector 42">
            <a:extLst>
              <a:ext uri="{FF2B5EF4-FFF2-40B4-BE49-F238E27FC236}">
                <a16:creationId xmlns:a16="http://schemas.microsoft.com/office/drawing/2014/main" id="{C3845671-D599-3DF3-EDD7-B6701DA99BFA}"/>
              </a:ext>
            </a:extLst>
          </p:cNvPr>
          <p:cNvCxnSpPr>
            <a:cxnSpLocks/>
            <a:stCxn id="16" idx="1"/>
            <a:endCxn id="15" idx="3"/>
          </p:cNvCxnSpPr>
          <p:nvPr/>
        </p:nvCxnSpPr>
        <p:spPr>
          <a:xfrm flipH="1">
            <a:off x="7800000" y="4060000"/>
            <a:ext cx="2600000" cy="0"/>
          </a:xfrm>
          <a:prstGeom prst="line">
            <a:avLst/>
          </a:prstGeom>
          <a:ln w="31750">
            <a:solidFill>
              <a:srgbClr val="E74C3C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715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91E69-9673-85A8-4C0C-49BBD8C8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CD2A02-8926-FDF5-43CF-0C7E5C4E06AD}"/>
              </a:ext>
            </a:extLst>
          </p:cNvPr>
          <p:cNvSpPr/>
          <p:nvPr/>
        </p:nvSpPr>
        <p:spPr>
          <a:xfrm>
            <a:off x="952500" y="666750"/>
            <a:ext cx="460289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C2 연결 구조</a:t>
            </a:r>
            <a:endParaRPr lang="en-US" sz="4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CDE97-B0AD-ADD8-DA0B-E74063E0176F}"/>
              </a:ext>
            </a:extLst>
          </p:cNvPr>
          <p:cNvSpPr txBox="1"/>
          <p:nvPr/>
        </p:nvSpPr>
        <p:spPr>
          <a:xfrm>
            <a:off x="340000" y="5034181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C2 체계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D4167-B949-C122-396E-E9899D9DDD9B}"/>
              </a:ext>
            </a:extLst>
          </p:cNvPr>
          <p:cNvSpPr txBox="1"/>
          <p:nvPr/>
        </p:nvSpPr>
        <p:spPr>
          <a:xfrm>
            <a:off x="340000" y="6349181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교전통제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B39F44-81B5-C496-A9D3-9CCFF455F657}"/>
              </a:ext>
            </a:extLst>
          </p:cNvPr>
          <p:cNvSpPr txBox="1"/>
          <p:nvPr/>
        </p:nvSpPr>
        <p:spPr>
          <a:xfrm>
            <a:off x="340000" y="3480708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레이더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802DB-AACE-1BBA-5116-FF1A10EE11E1}"/>
              </a:ext>
            </a:extLst>
          </p:cNvPr>
          <p:cNvSpPr txBox="1"/>
          <p:nvPr/>
        </p:nvSpPr>
        <p:spPr>
          <a:xfrm>
            <a:off x="340000" y="9158469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dirty="0" err="1">
                <a:solidFill>
                  <a:srgbClr val="B0B6BF"/>
                </a:solidFill>
                <a:latin typeface="Arial"/>
              </a:rPr>
              <a:t>요격부대</a:t>
            </a:r>
            <a:endParaRPr sz="900" b="1" dirty="0">
              <a:solidFill>
                <a:srgbClr val="B0B6BF"/>
              </a:solidFill>
              <a:latin typeface="Arial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D53F49-D1A8-5D28-CB00-B2E149F4F418}"/>
              </a:ext>
            </a:extLst>
          </p:cNvPr>
          <p:cNvSpPr/>
          <p:nvPr/>
        </p:nvSpPr>
        <p:spPr>
          <a:xfrm>
            <a:off x="1900000" y="4664181"/>
            <a:ext cx="2500000" cy="1000000"/>
          </a:xfrm>
          <a:prstGeom prst="roundRect">
            <a:avLst>
              <a:gd name="adj" fmla="val 12000"/>
            </a:avLst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KAMDOC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탄도탄 작전통제 · 공군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24A28B7-036D-4DE6-BA35-845F1021C202}"/>
              </a:ext>
            </a:extLst>
          </p:cNvPr>
          <p:cNvSpPr/>
          <p:nvPr/>
        </p:nvSpPr>
        <p:spPr>
          <a:xfrm>
            <a:off x="5300000" y="4664181"/>
            <a:ext cx="2500000" cy="1000000"/>
          </a:xfrm>
          <a:prstGeom prst="roundRect">
            <a:avLst>
              <a:gd name="adj" fmla="val 12000"/>
            </a:avLst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MCRC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중앙방공통제 · 공군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3A9DA4C-4EDB-875B-2788-6CAFF75448A3}"/>
              </a:ext>
            </a:extLst>
          </p:cNvPr>
          <p:cNvSpPr/>
          <p:nvPr/>
        </p:nvSpPr>
        <p:spPr>
          <a:xfrm>
            <a:off x="10400000" y="4664181"/>
            <a:ext cx="2800000" cy="1000000"/>
          </a:xfrm>
          <a:prstGeom prst="roundRect">
            <a:avLst>
              <a:gd name="adj" fmla="val 12000"/>
            </a:avLst>
          </a:prstGeom>
          <a:solidFill>
            <a:srgbClr val="E9F2E4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방공C2A (1군단)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육군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AD01CEE-DAA5-8883-5BF4-E5ECF4F2480D}"/>
              </a:ext>
            </a:extLst>
          </p:cNvPr>
          <p:cNvSpPr/>
          <p:nvPr/>
        </p:nvSpPr>
        <p:spPr>
          <a:xfrm>
            <a:off x="13900000" y="4664181"/>
            <a:ext cx="2800000" cy="1000000"/>
          </a:xfrm>
          <a:prstGeom prst="roundRect">
            <a:avLst>
              <a:gd name="adj" fmla="val 12000"/>
            </a:avLst>
          </a:prstGeom>
          <a:solidFill>
            <a:srgbClr val="E9F2E4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방공C2A (수방사)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육군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D462523-60F4-114D-00B9-67E51BB23A5C}"/>
              </a:ext>
            </a:extLst>
          </p:cNvPr>
          <p:cNvSpPr/>
          <p:nvPr/>
        </p:nvSpPr>
        <p:spPr>
          <a:xfrm>
            <a:off x="1834506" y="6434440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ICC</a:t>
            </a:r>
          </a:p>
          <a:p>
            <a:pPr algn="ctr"/>
            <a:r>
              <a:rPr sz="950" dirty="0" err="1">
                <a:solidFill>
                  <a:srgbClr val="5A6270"/>
                </a:solidFill>
                <a:latin typeface="Arial"/>
              </a:rPr>
              <a:t>정보통합센터</a:t>
            </a:r>
            <a:r>
              <a:rPr sz="950" dirty="0">
                <a:solidFill>
                  <a:srgbClr val="5A6270"/>
                </a:solidFill>
                <a:latin typeface="Arial"/>
              </a:rPr>
              <a:t> W·C·E·MDU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066CA8C-5AC8-E3AA-D0CB-EE305453C66F}"/>
              </a:ext>
            </a:extLst>
          </p:cNvPr>
          <p:cNvSpPr/>
          <p:nvPr/>
        </p:nvSpPr>
        <p:spPr>
          <a:xfrm>
            <a:off x="1400000" y="3135708"/>
            <a:ext cx="23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Green Pine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48B89D8-60BE-E724-A7E7-4A58E2DCF162}"/>
              </a:ext>
            </a:extLst>
          </p:cNvPr>
          <p:cNvSpPr/>
          <p:nvPr/>
        </p:nvSpPr>
        <p:spPr>
          <a:xfrm>
            <a:off x="6450000" y="3168178"/>
            <a:ext cx="23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FPS-117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81EC8E3-3890-82FA-8663-56B1EB7834C3}"/>
              </a:ext>
            </a:extLst>
          </p:cNvPr>
          <p:cNvSpPr/>
          <p:nvPr/>
        </p:nvSpPr>
        <p:spPr>
          <a:xfrm>
            <a:off x="3900000" y="3135708"/>
            <a:ext cx="24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MFR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300CDD7-3821-617D-D790-D014EEFCD0A0}"/>
              </a:ext>
            </a:extLst>
          </p:cNvPr>
          <p:cNvSpPr/>
          <p:nvPr/>
        </p:nvSpPr>
        <p:spPr>
          <a:xfrm>
            <a:off x="12250000" y="3135708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TPS-880K</a:t>
            </a:r>
            <a:r>
              <a:rPr lang="en-US" sz="1300" b="1" dirty="0">
                <a:solidFill>
                  <a:srgbClr val="1E2A4A"/>
                </a:solidFill>
                <a:latin typeface="Arial"/>
              </a:rPr>
              <a:t>/830K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5A2C089-2853-B339-990E-F520A1AD7B45}"/>
              </a:ext>
            </a:extLst>
          </p:cNvPr>
          <p:cNvSpPr/>
          <p:nvPr/>
        </p:nvSpPr>
        <p:spPr>
          <a:xfrm>
            <a:off x="2088600" y="8758469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CF7D01C6-AA0D-E424-9D9F-2F3FB1FD9272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 flipH="1">
            <a:off x="3134506" y="5664181"/>
            <a:ext cx="15494" cy="770259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ECF35123-6337-E5AE-5CE7-93F9B413C557}"/>
              </a:ext>
            </a:extLst>
          </p:cNvPr>
          <p:cNvCxnSpPr>
            <a:cxnSpLocks/>
            <a:stCxn id="15" idx="2"/>
            <a:endCxn id="52" idx="0"/>
          </p:cNvCxnSpPr>
          <p:nvPr/>
        </p:nvCxnSpPr>
        <p:spPr>
          <a:xfrm>
            <a:off x="6550000" y="5664181"/>
            <a:ext cx="0" cy="735259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17">
            <a:extLst>
              <a:ext uri="{FF2B5EF4-FFF2-40B4-BE49-F238E27FC236}">
                <a16:creationId xmlns:a16="http://schemas.microsoft.com/office/drawing/2014/main" id="{785F4674-910E-F722-E16A-D4484587D647}"/>
              </a:ext>
            </a:extLst>
          </p:cNvPr>
          <p:cNvSpPr/>
          <p:nvPr/>
        </p:nvSpPr>
        <p:spPr>
          <a:xfrm>
            <a:off x="5250000" y="6399440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ICC</a:t>
            </a:r>
          </a:p>
          <a:p>
            <a:pPr algn="ctr"/>
            <a:r>
              <a:rPr sz="950" dirty="0" err="1">
                <a:solidFill>
                  <a:srgbClr val="5A6270"/>
                </a:solidFill>
                <a:latin typeface="Arial"/>
              </a:rPr>
              <a:t>정보통합센터</a:t>
            </a:r>
            <a:r>
              <a:rPr sz="950" dirty="0">
                <a:solidFill>
                  <a:srgbClr val="5A6270"/>
                </a:solidFill>
                <a:latin typeface="Arial"/>
              </a:rPr>
              <a:t> W·C·E·MDU</a:t>
            </a:r>
          </a:p>
        </p:txBody>
      </p:sp>
      <p:sp>
        <p:nvSpPr>
          <p:cNvPr id="55" name="Rounded Rectangle 18">
            <a:extLst>
              <a:ext uri="{FF2B5EF4-FFF2-40B4-BE49-F238E27FC236}">
                <a16:creationId xmlns:a16="http://schemas.microsoft.com/office/drawing/2014/main" id="{263DABA6-E24C-E962-20CC-21353A99BC2F}"/>
              </a:ext>
            </a:extLst>
          </p:cNvPr>
          <p:cNvSpPr/>
          <p:nvPr/>
        </p:nvSpPr>
        <p:spPr>
          <a:xfrm>
            <a:off x="2080853" y="7700736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56" name="Connector 32">
            <a:extLst>
              <a:ext uri="{FF2B5EF4-FFF2-40B4-BE49-F238E27FC236}">
                <a16:creationId xmlns:a16="http://schemas.microsoft.com/office/drawing/2014/main" id="{74DEE02D-5C15-BE62-19A4-EDAC93C330D7}"/>
              </a:ext>
            </a:extLst>
          </p:cNvPr>
          <p:cNvCxnSpPr>
            <a:cxnSpLocks/>
            <a:stCxn id="18" idx="2"/>
            <a:endCxn id="55" idx="0"/>
          </p:cNvCxnSpPr>
          <p:nvPr/>
        </p:nvCxnSpPr>
        <p:spPr>
          <a:xfrm>
            <a:off x="3134506" y="7384440"/>
            <a:ext cx="7747" cy="316296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2D1B6E6F-CB1F-0D7B-00A4-A454576D364A}"/>
              </a:ext>
            </a:extLst>
          </p:cNvPr>
          <p:cNvSpPr/>
          <p:nvPr/>
        </p:nvSpPr>
        <p:spPr>
          <a:xfrm>
            <a:off x="5477200" y="7700735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60" name="Connector 32">
            <a:extLst>
              <a:ext uri="{FF2B5EF4-FFF2-40B4-BE49-F238E27FC236}">
                <a16:creationId xmlns:a16="http://schemas.microsoft.com/office/drawing/2014/main" id="{A960380B-A144-9BC7-0AF8-C49AFAE1EE28}"/>
              </a:ext>
            </a:extLst>
          </p:cNvPr>
          <p:cNvCxnSpPr>
            <a:cxnSpLocks/>
            <a:stCxn id="52" idx="2"/>
            <a:endCxn id="59" idx="0"/>
          </p:cNvCxnSpPr>
          <p:nvPr/>
        </p:nvCxnSpPr>
        <p:spPr>
          <a:xfrm flipH="1">
            <a:off x="6538600" y="7349440"/>
            <a:ext cx="11400" cy="351295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18">
            <a:extLst>
              <a:ext uri="{FF2B5EF4-FFF2-40B4-BE49-F238E27FC236}">
                <a16:creationId xmlns:a16="http://schemas.microsoft.com/office/drawing/2014/main" id="{22E18AF0-5076-8552-2DAB-431B023BBC24}"/>
              </a:ext>
            </a:extLst>
          </p:cNvPr>
          <p:cNvSpPr/>
          <p:nvPr/>
        </p:nvSpPr>
        <p:spPr>
          <a:xfrm>
            <a:off x="10738600" y="7580711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64" name="Rounded Rectangle 18">
            <a:extLst>
              <a:ext uri="{FF2B5EF4-FFF2-40B4-BE49-F238E27FC236}">
                <a16:creationId xmlns:a16="http://schemas.microsoft.com/office/drawing/2014/main" id="{8D570E08-0DDE-C56F-B943-DE535AC74544}"/>
              </a:ext>
            </a:extLst>
          </p:cNvPr>
          <p:cNvSpPr/>
          <p:nvPr/>
        </p:nvSpPr>
        <p:spPr>
          <a:xfrm>
            <a:off x="14261400" y="7580711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71" name="Connector 33">
            <a:extLst>
              <a:ext uri="{FF2B5EF4-FFF2-40B4-BE49-F238E27FC236}">
                <a16:creationId xmlns:a16="http://schemas.microsoft.com/office/drawing/2014/main" id="{5A693DD1-86F0-0362-B747-E6AE5B4E4D85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 flipH="1">
            <a:off x="6550000" y="4118178"/>
            <a:ext cx="1050000" cy="54600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33">
            <a:extLst>
              <a:ext uri="{FF2B5EF4-FFF2-40B4-BE49-F238E27FC236}">
                <a16:creationId xmlns:a16="http://schemas.microsoft.com/office/drawing/2014/main" id="{77452139-6BB3-1FF3-8DF8-ECC107B5E510}"/>
              </a:ext>
            </a:extLst>
          </p:cNvPr>
          <p:cNvCxnSpPr>
            <a:cxnSpLocks/>
            <a:stCxn id="22" idx="2"/>
            <a:endCxn id="15" idx="0"/>
          </p:cNvCxnSpPr>
          <p:nvPr/>
        </p:nvCxnSpPr>
        <p:spPr>
          <a:xfrm>
            <a:off x="5100000" y="4085708"/>
            <a:ext cx="1450000" cy="57847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33">
            <a:extLst>
              <a:ext uri="{FF2B5EF4-FFF2-40B4-BE49-F238E27FC236}">
                <a16:creationId xmlns:a16="http://schemas.microsoft.com/office/drawing/2014/main" id="{E22B768C-EAF3-C46E-04D8-A3D32AC9F716}"/>
              </a:ext>
            </a:extLst>
          </p:cNvPr>
          <p:cNvCxnSpPr>
            <a:cxnSpLocks/>
            <a:stCxn id="20" idx="2"/>
            <a:endCxn id="14" idx="0"/>
          </p:cNvCxnSpPr>
          <p:nvPr/>
        </p:nvCxnSpPr>
        <p:spPr>
          <a:xfrm>
            <a:off x="2550000" y="4085708"/>
            <a:ext cx="600000" cy="57847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33">
            <a:extLst>
              <a:ext uri="{FF2B5EF4-FFF2-40B4-BE49-F238E27FC236}">
                <a16:creationId xmlns:a16="http://schemas.microsoft.com/office/drawing/2014/main" id="{C39038D6-4291-9968-7DCD-F149D1AFE1BE}"/>
              </a:ext>
            </a:extLst>
          </p:cNvPr>
          <p:cNvCxnSpPr>
            <a:cxnSpLocks/>
            <a:stCxn id="22" idx="2"/>
            <a:endCxn id="14" idx="0"/>
          </p:cNvCxnSpPr>
          <p:nvPr/>
        </p:nvCxnSpPr>
        <p:spPr>
          <a:xfrm flipH="1">
            <a:off x="3150000" y="4085708"/>
            <a:ext cx="1950000" cy="57847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23">
            <a:extLst>
              <a:ext uri="{FF2B5EF4-FFF2-40B4-BE49-F238E27FC236}">
                <a16:creationId xmlns:a16="http://schemas.microsoft.com/office/drawing/2014/main" id="{D6CD3F58-E77E-2CF9-B6C3-7ABB6348E7E2}"/>
              </a:ext>
            </a:extLst>
          </p:cNvPr>
          <p:cNvSpPr/>
          <p:nvPr/>
        </p:nvSpPr>
        <p:spPr>
          <a:xfrm>
            <a:off x="5488600" y="8740593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90" name="Connector 32">
            <a:extLst>
              <a:ext uri="{FF2B5EF4-FFF2-40B4-BE49-F238E27FC236}">
                <a16:creationId xmlns:a16="http://schemas.microsoft.com/office/drawing/2014/main" id="{74689CC2-A0AD-18F3-99C1-547B89E32457}"/>
              </a:ext>
            </a:extLst>
          </p:cNvPr>
          <p:cNvCxnSpPr>
            <a:cxnSpLocks/>
            <a:stCxn id="89" idx="0"/>
            <a:endCxn id="59" idx="2"/>
          </p:cNvCxnSpPr>
          <p:nvPr/>
        </p:nvCxnSpPr>
        <p:spPr>
          <a:xfrm flipH="1" flipV="1">
            <a:off x="6538600" y="8440310"/>
            <a:ext cx="11400" cy="30028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32">
            <a:extLst>
              <a:ext uri="{FF2B5EF4-FFF2-40B4-BE49-F238E27FC236}">
                <a16:creationId xmlns:a16="http://schemas.microsoft.com/office/drawing/2014/main" id="{5F5E69CA-D4B6-A2C0-D35F-ABFD2EE582FD}"/>
              </a:ext>
            </a:extLst>
          </p:cNvPr>
          <p:cNvCxnSpPr>
            <a:cxnSpLocks/>
            <a:stCxn id="24" idx="0"/>
            <a:endCxn id="55" idx="2"/>
          </p:cNvCxnSpPr>
          <p:nvPr/>
        </p:nvCxnSpPr>
        <p:spPr>
          <a:xfrm flipH="1" flipV="1">
            <a:off x="3142253" y="8440311"/>
            <a:ext cx="7747" cy="318158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23">
            <a:extLst>
              <a:ext uri="{FF2B5EF4-FFF2-40B4-BE49-F238E27FC236}">
                <a16:creationId xmlns:a16="http://schemas.microsoft.com/office/drawing/2014/main" id="{644B7A52-0DE5-1E13-257E-39F1AD3679AD}"/>
              </a:ext>
            </a:extLst>
          </p:cNvPr>
          <p:cNvSpPr/>
          <p:nvPr/>
        </p:nvSpPr>
        <p:spPr>
          <a:xfrm>
            <a:off x="10761841" y="8638469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101" name="Rounded Rectangle 23">
            <a:extLst>
              <a:ext uri="{FF2B5EF4-FFF2-40B4-BE49-F238E27FC236}">
                <a16:creationId xmlns:a16="http://schemas.microsoft.com/office/drawing/2014/main" id="{6598AC28-7A9D-56A3-DE9D-782F2D87DE13}"/>
              </a:ext>
            </a:extLst>
          </p:cNvPr>
          <p:cNvSpPr/>
          <p:nvPr/>
        </p:nvSpPr>
        <p:spPr>
          <a:xfrm>
            <a:off x="14261400" y="8638469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111" name="Connector 32">
            <a:extLst>
              <a:ext uri="{FF2B5EF4-FFF2-40B4-BE49-F238E27FC236}">
                <a16:creationId xmlns:a16="http://schemas.microsoft.com/office/drawing/2014/main" id="{4FB349B0-F893-A114-9F30-288F15A1B5BF}"/>
              </a:ext>
            </a:extLst>
          </p:cNvPr>
          <p:cNvCxnSpPr>
            <a:cxnSpLocks/>
            <a:stCxn id="16" idx="2"/>
            <a:endCxn id="63" idx="0"/>
          </p:cNvCxnSpPr>
          <p:nvPr/>
        </p:nvCxnSpPr>
        <p:spPr>
          <a:xfrm>
            <a:off x="11800000" y="5664181"/>
            <a:ext cx="0" cy="191653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32">
            <a:extLst>
              <a:ext uri="{FF2B5EF4-FFF2-40B4-BE49-F238E27FC236}">
                <a16:creationId xmlns:a16="http://schemas.microsoft.com/office/drawing/2014/main" id="{C263AE82-8863-B593-352C-65A926773097}"/>
              </a:ext>
            </a:extLst>
          </p:cNvPr>
          <p:cNvCxnSpPr>
            <a:cxnSpLocks/>
            <a:stCxn id="63" idx="2"/>
            <a:endCxn id="96" idx="0"/>
          </p:cNvCxnSpPr>
          <p:nvPr/>
        </p:nvCxnSpPr>
        <p:spPr>
          <a:xfrm>
            <a:off x="11800000" y="8320286"/>
            <a:ext cx="23241" cy="31818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32">
            <a:extLst>
              <a:ext uri="{FF2B5EF4-FFF2-40B4-BE49-F238E27FC236}">
                <a16:creationId xmlns:a16="http://schemas.microsoft.com/office/drawing/2014/main" id="{79DC566C-BB11-2F3C-71B4-466781BC0116}"/>
              </a:ext>
            </a:extLst>
          </p:cNvPr>
          <p:cNvCxnSpPr>
            <a:cxnSpLocks/>
            <a:stCxn id="17" idx="2"/>
            <a:endCxn id="64" idx="0"/>
          </p:cNvCxnSpPr>
          <p:nvPr/>
        </p:nvCxnSpPr>
        <p:spPr>
          <a:xfrm>
            <a:off x="15300000" y="5664181"/>
            <a:ext cx="22800" cy="191653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32">
            <a:extLst>
              <a:ext uri="{FF2B5EF4-FFF2-40B4-BE49-F238E27FC236}">
                <a16:creationId xmlns:a16="http://schemas.microsoft.com/office/drawing/2014/main" id="{BC1E8FD9-E30D-F6D7-732A-2E5ECD71EE9E}"/>
              </a:ext>
            </a:extLst>
          </p:cNvPr>
          <p:cNvCxnSpPr>
            <a:cxnSpLocks/>
            <a:stCxn id="64" idx="2"/>
            <a:endCxn id="101" idx="0"/>
          </p:cNvCxnSpPr>
          <p:nvPr/>
        </p:nvCxnSpPr>
        <p:spPr>
          <a:xfrm>
            <a:off x="15322800" y="8320286"/>
            <a:ext cx="0" cy="31818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32">
            <a:extLst>
              <a:ext uri="{FF2B5EF4-FFF2-40B4-BE49-F238E27FC236}">
                <a16:creationId xmlns:a16="http://schemas.microsoft.com/office/drawing/2014/main" id="{888DC4BB-78DD-C259-CA70-081CF755F845}"/>
              </a:ext>
            </a:extLst>
          </p:cNvPr>
          <p:cNvCxnSpPr>
            <a:cxnSpLocks/>
            <a:stCxn id="23" idx="2"/>
            <a:endCxn id="16" idx="0"/>
          </p:cNvCxnSpPr>
          <p:nvPr/>
        </p:nvCxnSpPr>
        <p:spPr>
          <a:xfrm flipH="1">
            <a:off x="11800000" y="4085708"/>
            <a:ext cx="1750000" cy="57847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32">
            <a:extLst>
              <a:ext uri="{FF2B5EF4-FFF2-40B4-BE49-F238E27FC236}">
                <a16:creationId xmlns:a16="http://schemas.microsoft.com/office/drawing/2014/main" id="{38009E0A-66EF-9804-6F79-9B6170DE3C01}"/>
              </a:ext>
            </a:extLst>
          </p:cNvPr>
          <p:cNvCxnSpPr>
            <a:cxnSpLocks/>
            <a:stCxn id="17" idx="0"/>
            <a:endCxn id="23" idx="2"/>
          </p:cNvCxnSpPr>
          <p:nvPr/>
        </p:nvCxnSpPr>
        <p:spPr>
          <a:xfrm flipH="1" flipV="1">
            <a:off x="13550000" y="4085708"/>
            <a:ext cx="1750000" cy="57847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1">
            <a:extLst>
              <a:ext uri="{FF2B5EF4-FFF2-40B4-BE49-F238E27FC236}">
                <a16:creationId xmlns:a16="http://schemas.microsoft.com/office/drawing/2014/main" id="{D5472591-7D7F-CE0B-486F-632761134039}"/>
              </a:ext>
            </a:extLst>
          </p:cNvPr>
          <p:cNvSpPr/>
          <p:nvPr/>
        </p:nvSpPr>
        <p:spPr>
          <a:xfrm>
            <a:off x="9144000" y="1019175"/>
            <a:ext cx="8858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통합형 — 합동방공 C2 조율층 신설 · 노드 65 (+IAOC) · 링크 223</a:t>
            </a:r>
            <a:endParaRPr lang="en-US" sz="1800" dirty="0"/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FC017CD3-13D4-D435-C70A-F27D2F1B3D7E}"/>
              </a:ext>
            </a:extLst>
          </p:cNvPr>
          <p:cNvSpPr/>
          <p:nvPr/>
        </p:nvSpPr>
        <p:spPr>
          <a:xfrm>
            <a:off x="7075000" y="1722175"/>
            <a:ext cx="3400000" cy="800000"/>
          </a:xfrm>
          <a:prstGeom prst="roundRect">
            <a:avLst>
              <a:gd name="adj" fmla="val 12000"/>
            </a:avLst>
          </a:prstGeom>
          <a:solidFill>
            <a:srgbClr val="FFE99A"/>
          </a:solidFill>
          <a:ln w="25400">
            <a:solidFill>
              <a:srgbClr val="B88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IAOC 통합공중작전통제소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To-Be 신설 조율층 — 서버 20 · 2.5초 · K40</a:t>
            </a:r>
          </a:p>
        </p:txBody>
      </p:sp>
      <p:cxnSp>
        <p:nvCxnSpPr>
          <p:cNvPr id="6" name="Connector 33">
            <a:extLst>
              <a:ext uri="{FF2B5EF4-FFF2-40B4-BE49-F238E27FC236}">
                <a16:creationId xmlns:a16="http://schemas.microsoft.com/office/drawing/2014/main" id="{120EA2A3-A1E6-8392-73F3-F7CD6BF5F331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3150000" y="2522175"/>
            <a:ext cx="5625000" cy="2142006"/>
          </a:xfrm>
          <a:prstGeom prst="line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Connector 33">
            <a:extLst>
              <a:ext uri="{FF2B5EF4-FFF2-40B4-BE49-F238E27FC236}">
                <a16:creationId xmlns:a16="http://schemas.microsoft.com/office/drawing/2014/main" id="{5AC1841B-853E-BE50-7A65-4AB70A472EEE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flipH="1">
            <a:off x="6550000" y="2522175"/>
            <a:ext cx="2225000" cy="2142006"/>
          </a:xfrm>
          <a:prstGeom prst="line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Connector 33">
            <a:extLst>
              <a:ext uri="{FF2B5EF4-FFF2-40B4-BE49-F238E27FC236}">
                <a16:creationId xmlns:a16="http://schemas.microsoft.com/office/drawing/2014/main" id="{557CAD24-7D78-91E7-86C0-A9E0AB4A7AD4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>
            <a:off x="8775000" y="2522175"/>
            <a:ext cx="3025000" cy="2142006"/>
          </a:xfrm>
          <a:prstGeom prst="line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nector 33">
            <a:extLst>
              <a:ext uri="{FF2B5EF4-FFF2-40B4-BE49-F238E27FC236}">
                <a16:creationId xmlns:a16="http://schemas.microsoft.com/office/drawing/2014/main" id="{465CC8DB-42FB-40CD-BF37-53135DB01BB4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8775000" y="2522175"/>
            <a:ext cx="6525000" cy="2142006"/>
          </a:xfrm>
          <a:prstGeom prst="line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nector 32">
            <a:extLst>
              <a:ext uri="{FF2B5EF4-FFF2-40B4-BE49-F238E27FC236}">
                <a16:creationId xmlns:a16="http://schemas.microsoft.com/office/drawing/2014/main" id="{81D237A0-CA5E-C609-27D3-7A2AFDBADF6E}"/>
              </a:ext>
            </a:extLst>
          </p:cNvPr>
          <p:cNvCxnSpPr>
            <a:cxnSpLocks/>
            <a:stCxn id="23" idx="1"/>
            <a:endCxn id="15" idx="0"/>
          </p:cNvCxnSpPr>
          <p:nvPr/>
        </p:nvCxnSpPr>
        <p:spPr>
          <a:xfrm flipH="1">
            <a:off x="6550000" y="3610708"/>
            <a:ext cx="5700000" cy="105347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365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F15E-B49C-3E4D-BED1-20CE7D9F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AC7F32-3B8B-9601-5FD2-F86EB5B4D603}"/>
              </a:ext>
            </a:extLst>
          </p:cNvPr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모의 파이프라인 구조와 평가 지표</a:t>
            </a:r>
            <a:endParaRPr lang="en-US" sz="4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18AE831-1B4A-BD3E-E485-14F3ECC43121}"/>
              </a:ext>
            </a:extLst>
          </p:cNvPr>
          <p:cNvSpPr/>
          <p:nvPr/>
        </p:nvSpPr>
        <p:spPr>
          <a:xfrm>
            <a:off x="1143000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A39C3B-B0DE-3C59-7D9B-B01AA3AE5653}"/>
              </a:ext>
            </a:extLst>
          </p:cNvPr>
          <p:cNvSpPr/>
          <p:nvPr/>
        </p:nvSpPr>
        <p:spPr>
          <a:xfrm>
            <a:off x="1143000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EF3EDD-752D-22D3-4F8A-088E42B4CD47}"/>
              </a:ext>
            </a:extLst>
          </p:cNvPr>
          <p:cNvSpPr/>
          <p:nvPr/>
        </p:nvSpPr>
        <p:spPr>
          <a:xfrm>
            <a:off x="1143000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D1CDA21-4B20-3019-B489-1DE9D3B24429}"/>
              </a:ext>
            </a:extLst>
          </p:cNvPr>
          <p:cNvSpPr/>
          <p:nvPr/>
        </p:nvSpPr>
        <p:spPr>
          <a:xfrm>
            <a:off x="114300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F64773B-C3C1-7551-C225-4DF58AB7BF5A}"/>
              </a:ext>
            </a:extLst>
          </p:cNvPr>
          <p:cNvSpPr/>
          <p:nvPr/>
        </p:nvSpPr>
        <p:spPr>
          <a:xfrm>
            <a:off x="365760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2154C02-C7D8-4DD4-C780-D608931F1013}"/>
              </a:ext>
            </a:extLst>
          </p:cNvPr>
          <p:cNvSpPr/>
          <p:nvPr/>
        </p:nvSpPr>
        <p:spPr>
          <a:xfrm>
            <a:off x="1362075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06855E2-E63E-83F8-A0F7-35BA2773672E}"/>
              </a:ext>
            </a:extLst>
          </p:cNvPr>
          <p:cNvSpPr/>
          <p:nvPr/>
        </p:nvSpPr>
        <p:spPr>
          <a:xfrm>
            <a:off x="1362075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2000"/>
              </a:lnSpc>
            </a:pP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탐지➡️항적융합</a:t>
            </a:r>
            <a:endParaRPr lang="en-US" sz="2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D29F3EE-9CAE-FDC6-B436-96AAFAC53E58}"/>
              </a:ext>
            </a:extLst>
          </p:cNvPr>
          <p:cNvSpPr/>
          <p:nvPr/>
        </p:nvSpPr>
        <p:spPr>
          <a:xfrm>
            <a:off x="1362075" y="3566145"/>
            <a:ext cx="21621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endParaRPr lang="en-US" sz="1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7CFA1DA-02AD-12B1-8809-9F406BC59F00}"/>
              </a:ext>
            </a:extLst>
          </p:cNvPr>
          <p:cNvSpPr/>
          <p:nvPr/>
        </p:nvSpPr>
        <p:spPr>
          <a:xfrm>
            <a:off x="3838575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7779BD3-98DB-30CD-BEB4-F557A8F46023}"/>
              </a:ext>
            </a:extLst>
          </p:cNvPr>
          <p:cNvSpPr/>
          <p:nvPr/>
        </p:nvSpPr>
        <p:spPr>
          <a:xfrm>
            <a:off x="3838575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45A4435-86A0-4E6F-0565-891960C56E29}"/>
              </a:ext>
            </a:extLst>
          </p:cNvPr>
          <p:cNvSpPr/>
          <p:nvPr/>
        </p:nvSpPr>
        <p:spPr>
          <a:xfrm>
            <a:off x="3838575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AC801A-9F01-626B-4344-24843D54386E}"/>
              </a:ext>
            </a:extLst>
          </p:cNvPr>
          <p:cNvSpPr/>
          <p:nvPr/>
        </p:nvSpPr>
        <p:spPr>
          <a:xfrm>
            <a:off x="383857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340D638-8087-497C-9012-C16F5A13DAEE}"/>
              </a:ext>
            </a:extLst>
          </p:cNvPr>
          <p:cNvSpPr/>
          <p:nvPr/>
        </p:nvSpPr>
        <p:spPr>
          <a:xfrm>
            <a:off x="635317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D164AEA-10E3-A404-8D00-D70C02042680}"/>
              </a:ext>
            </a:extLst>
          </p:cNvPr>
          <p:cNvSpPr/>
          <p:nvPr/>
        </p:nvSpPr>
        <p:spPr>
          <a:xfrm>
            <a:off x="4057650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375BEB7-95AB-0757-2F18-A34119FCA750}"/>
              </a:ext>
            </a:extLst>
          </p:cNvPr>
          <p:cNvSpPr/>
          <p:nvPr/>
        </p:nvSpPr>
        <p:spPr>
          <a:xfrm>
            <a:off x="4057650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>
              <a:lnSpc>
                <a:spcPct val="112000"/>
              </a:lnSpc>
            </a:pP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융합</a:t>
            </a:r>
            <a:r>
              <a:rPr lang="en-US" altLang="ko-KR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➡️ </a:t>
            </a: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식별</a:t>
            </a:r>
            <a:r>
              <a:rPr lang="en-US" altLang="ko-KR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할당준비</a:t>
            </a:r>
            <a:endParaRPr lang="en-US" sz="2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431C41B-9B13-8FC7-A521-5DF6BACBC71A}"/>
              </a:ext>
            </a:extLst>
          </p:cNvPr>
          <p:cNvSpPr/>
          <p:nvPr/>
        </p:nvSpPr>
        <p:spPr>
          <a:xfrm>
            <a:off x="4057650" y="3566145"/>
            <a:ext cx="21621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ko-KR" alt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적으로 확정하고 대응준비를 마치기까지</a:t>
            </a:r>
            <a:endParaRPr lang="en-US" sz="18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CD60B9A-AA06-4B40-A4DE-9793DBC92F30}"/>
              </a:ext>
            </a:extLst>
          </p:cNvPr>
          <p:cNvSpPr/>
          <p:nvPr/>
        </p:nvSpPr>
        <p:spPr>
          <a:xfrm>
            <a:off x="6534150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1443D6D-CAE2-3C7A-65FA-C469140A8184}"/>
              </a:ext>
            </a:extLst>
          </p:cNvPr>
          <p:cNvSpPr/>
          <p:nvPr/>
        </p:nvSpPr>
        <p:spPr>
          <a:xfrm>
            <a:off x="6534150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9795D3C-304A-9F1A-F517-FCB703E4CFB4}"/>
              </a:ext>
            </a:extLst>
          </p:cNvPr>
          <p:cNvSpPr/>
          <p:nvPr/>
        </p:nvSpPr>
        <p:spPr>
          <a:xfrm>
            <a:off x="653415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D3F2C82-93D8-0D18-F113-7491D185D3AE}"/>
              </a:ext>
            </a:extLst>
          </p:cNvPr>
          <p:cNvSpPr/>
          <p:nvPr/>
        </p:nvSpPr>
        <p:spPr>
          <a:xfrm>
            <a:off x="904875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CAE90E1-67E6-1E48-A1F0-80D86C4AA829}"/>
              </a:ext>
            </a:extLst>
          </p:cNvPr>
          <p:cNvSpPr/>
          <p:nvPr/>
        </p:nvSpPr>
        <p:spPr>
          <a:xfrm>
            <a:off x="6753225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2000"/>
              </a:lnSpc>
            </a:pP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</a:t>
            </a:r>
            <a:r>
              <a:rPr lang="en-US" altLang="ko-KR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협조 </a:t>
            </a:r>
            <a:endParaRPr lang="en-US" sz="2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28769E1-F185-C26E-9ACB-E0366014C651}"/>
              </a:ext>
            </a:extLst>
          </p:cNvPr>
          <p:cNvSpPr/>
          <p:nvPr/>
        </p:nvSpPr>
        <p:spPr>
          <a:xfrm>
            <a:off x="6753225" y="3566144"/>
            <a:ext cx="2294573" cy="61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ko-KR" alt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쏴도 되는지 허락을 받기까지 — 자기승인 축·권한위임은 0초</a:t>
            </a:r>
            <a:endParaRPr lang="en-US" sz="1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34BEDCD-230C-42E3-86B4-90DEE465176D}"/>
              </a:ext>
            </a:extLst>
          </p:cNvPr>
          <p:cNvSpPr/>
          <p:nvPr/>
        </p:nvSpPr>
        <p:spPr>
          <a:xfrm>
            <a:off x="11887200" y="2415039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1734436-444F-2458-7D01-C8742A078750}"/>
              </a:ext>
            </a:extLst>
          </p:cNvPr>
          <p:cNvSpPr/>
          <p:nvPr/>
        </p:nvSpPr>
        <p:spPr>
          <a:xfrm>
            <a:off x="9213270" y="2507167"/>
            <a:ext cx="25241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93E555F-7615-05FA-ED76-72E75FFBE8B5}"/>
              </a:ext>
            </a:extLst>
          </p:cNvPr>
          <p:cNvSpPr/>
          <p:nvPr/>
        </p:nvSpPr>
        <p:spPr>
          <a:xfrm>
            <a:off x="11887200" y="2415039"/>
            <a:ext cx="2524125" cy="57150"/>
          </a:xfrm>
          <a:prstGeom prst="rect">
            <a:avLst/>
          </a:prstGeom>
          <a:solidFill>
            <a:srgbClr val="E08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A946F72-C7A2-2F5E-77BC-261A9252D74C}"/>
              </a:ext>
            </a:extLst>
          </p:cNvPr>
          <p:cNvSpPr/>
          <p:nvPr/>
        </p:nvSpPr>
        <p:spPr>
          <a:xfrm>
            <a:off x="11887200" y="2415039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8DEF8DB-DE17-B948-596A-AFBF7859339D}"/>
              </a:ext>
            </a:extLst>
          </p:cNvPr>
          <p:cNvSpPr/>
          <p:nvPr/>
        </p:nvSpPr>
        <p:spPr>
          <a:xfrm>
            <a:off x="14401800" y="2415039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D8F3DD7-8E33-902B-5EDF-9111AA57F4ED}"/>
              </a:ext>
            </a:extLst>
          </p:cNvPr>
          <p:cNvSpPr/>
          <p:nvPr/>
        </p:nvSpPr>
        <p:spPr>
          <a:xfrm>
            <a:off x="12106275" y="2738889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altLang="ko-KR" b="1" dirty="0">
                <a:solidFill>
                  <a:srgbClr val="E08A00"/>
                </a:solidFill>
                <a:latin typeface="Arial" pitchFamily="34" charset="0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0EE0DD4-2B77-27E8-4943-C0CD9628E707}"/>
              </a:ext>
            </a:extLst>
          </p:cNvPr>
          <p:cNvSpPr/>
          <p:nvPr/>
        </p:nvSpPr>
        <p:spPr>
          <a:xfrm>
            <a:off x="12106275" y="3119889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>
              <a:lnSpc>
                <a:spcPct val="112000"/>
              </a:lnSpc>
            </a:pP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사수선정 확정 ➡️ 발사</a:t>
            </a:r>
            <a:endParaRPr lang="en-US" sz="2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DD36FF7-C14F-8038-A694-149835B72CBA}"/>
              </a:ext>
            </a:extLst>
          </p:cNvPr>
          <p:cNvSpPr/>
          <p:nvPr/>
        </p:nvSpPr>
        <p:spPr>
          <a:xfrm>
            <a:off x="12106275" y="3580884"/>
            <a:ext cx="21621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ko-KR" altLang="en-US" sz="16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확정된 교전명령이 ECS를 거쳐 발사대에 닿기까지</a:t>
            </a:r>
            <a:endParaRPr lang="en-US" sz="16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ABE0A05-BBD0-4777-579F-AB2EF0943C8E}"/>
              </a:ext>
            </a:extLst>
          </p:cNvPr>
          <p:cNvSpPr/>
          <p:nvPr/>
        </p:nvSpPr>
        <p:spPr>
          <a:xfrm>
            <a:off x="9251370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181669A-3FA4-2CAB-4B31-6595DB976A03}"/>
              </a:ext>
            </a:extLst>
          </p:cNvPr>
          <p:cNvSpPr/>
          <p:nvPr/>
        </p:nvSpPr>
        <p:spPr>
          <a:xfrm>
            <a:off x="9251370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B52C201E-4371-C105-0D5A-6B0BC7B0DB88}"/>
              </a:ext>
            </a:extLst>
          </p:cNvPr>
          <p:cNvSpPr/>
          <p:nvPr/>
        </p:nvSpPr>
        <p:spPr>
          <a:xfrm>
            <a:off x="9251370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7775715-C45D-46D5-AB07-1A646C4754B3}"/>
              </a:ext>
            </a:extLst>
          </p:cNvPr>
          <p:cNvSpPr/>
          <p:nvPr/>
        </p:nvSpPr>
        <p:spPr>
          <a:xfrm>
            <a:off x="925137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25144C6-3D34-2B94-C0B8-9A1735262AF9}"/>
              </a:ext>
            </a:extLst>
          </p:cNvPr>
          <p:cNvSpPr/>
          <p:nvPr/>
        </p:nvSpPr>
        <p:spPr>
          <a:xfrm>
            <a:off x="1176597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5E5FA5E-084C-07DD-AAA8-C473A895A890}"/>
              </a:ext>
            </a:extLst>
          </p:cNvPr>
          <p:cNvSpPr/>
          <p:nvPr/>
        </p:nvSpPr>
        <p:spPr>
          <a:xfrm>
            <a:off x="9470445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altLang="ko-KR" b="1" dirty="0">
                <a:solidFill>
                  <a:srgbClr val="1F6386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EAD5278-E68E-4161-CEE9-807EBFA5E99F}"/>
              </a:ext>
            </a:extLst>
          </p:cNvPr>
          <p:cNvSpPr/>
          <p:nvPr/>
        </p:nvSpPr>
        <p:spPr>
          <a:xfrm>
            <a:off x="9470445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cs typeface="Arial" pitchFamily="34" charset="-120"/>
              </a:rPr>
              <a:t>교전 가능 대기</a:t>
            </a:r>
            <a:endParaRPr lang="en-US" sz="21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62B833D-14BD-2321-31FD-18A752467278}"/>
              </a:ext>
            </a:extLst>
          </p:cNvPr>
          <p:cNvSpPr/>
          <p:nvPr/>
        </p:nvSpPr>
        <p:spPr>
          <a:xfrm>
            <a:off x="9470445" y="3566145"/>
            <a:ext cx="21621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ko-KR" altLang="en-US" sz="16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쏠 수 있는 포대가 생길 때까지 — WTA는 계속 후보 평가, 구조가 단축 못 함</a:t>
            </a:r>
            <a:endParaRPr lang="en-US" sz="16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A69F4D7-203F-E4C2-6C69-01640DB7C33D}"/>
              </a:ext>
            </a:extLst>
          </p:cNvPr>
          <p:cNvSpPr/>
          <p:nvPr/>
        </p:nvSpPr>
        <p:spPr>
          <a:xfrm>
            <a:off x="14620875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CD5B84E0-8DA4-9624-BA3B-511D2C5591AF}"/>
              </a:ext>
            </a:extLst>
          </p:cNvPr>
          <p:cNvSpPr/>
          <p:nvPr/>
        </p:nvSpPr>
        <p:spPr>
          <a:xfrm>
            <a:off x="14620875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E2BA269-C731-6FDA-6DA8-631B6BB90133}"/>
              </a:ext>
            </a:extLst>
          </p:cNvPr>
          <p:cNvSpPr/>
          <p:nvPr/>
        </p:nvSpPr>
        <p:spPr>
          <a:xfrm>
            <a:off x="14620875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B02A7132-7287-D991-06D5-E5D6F189CD82}"/>
              </a:ext>
            </a:extLst>
          </p:cNvPr>
          <p:cNvSpPr/>
          <p:nvPr/>
        </p:nvSpPr>
        <p:spPr>
          <a:xfrm>
            <a:off x="1462087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4B8CFCDF-22AA-5823-478F-6589BADC8169}"/>
              </a:ext>
            </a:extLst>
          </p:cNvPr>
          <p:cNvSpPr/>
          <p:nvPr/>
        </p:nvSpPr>
        <p:spPr>
          <a:xfrm>
            <a:off x="1713547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9815EC4-C5A0-E280-45FC-34D8E16F4A1E}"/>
              </a:ext>
            </a:extLst>
          </p:cNvPr>
          <p:cNvSpPr/>
          <p:nvPr/>
        </p:nvSpPr>
        <p:spPr>
          <a:xfrm>
            <a:off x="14839950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2CF6041A-4667-E991-4081-219597C2BE67}"/>
              </a:ext>
            </a:extLst>
          </p:cNvPr>
          <p:cNvSpPr/>
          <p:nvPr/>
        </p:nvSpPr>
        <p:spPr>
          <a:xfrm>
            <a:off x="14839950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2000"/>
              </a:lnSpc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</a:t>
            </a:r>
            <a:endParaRPr lang="en-US" sz="21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A6F0570-0FDE-A712-DEBC-A2C4BBFC29CA}"/>
              </a:ext>
            </a:extLst>
          </p:cNvPr>
          <p:cNvSpPr/>
          <p:nvPr/>
        </p:nvSpPr>
        <p:spPr>
          <a:xfrm>
            <a:off x="14839950" y="3566145"/>
            <a:ext cx="2294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>
              <a:lnSpc>
                <a:spcPct val="130909"/>
              </a:lnSpc>
            </a:pPr>
            <a:r>
              <a:rPr lang="ko-KR" alt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결과판정 — 실패 시 ④로 복귀(승인 재취득 없음) · 시간표 밖</a:t>
            </a:r>
            <a:endParaRPr lang="en-US" sz="1800" dirty="0"/>
          </a:p>
        </p:txBody>
      </p:sp>
      <p:sp>
        <p:nvSpPr>
          <p:cNvPr id="930" name="Shape">
            <a:extLst>
              <a:ext uri="{FF2B5EF4-FFF2-40B4-BE49-F238E27FC236}">
                <a16:creationId xmlns:a16="http://schemas.microsoft.com/office/drawing/2014/main" id="{E8B9E71D-1453-DCD4-24BF-79F97758F452}"/>
              </a:ext>
            </a:extLst>
          </p:cNvPr>
          <p:cNvSpPr/>
          <p:nvPr/>
        </p:nvSpPr>
        <p:spPr>
          <a:xfrm>
            <a:off x="1143000" y="4995000"/>
            <a:ext cx="5219700" cy="400000"/>
          </a:xfrm>
          <a:prstGeom prst="roundRect">
            <a:avLst>
              <a:gd name="adj" fmla="val 18000"/>
            </a:avLst>
          </a:prstGeom>
          <a:solidFill>
            <a:srgbClr val="D9E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1" name="Text">
            <a:extLst>
              <a:ext uri="{FF2B5EF4-FFF2-40B4-BE49-F238E27FC236}">
                <a16:creationId xmlns:a16="http://schemas.microsoft.com/office/drawing/2014/main" id="{36605B46-B9C1-9C98-B404-C9E453F7D7AF}"/>
              </a:ext>
            </a:extLst>
          </p:cNvPr>
          <p:cNvSpPr/>
          <p:nvPr/>
        </p:nvSpPr>
        <p:spPr>
          <a:xfrm>
            <a:off x="1143000" y="4995000"/>
            <a:ext cx="52197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입력·처리 — 보고선 전파 + 큐 대기·처리 (①+② 31.7 → 3.0초)</a:t>
            </a:r>
            <a:endParaRPr lang="en-US" dirty="0"/>
          </a:p>
        </p:txBody>
      </p:sp>
      <p:sp>
        <p:nvSpPr>
          <p:cNvPr id="932" name="Shape">
            <a:extLst>
              <a:ext uri="{FF2B5EF4-FFF2-40B4-BE49-F238E27FC236}">
                <a16:creationId xmlns:a16="http://schemas.microsoft.com/office/drawing/2014/main" id="{3E967799-B89A-B75F-06DA-627DBF170601}"/>
              </a:ext>
            </a:extLst>
          </p:cNvPr>
          <p:cNvSpPr/>
          <p:nvPr/>
        </p:nvSpPr>
        <p:spPr>
          <a:xfrm>
            <a:off x="6534150" y="4995000"/>
            <a:ext cx="5219700" cy="400000"/>
          </a:xfrm>
          <a:prstGeom prst="roundRect">
            <a:avLst>
              <a:gd name="adj" fmla="val 18000"/>
            </a:avLst>
          </a:prstGeom>
          <a:solidFill>
            <a:srgbClr val="FBF0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3" name="Text">
            <a:extLst>
              <a:ext uri="{FF2B5EF4-FFF2-40B4-BE49-F238E27FC236}">
                <a16:creationId xmlns:a16="http://schemas.microsoft.com/office/drawing/2014/main" id="{5F4233E2-7D3F-89FB-223C-ACA7CB41E7AF}"/>
              </a:ext>
            </a:extLst>
          </p:cNvPr>
          <p:cNvSpPr/>
          <p:nvPr/>
        </p:nvSpPr>
        <p:spPr>
          <a:xfrm>
            <a:off x="6534150" y="4995000"/>
            <a:ext cx="52197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3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승인·협조 = 유일한 사람 개입 구간(C2 구조) 14.6→0.7초 · ④ 대기 = 구조가 단축 못 함 51.3→90.2초 — 상쇄 발생</a:t>
            </a:r>
            <a:endParaRPr lang="en-US" dirty="0"/>
          </a:p>
        </p:txBody>
      </p:sp>
      <p:sp>
        <p:nvSpPr>
          <p:cNvPr id="934" name="Shape">
            <a:extLst>
              <a:ext uri="{FF2B5EF4-FFF2-40B4-BE49-F238E27FC236}">
                <a16:creationId xmlns:a16="http://schemas.microsoft.com/office/drawing/2014/main" id="{7BCA2F5F-D315-4EAD-C575-17FB24D52B99}"/>
              </a:ext>
            </a:extLst>
          </p:cNvPr>
          <p:cNvSpPr/>
          <p:nvPr/>
        </p:nvSpPr>
        <p:spPr>
          <a:xfrm>
            <a:off x="11925300" y="4995000"/>
            <a:ext cx="5219700" cy="400000"/>
          </a:xfrm>
          <a:prstGeom prst="roundRect">
            <a:avLst>
              <a:gd name="adj" fmla="val 18000"/>
            </a:avLst>
          </a:prstGeom>
          <a:solidFill>
            <a:srgbClr val="E3F0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5" name="Text">
            <a:extLst>
              <a:ext uri="{FF2B5EF4-FFF2-40B4-BE49-F238E27FC236}">
                <a16:creationId xmlns:a16="http://schemas.microsoft.com/office/drawing/2014/main" id="{F6E9D8EC-EE5D-9A5C-0FB8-C3F2E82AD0FF}"/>
              </a:ext>
            </a:extLst>
          </p:cNvPr>
          <p:cNvSpPr/>
          <p:nvPr/>
        </p:nvSpPr>
        <p:spPr>
          <a:xfrm>
            <a:off x="11925300" y="4995000"/>
            <a:ext cx="52197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8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명령 전파 8.9→6.8초 · 합계(탐지→발사) 106.4 → 100.7초 · ⑥ BDA·재교전은 시간표 밖(임무 지표)</a:t>
            </a:r>
            <a:endParaRPr lang="en-US" dirty="0"/>
          </a:p>
        </p:txBody>
      </p:sp>
      <p:sp>
        <p:nvSpPr>
          <p:cNvPr id="936" name="Shape">
            <a:extLst>
              <a:ext uri="{FF2B5EF4-FFF2-40B4-BE49-F238E27FC236}">
                <a16:creationId xmlns:a16="http://schemas.microsoft.com/office/drawing/2014/main" id="{8BEF2431-AD80-8F57-07B8-76F592285D28}"/>
              </a:ext>
            </a:extLst>
          </p:cNvPr>
          <p:cNvSpPr/>
          <p:nvPr/>
        </p:nvSpPr>
        <p:spPr>
          <a:xfrm>
            <a:off x="1143000" y="5560000"/>
            <a:ext cx="7867650" cy="4200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7" name="Text">
            <a:extLst>
              <a:ext uri="{FF2B5EF4-FFF2-40B4-BE49-F238E27FC236}">
                <a16:creationId xmlns:a16="http://schemas.microsoft.com/office/drawing/2014/main" id="{159C6527-5148-8EB4-806B-B7334E7FE113}"/>
              </a:ext>
            </a:extLst>
          </p:cNvPr>
          <p:cNvSpPr/>
          <p:nvPr/>
        </p:nvSpPr>
        <p:spPr>
          <a:xfrm>
            <a:off x="1457325" y="5790000"/>
            <a:ext cx="7300000" cy="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지표 1   </a:t>
            </a:r>
            <a:r>
              <a:rPr lang="en-US" sz="16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— 탐지→발사 파이프라인 시간표</a:t>
            </a:r>
            <a:endParaRPr lang="en-US" dirty="0"/>
          </a:p>
        </p:txBody>
      </p:sp>
      <p:sp>
        <p:nvSpPr>
          <p:cNvPr id="939" name="Shape">
            <a:extLst>
              <a:ext uri="{FF2B5EF4-FFF2-40B4-BE49-F238E27FC236}">
                <a16:creationId xmlns:a16="http://schemas.microsoft.com/office/drawing/2014/main" id="{D1450457-D615-DA18-9FEB-8EDA3C7CC600}"/>
              </a:ext>
            </a:extLst>
          </p:cNvPr>
          <p:cNvSpPr/>
          <p:nvPr/>
        </p:nvSpPr>
        <p:spPr>
          <a:xfrm>
            <a:off x="9277350" y="5560000"/>
            <a:ext cx="7867650" cy="4200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0" name="Text">
            <a:extLst>
              <a:ext uri="{FF2B5EF4-FFF2-40B4-BE49-F238E27FC236}">
                <a16:creationId xmlns:a16="http://schemas.microsoft.com/office/drawing/2014/main" id="{516A789E-6084-694E-CE0C-BFA4766DF68A}"/>
              </a:ext>
            </a:extLst>
          </p:cNvPr>
          <p:cNvSpPr/>
          <p:nvPr/>
        </p:nvSpPr>
        <p:spPr>
          <a:xfrm>
            <a:off x="9591675" y="5790000"/>
            <a:ext cx="7300000" cy="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지표 2   </a:t>
            </a:r>
            <a:r>
              <a:rPr lang="en-US" sz="16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위협항적별 로그 병렬 대조 (캡처)</a:t>
            </a:r>
            <a:endParaRPr lang="en-US" dirty="0"/>
          </a:p>
        </p:txBody>
      </p:sp>
      <p:sp>
        <p:nvSpPr>
          <p:cNvPr id="942" name="Text">
            <a:extLst>
              <a:ext uri="{FF2B5EF4-FFF2-40B4-BE49-F238E27FC236}">
                <a16:creationId xmlns:a16="http://schemas.microsoft.com/office/drawing/2014/main" id="{17837380-4F8D-E20F-29CB-4B8E98C58043}"/>
              </a:ext>
            </a:extLst>
          </p:cNvPr>
          <p:cNvSpPr/>
          <p:nvPr/>
        </p:nvSpPr>
        <p:spPr>
          <a:xfrm>
            <a:off x="9591675" y="9833345"/>
            <a:ext cx="7300000" cy="3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seed에서 같은 위협이 두 구조를 통과한 결과 — SC3 예시: 추적 286건 중 개선 79 · 악화 17 · 동일 190</a:t>
            </a:r>
            <a:endParaRPr lang="en-US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FA270922-E768-5C51-BAF1-1973308211A8}"/>
              </a:ext>
            </a:extLst>
          </p:cNvPr>
          <p:cNvSpPr/>
          <p:nvPr/>
        </p:nvSpPr>
        <p:spPr>
          <a:xfrm>
            <a:off x="1390650" y="3566145"/>
            <a:ext cx="21621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ko-KR" alt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레이더가 본 것이 지휘소의 항적이 될 때까지</a:t>
            </a:r>
            <a:endParaRPr lang="en-US" sz="1800" dirty="0"/>
          </a:p>
        </p:txBody>
      </p:sp>
      <p:sp>
        <p:nvSpPr>
          <p:cNvPr id="53" name="Shape 27">
            <a:extLst>
              <a:ext uri="{FF2B5EF4-FFF2-40B4-BE49-F238E27FC236}">
                <a16:creationId xmlns:a16="http://schemas.microsoft.com/office/drawing/2014/main" id="{2ED28395-5E5C-7F73-1515-96C45C1FCF02}"/>
              </a:ext>
            </a:extLst>
          </p:cNvPr>
          <p:cNvSpPr/>
          <p:nvPr/>
        </p:nvSpPr>
        <p:spPr>
          <a:xfrm>
            <a:off x="6523673" y="2400300"/>
            <a:ext cx="2524125" cy="57150"/>
          </a:xfrm>
          <a:prstGeom prst="rect">
            <a:avLst/>
          </a:prstGeom>
          <a:solidFill>
            <a:srgbClr val="E08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30">
            <a:extLst>
              <a:ext uri="{FF2B5EF4-FFF2-40B4-BE49-F238E27FC236}">
                <a16:creationId xmlns:a16="http://schemas.microsoft.com/office/drawing/2014/main" id="{456B2C45-CECE-2981-A551-B4396F187B30}"/>
              </a:ext>
            </a:extLst>
          </p:cNvPr>
          <p:cNvSpPr/>
          <p:nvPr/>
        </p:nvSpPr>
        <p:spPr>
          <a:xfrm>
            <a:off x="6749761" y="2753925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altLang="ko-KR" b="1" dirty="0">
                <a:solidFill>
                  <a:srgbClr val="E08A00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18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31728CC-5731-156B-B364-763DBD2A9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675" y="6242670"/>
            <a:ext cx="7421230" cy="305400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8226495B-6368-1F8A-59BC-46694D98B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860" y="6351195"/>
            <a:ext cx="6184900" cy="10414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1C0CC82A-EFAD-1ADB-3D98-A0710ED62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537" y="7502083"/>
            <a:ext cx="7772400" cy="196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563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구성과 대기행렬 파라미터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288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C2 노드 = 서버 c · 유한 대기실 K의 대기행렬. As-Is 64노드 / To-Be 65노드(+IAOC).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2486025"/>
            <a:ext cx="16002000" cy="466725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52525" y="2495550"/>
            <a:ext cx="114300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43025" y="2667000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95525" y="2495550"/>
            <a:ext cx="93154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486025" y="2667000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610975" y="2495550"/>
            <a:ext cx="12382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725275" y="266700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849225" y="2495550"/>
            <a:ext cx="12382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963525" y="266700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087475" y="2495550"/>
            <a:ext cx="16192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201775" y="2667000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처리시간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706725" y="2495550"/>
            <a:ext cx="14287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5821025" y="266700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대기실 K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52525" y="3105150"/>
            <a:ext cx="1143000" cy="571500"/>
          </a:xfrm>
          <a:prstGeom prst="rect">
            <a:avLst/>
          </a:prstGeom>
          <a:solidFill>
            <a:srgbClr val="E6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43025" y="3257550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295525" y="3105150"/>
            <a:ext cx="9315450" cy="571500"/>
          </a:xfrm>
          <a:prstGeom prst="rect">
            <a:avLst/>
          </a:prstGeom>
          <a:solidFill>
            <a:srgbClr val="E6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486025" y="3257550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IAOC 통합공중작전통제소 </a:t>
            </a: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(To-Be 전용)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610975" y="3105150"/>
            <a:ext cx="1238250" cy="571500"/>
          </a:xfrm>
          <a:prstGeom prst="rect">
            <a:avLst/>
          </a:prstGeom>
          <a:solidFill>
            <a:srgbClr val="E6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1725275" y="325755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849225" y="3105150"/>
            <a:ext cx="1238250" cy="571500"/>
          </a:xfrm>
          <a:prstGeom prst="rect">
            <a:avLst/>
          </a:prstGeom>
          <a:solidFill>
            <a:srgbClr val="E6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2963525" y="325755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4087475" y="3105150"/>
            <a:ext cx="1619250" cy="571500"/>
          </a:xfrm>
          <a:prstGeom prst="rect">
            <a:avLst/>
          </a:prstGeom>
          <a:solidFill>
            <a:srgbClr val="E6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4201775" y="3257550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2.5초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706725" y="3105150"/>
            <a:ext cx="1428750" cy="571500"/>
          </a:xfrm>
          <a:prstGeom prst="rect">
            <a:avLst/>
          </a:prstGeom>
          <a:solidFill>
            <a:srgbClr val="E6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5821025" y="325755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52525" y="3676650"/>
            <a:ext cx="114300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343025" y="3838575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295525" y="3676650"/>
            <a:ext cx="93154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486025" y="3838575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KAMDOC 탄도탄 작전통제소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610975" y="3676650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1725275" y="38385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849225" y="3676650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2963525" y="38385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4087475" y="3676650"/>
            <a:ext cx="1619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4201775" y="3838575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37.5초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706725" y="367665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5821025" y="383857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43025" y="4410075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486025" y="4410075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MCRC 중앙방공통제소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1725275" y="44100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963525" y="44100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201775" y="4410075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37.5초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5821025" y="441007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343025" y="4981575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486025" y="4981575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방공C2A/AOC (1군단·수방사)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725275" y="49815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963525" y="49815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201775" y="4981575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3.5초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5821025" y="498157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152525" y="5400675"/>
            <a:ext cx="114300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1343025" y="5562600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2295525" y="5400675"/>
            <a:ext cx="93154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2486025" y="5562600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ICC 정보통합센터 (W1~4·C1~3·E1~3·MDU)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1610975" y="5400675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11725275" y="556260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2849225" y="5400675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12963525" y="556260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4087475" y="5400675"/>
            <a:ext cx="1619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4201775" y="5562600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9초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706725" y="5400675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15821025" y="556260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52525" y="5981700"/>
            <a:ext cx="114300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1343025" y="6143625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2295525" y="5981700"/>
            <a:ext cx="93154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2486025" y="6143625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교전통제소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1610975" y="5981700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11725275" y="614362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2849225" y="5981700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12963525" y="614362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4087475" y="5981700"/>
            <a:ext cx="1619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14201775" y="6143625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3.5초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5706725" y="598170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15821025" y="614362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152525" y="6562725"/>
            <a:ext cx="114300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1343025" y="6724650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2295525" y="6562725"/>
            <a:ext cx="93154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2486025" y="6724650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 19 · 요격 포대 15 (천마 5 · 천궁-II 6 · 비호 2 · PAC-3 1 · L-SAM 1)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1610975" y="6562725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11725275" y="672465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2849225" y="6562725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12963525" y="672465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14087475" y="6562725"/>
            <a:ext cx="1619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14201775" y="6724650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15706725" y="6562725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15821025" y="672465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 구성과 보고 주기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288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19대 6종. 센서→C2 보고주기 차등이 항적 갱신 속도를 결정한다 (IADS_codex 정본, ADR-057).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2486025"/>
            <a:ext cx="16002000" cy="6334125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52525" y="2495550"/>
            <a:ext cx="6753225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62075" y="266700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905750" y="2495550"/>
            <a:ext cx="10477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039100" y="2667000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53500" y="2495550"/>
            <a:ext cx="14287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086850" y="2667000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탐지거리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382250" y="2495550"/>
            <a:ext cx="6753225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591800" y="266700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보고주기 (비례 막대)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2075" y="325755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Pine Block-B (GPR)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39100" y="3257550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86850" y="3257550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km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91800" y="3286125"/>
            <a:ext cx="457200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5297150" y="3257550"/>
            <a:ext cx="5425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16초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52525" y="367665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362075" y="3838575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FPS-117 (ACR_E · ACR_W)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05750" y="3676650"/>
            <a:ext cx="1047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039100" y="3838575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53500" y="367665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086850" y="3838575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470 km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382250" y="367665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591800" y="3867150"/>
            <a:ext cx="228600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011150" y="3838575"/>
            <a:ext cx="4286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8초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52525" y="4257675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362075" y="441960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TPS-880K 국지방공레이더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905750" y="4257675"/>
            <a:ext cx="1047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039100" y="4419600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953500" y="4257675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086850" y="4419600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km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382250" y="4257675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591800" y="4448175"/>
            <a:ext cx="114300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1868150" y="4419600"/>
            <a:ext cx="4275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4초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52525" y="483870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362075" y="5000625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천궁-II MFR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905750" y="4838700"/>
            <a:ext cx="1047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039100" y="5000625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953500" y="483870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086850" y="5000625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km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382250" y="483870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0591800" y="5029200"/>
            <a:ext cx="28575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1010900" y="5000625"/>
            <a:ext cx="388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52525" y="5419725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362075" y="558165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Patriot 레이더 (MFR_MDU_M)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905750" y="5419725"/>
            <a:ext cx="1047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8039100" y="5581650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953500" y="5419725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9086850" y="5581650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km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0382250" y="5419725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591800" y="5610225"/>
            <a:ext cx="28575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1010900" y="5581650"/>
            <a:ext cx="388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152525" y="600075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362075" y="6162675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L-SAM MFR (MFR_MDU_L)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7905750" y="6000750"/>
            <a:ext cx="1047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8039100" y="6162675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8953500" y="600075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9086850" y="6162675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 km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0382250" y="600075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0591800" y="6191250"/>
            <a:ext cx="28575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1010900" y="6162675"/>
            <a:ext cx="388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146995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가정과 한계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3242370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33600" y="3156645"/>
            <a:ext cx="15265527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육·공 협조 채널의 20·45·135초는 </a:t>
            </a:r>
            <a:r>
              <a:rPr lang="en-US" sz="2100" dirty="0" err="1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가정값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33500" y="3950855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33600" y="3865130"/>
            <a:ext cx="1401259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지상배치 방공 C2 한정 — </a:t>
            </a:r>
            <a:r>
              <a:rPr lang="ko-KR" alt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항공</a:t>
            </a:r>
            <a:r>
              <a:rPr lang="en-US" sz="2100" dirty="0" err="1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기·해상</a:t>
            </a: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자산(KNTDS·함정)·상위 </a:t>
            </a:r>
            <a:r>
              <a:rPr lang="en-US" sz="2100" dirty="0" err="1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작전사</a:t>
            </a: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반영 </a:t>
            </a:r>
            <a:r>
              <a:rPr lang="en-US" altLang="ko-KR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33500" y="4677291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33600" y="4627893"/>
            <a:ext cx="1608419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국지방공레이더의 MCRC 직접 보고는 As-</a:t>
            </a:r>
            <a:r>
              <a:rPr lang="en-US" sz="2100" dirty="0" err="1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Is에</a:t>
            </a: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반영 </a:t>
            </a:r>
            <a:r>
              <a:rPr lang="en-US" altLang="ko-KR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To-Be </a:t>
            </a:r>
            <a:r>
              <a:rPr lang="en-US" sz="2100" dirty="0" err="1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측은</a:t>
            </a: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반영</a:t>
            </a: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BE172B-17FC-3642-864E-FF2B5A90E23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52e3131-ef1c-4a9c-ae67-58e836f03e9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1728</Words>
  <Application>Microsoft Macintosh PowerPoint</Application>
  <PresentationFormat>사용자 지정</PresentationFormat>
  <Paragraphs>267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오주연</cp:lastModifiedBy>
  <cp:revision>17</cp:revision>
  <dcterms:created xsi:type="dcterms:W3CDTF">2026-08-02T14:45:44Z</dcterms:created>
  <dcterms:modified xsi:type="dcterms:W3CDTF">2026-08-04T14:05:44Z</dcterms:modified>
</cp:coreProperties>
</file>