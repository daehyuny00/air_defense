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TPS-880K(4·6) 대 천궁-II 레이더(5·9), 순항도 FPS-117(5) 대 Patriot 레이더(7).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접수→결심 = 사수를 정하기까지 · 결심→발사 = 포대가 쏠 수 있게 되기까지의 사수 대기 포함 · 붉은 칸 = 차이 15% 이상이면서 10초 이상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762445"/>
                <a:gridCol w="1272877"/>
                <a:gridCol w="1664532"/>
                <a:gridCol w="1664532"/>
                <a:gridCol w="1468704"/>
                <a:gridCol w="1272877"/>
                <a:gridCol w="1958273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762445"/>
                <a:gridCol w="1272877"/>
                <a:gridCol w="1664532"/>
                <a:gridCol w="1664532"/>
                <a:gridCol w="1468704"/>
                <a:gridCol w="1272877"/>
                <a:gridCol w="1958273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282 · 소형 무인기 449 대 465):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119초 · 순항 107 → 87초): 창이 이미 열려 있어 결심이 빨라진 만큼 발사·명중도 당겨진다. 다만 창이 넓어 어차피 창 안에서 맞히므로 격추 수는 같다(15 대 15 · 16 대 16).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18초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처리 용량이 있는 부분 전부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이용률은 생성 구간 1800초 기준 · 「용량 없음」인 부분은 부하가 커져도 결과에 영향이 없어 분석 범위 밖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280160"/>
          <a:ext cx="11064240" cy="3621024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2834640"/>
                <a:gridCol w="2286000"/>
                <a:gridCol w="19202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용량 모델(개념값)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관측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관측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6·10·20 · 대기실 60·100·40 · 항적당 37.5초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탄도탄작전통제소 0.51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중앙방공통제소 0.29 · 대기 ≤1.4초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탄도탄작전통제소 0.45 · 통합공중작전통제소 0.20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강도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통제소(As-Is)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5 · 대기실 25 · 명령 인가 9초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0.14(3여단 145건)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없음 — 통합망으로 포대 직접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 아닌 지연 +1칸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미군·군단 방공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6~12 · 3.5초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≤0.03 · 수방사·서북도서 도착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≤0.03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8 · 대기실 16 · 명령 접수 3.5초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 · L-SAM 10 · PAC-3·Patriot 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L-SAM 5/10 · 3/10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L-SAM 7/10 · 6/10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THAAD만 포화 — 물리(요격 창 겹침)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발사대·발사 간격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발사대 4~6기 · 발사대당 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1분 최대 5~6발 · 10분 18~20발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탄약·재장전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24 · THAAD 48 · PAC-3 72 · 재장전 900초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탄 소진 누수 19건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상위 3개 포대 41% · 0발 55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탄 소진 누수 13건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상위 3개 45% · 0발 59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상층 L-SAM 24발이 먼저 닿는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통신 계선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용량 없음 — 지연만(데이터링크 1초 · 음성 20초 · 채팅 40초)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전달 중 전문 최대 0.69건(THAAD→탄도탄작전통제소 음성)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0.62건(그린파인 보고)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5B6B7A"/>
                          </a:solidFill>
                          <a:latin typeface="Malgun Gothic"/>
                          <a:ea typeface="Malgun Gothic"/>
                        </a:rPr>
                        <a:t>포화 자체가 생기지 않음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전송 1 · 대기 4 · As-Is 음성/VTC 135초 · To-Be 1초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버려짐 121건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대기 31건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버려짐 0 · 대기 25건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상급이 군단 방공 교전을 모름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탐지 레이더(71기)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용량 없음 — 추적 수·빔 자원 제한 없음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보고 14기 · 그린파인 충북 140개 · FPS-117 강원북 16건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같음(강원북 64건)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5B6B7A"/>
                          </a:solidFill>
                          <a:latin typeface="Malgun Gothic"/>
                          <a:ea typeface="Malgun Gothic"/>
                        </a:rPr>
                        <a:t>분석 불가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7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실제로 포화된 것은 THAAD 채널과 상층 포대 탄약뿐 — 지휘 구조가 아니라 물리(요격 창)와 자원(보유탄)이 정한다. 지휘소는 용량의 절반 아래, 통신·레이더는 용량이 없어 포화가 생길 수 없다.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병목은 상층 포대 3곳의 채널과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이용률(생성 구간 1800초 기준 · 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6492240" y="118872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B3261E"/>
                </a:solidFill>
                <a:latin typeface="Malgun Gothic"/>
                <a:ea typeface="Malgun Gothic"/>
              </a:rPr>
              <a:t>포대 — 여기가 병목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60020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492240" y="167335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· 26건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583680" y="239572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채널 포화 · 차단(As-Is)
To-Be 6/6 · 24건</a:t>
            </a:r>
          </a:p>
        </p:txBody>
      </p:sp>
      <p:sp>
        <p:nvSpPr>
          <p:cNvPr id="45" name="Shape 45"/>
          <p:cNvSpPr/>
          <p:nvPr/>
        </p:nvSpPr>
        <p:spPr>
          <a:xfrm>
            <a:off x="9098280" y="160020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9098280" y="167335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9189720" y="239572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48" name="Shape 48"/>
          <p:cNvSpPr/>
          <p:nvPr/>
        </p:nvSpPr>
        <p:spPr>
          <a:xfrm>
            <a:off x="6492240" y="306324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9" name="Text 49"/>
          <p:cNvSpPr txBox="1"/>
          <p:nvPr/>
        </p:nvSpPr>
        <p:spPr>
          <a:xfrm>
            <a:off x="6492240" y="313639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41% · 45%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6583680" y="385876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상위 3개 포대 발사 비중
(THAAD 39·38 · 수도 L-SAM 33·39 · 중북 24·35)</a:t>
            </a:r>
          </a:p>
        </p:txBody>
      </p:sp>
      <p:sp>
        <p:nvSpPr>
          <p:cNvPr id="51" name="Shape 51"/>
          <p:cNvSpPr/>
          <p:nvPr/>
        </p:nvSpPr>
        <p:spPr>
          <a:xfrm>
            <a:off x="9098280" y="306324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2" name="Text 52"/>
          <p:cNvSpPr txBox="1"/>
          <p:nvPr/>
        </p:nvSpPr>
        <p:spPr>
          <a:xfrm>
            <a:off x="9098280" y="313639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55 · 59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9189720" y="385876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한 발도 안 쏜 포대(84개 중)
— 요격 창 밖의 위치</a:t>
            </a:r>
          </a:p>
        </p:txBody>
      </p:sp>
      <p:sp>
        <p:nvSpPr>
          <p:cNvPr id="54" name="Shape 54"/>
          <p:cNvSpPr/>
          <p:nvPr/>
        </p:nvSpPr>
        <p:spPr>
          <a:xfrm>
            <a:off x="6492240" y="4572000"/>
            <a:ext cx="5120640" cy="17373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Text 55"/>
          <p:cNvSpPr txBox="1"/>
          <p:nvPr/>
        </p:nvSpPr>
        <p:spPr>
          <a:xfrm>
            <a:off x="6629400" y="466344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6629400" y="5010912"/>
            <a:ext cx="4846320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포화된 두 자리(THAAD 채널·상층 탄)는 두 체계에 같은 물리·자원의 벽이다. 지휘 구조의 차이는 창구 포화가 아니라 거치는 창구의 수(As-Is 방공여단 +1)와 창구 사이의 매체로 나타난다.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 포화는 강도 3배부터(탄도탄작전통제소 1.0 · 통합공중작전통제소 0.98). 거기서 To-Be 우위는 +14 → +117(강도 5배)로 커진다.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548640" y="5440680"/>
            <a:ext cx="5760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1" dirty="0">
                <a:solidFill>
                  <a:srgbClr val="5B6B7A"/>
                </a:solidFill>
                <a:latin typeface="Malgun Gothic"/>
                <a:ea typeface="Malgun Gothic"/>
              </a:rPr>
              <a:t>이용률은 「항적 접수 처리」만 센 값이다 — 예측 평가·협조 전문 판독·상태 보고 읽기는 창구 시간을 쓰지 않으므로 실제 운용자 부하보다 낮게 읽어야 한다(한계 참조).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80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차이가 격추 수로 드러나는 자리는 「명령이 요격 창 안에 닿아야 하는 위협」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20954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방사포 51 → 64 — 두 체계 격추 차이의 거의 전부. 요격 창이 넓은 위협(순항·전투기·소형 무인기)과 THAAD가 맡는 탄도탄에서는 시간·노드 수로만 나타난다.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 — 대기 지시의 발사 권한(교전 규칙)이 격추 수를 가장 크게 움직이는 가정.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모두 용량의 절반 아래(통합공중작전통제소 0.20). 포화는 THAAD 채널(6/6)과 상층 L-SAM 탄(24발)뿐이며 두 체계에 같은 벽. 지휘소 포화와 To-Be 우위 확대는 강도 3배 이상에서.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④ To-Be의 남은 빈틈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81558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군단 방공이 한미 협조 고리 밖에 있어 생기는 중복 발사 12건과, 공중 위협이 발사 원점에서 즉시 보이는 센서 모델(지형 차폐 없음) — 순항미사일의 사수(Patriot 대 천마)가 이 가정에 달려 있다.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8016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3152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같지만(+18·+19·+6) 크기는 seed 하나의 난수 잡음(±10 안팎)을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429768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부하는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48056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평가·협조 전문 판독·포대 상태 보고 읽기·결과 판독은 창구 시간을 쓰지 않는다. 이용률 0.2~0.5는 실제보다 낮게 읽어야 하고, 통합 지휘소에 모이는 판독 부하는 재지 않았다.</a:t>
            </a:r>
          </a:p>
        </p:txBody>
      </p:sp>
      <p:sp>
        <p:nvSpPr>
          <p:cNvPr id="14" name="Shape 14"/>
          <p:cNvSpPr/>
          <p:nvPr/>
        </p:nvSpPr>
        <p:spPr>
          <a:xfrm>
            <a:off x="804672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77824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「레이더가 바빠서·가려서 늦게 본다」는 효과가 어떤 수치에도 없다. 공중 위협을 발사 원점에서 생성해도 생성→탐지가 0~2초인 이유이며, 순항미사일의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128016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통신 계선에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음성 회선에 전문이 몰려도 각각 20초 뒤 따로 닿는다 — 실제 음성 회선은 한 번에 한 통화이므로 As-Is에 유리한 가정. 교전 현황 공유 채널만 용량이 있다(As-Is 121건 손실).</a:t>
            </a:r>
          </a:p>
        </p:txBody>
      </p:sp>
      <p:sp>
        <p:nvSpPr>
          <p:cNvPr id="22" name="Shape 22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448056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모두 상층 포대 처리량을 넉넉하게 본다. 요격 확률은 상수(L-SAM 0.75)이며 명중은 난수로 정해진다.</a:t>
            </a:r>
          </a:p>
        </p:txBody>
      </p:sp>
      <p:sp>
        <p:nvSpPr>
          <p:cNvPr id="26" name="Shape 26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77824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천마의 To-Be 한정 순항 교전(사용자 가정), 한미 협조 매체(음성 20초 ↔ 데이터링크 1초),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