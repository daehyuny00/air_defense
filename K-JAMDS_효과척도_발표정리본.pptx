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12191695" cy="6858000"/>
  <p:notesSz cx="6858000" cy="9144000"/>
  <p:defaultTextStyle>
    <a:defPPr>
      <a:defRPr lang="ko-KR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6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600" b="0" i="0" dirty="0">
                <a:solidFill>
                  <a:srgbClr val="CADCFC"/>
                </a:solidFill>
                <a:latin typeface="Malgun Gothic"/>
                <a:ea typeface="Malgun Gothic"/>
              </a:rPr>
              <a:t>K-JAMDS 지휘통제 효과척도 분석 — 발표 정리본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4000" b="1" i="0" dirty="0">
                <a:solidFill>
                  <a:srgbClr val="FFFFFF"/>
                </a:solidFill>
                <a:latin typeface="Malgun Gothic"/>
                <a:ea typeface="Malgun Gothic"/>
              </a:rPr>
              <a:t>현 체계(As-Is) 대 Kill-web(To-Be)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31520" y="2880360"/>
            <a:ext cx="10698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2000" b="0" i="0" dirty="0">
                <a:solidFill>
                  <a:srgbClr val="CADCFC"/>
                </a:solidFill>
                <a:latin typeface="Malgun Gothic"/>
                <a:ea typeface="Malgun Gothic"/>
              </a:rPr>
              <a:t>분절형 대 통합형 — 결심 과정 · 위협별 경로와 노드 수 · 시간 · 부하 · 결론 · 한계</a:t>
            </a:r>
          </a:p>
        </p:txBody>
      </p:sp>
      <p:sp>
        <p:nvSpPr>
          <p:cNvPr id="6" name="Shape 6"/>
          <p:cNvSpPr/>
          <p:nvPr/>
        </p:nvSpPr>
        <p:spPr>
          <a:xfrm>
            <a:off x="73152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73152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178 → 192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2296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 수(228개 중) · As-Is → To-Be</a:t>
            </a:r>
          </a:p>
        </p:txBody>
      </p:sp>
      <p:sp>
        <p:nvSpPr>
          <p:cNvPr id="9" name="Shape 9"/>
          <p:cNvSpPr/>
          <p:nvPr/>
        </p:nvSpPr>
        <p:spPr>
          <a:xfrm>
            <a:off x="342900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342900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222 → 215초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52044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</a:t>
            </a:r>
          </a:p>
        </p:txBody>
      </p:sp>
      <p:sp>
        <p:nvSpPr>
          <p:cNvPr id="12" name="Shape 12"/>
          <p:cNvSpPr/>
          <p:nvPr/>
        </p:nvSpPr>
        <p:spPr>
          <a:xfrm>
            <a:off x="612648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612648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58 → 20초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21792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탄도탄 접수→결심</a:t>
            </a:r>
          </a:p>
        </p:txBody>
      </p:sp>
      <p:sp>
        <p:nvSpPr>
          <p:cNvPr id="15" name="Shape 15"/>
          <p:cNvSpPr/>
          <p:nvPr/>
        </p:nvSpPr>
        <p:spPr>
          <a:xfrm>
            <a:off x="882396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882396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6~9 → 4~6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91540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소형 무인기 거친 노드 수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조건: SC3 복합 동시 포화 · 한반도 본 배치(지휘소 96 · 포대 84) · 위협 228개(탄도탄 53 · 방사포 90 · 순항 16 · 전투기 16 · 소형 무인기 53) · 생성 1800초 / 관측 3600초 · seed 29(재현성 30·31) · 표준 절차(대기 지시는 준비만 · 발사는 지휘소 명령 · 예외는 자위권 발사) · 탄도·공중 위협 모두 발사·이륙 원점에서 생성 · 결과서 6판(2026-10-04) 기준 · 모든 수치는 공개자료 기반 정책연구용 개념값</a:t>
            </a:r>
          </a:p>
        </p:txBody>
      </p:sp>
    </p:spTree>
  </p:cSld>
  <a:clrMapOvr>
    <a:masterClrMapping/>
  </a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1. 결심 과정 정리 — 지휘소가 명령하고, 포대가 쏘고, 결과를 보고한다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5단계는 두 체계에 같다. 차이는 각 단계 사이의 매체(음성 ↔ 데이터링크)와 거치는 중계(방공여단 통제소 · 군단 방공 이중 왕복)에 들어간다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①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07008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탐지·인지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탐지 레이더(그린파인·FPS-117·TPS-880K)가 책임 지휘소에 보고. 감시 등급 항적만 — 이것만으로는 발사 불가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2651760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1" name="Shape 11"/>
          <p:cNvSpPr/>
          <p:nvPr/>
        </p:nvSpPr>
        <p:spPr>
          <a:xfrm>
            <a:off x="2798064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2935224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②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456432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대기 지시(준비)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2935224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탄도탄·방사포에 한해 요격 창이 있는 상층 포대 전부에 「준비하라」. 표적 정보만 주는 준비 지시 — 발사 권한 아님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4901184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6" name="Shape 16"/>
          <p:cNvSpPr/>
          <p:nvPr/>
        </p:nvSpPr>
        <p:spPr>
          <a:xfrm>
            <a:off x="5047488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7" name="Text 17"/>
          <p:cNvSpPr txBox="1"/>
          <p:nvPr/>
        </p:nvSpPr>
        <p:spPr>
          <a:xfrm>
            <a:off x="5184648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③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705856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사수 지정(결심)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184648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항적 접수 직후 포대마다 「지금/언제 쏠 수 있나」 예측(4초 주기 상태 보고 + 계선 지연). 미군과 협조(As-Is 음성 20초 · To-Be 데이터링크 1초) → 「준비되면 쏘라」 명령</a:t>
            </a:r>
          </a:p>
        </p:txBody>
      </p:sp>
      <p:cxnSp>
        <p:nvCxnSpPr>
          <p:cNvPr id="20" name="Line 20"/>
          <p:cNvCxnSpPr/>
          <p:nvPr/>
        </p:nvCxnSpPr>
        <p:spPr>
          <a:xfrm>
            <a:off x="7150608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1" name="Shape 21"/>
          <p:cNvSpPr/>
          <p:nvPr/>
        </p:nvSpPr>
        <p:spPr>
          <a:xfrm>
            <a:off x="7296912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7434072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④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955280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사격통제 · 발사 · 보고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7434072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포대 레이더 탐지→추적→사격통제 등급, 요격점이 사거리·고도 안에 들면 발사. 결과 보고(BDA) — 빗나가면 지휘소가 재지정</a:t>
            </a:r>
          </a:p>
        </p:txBody>
      </p:sp>
      <p:cxnSp>
        <p:nvCxnSpPr>
          <p:cNvPr id="25" name="Line 25"/>
          <p:cNvCxnSpPr/>
          <p:nvPr/>
        </p:nvCxnSpPr>
        <p:spPr>
          <a:xfrm>
            <a:off x="9400032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6" name="Shape 26"/>
          <p:cNvSpPr/>
          <p:nvPr/>
        </p:nvSpPr>
        <p:spPr>
          <a:xfrm>
            <a:off x="9546336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9683496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⑤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10204704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수행 불가 · 재지정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9683496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예측 준비 시각 + 30초가 지나도 못 쏘면 포대가 CANTCO 회신, 지휘소가 1초 뒤 다른 사수 지정(seed 29 · As-Is 70건 · To-Be 37건)</a:t>
            </a:r>
          </a:p>
        </p:txBody>
      </p:sp>
      <p:sp>
        <p:nvSpPr>
          <p:cNvPr id="30" name="Shape 30"/>
          <p:cNvSpPr/>
          <p:nvPr/>
        </p:nvSpPr>
        <p:spPr>
          <a:xfrm>
            <a:off x="548640" y="443484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DE7E7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731520" y="4498848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B3261E"/>
                </a:solidFill>
                <a:latin typeface="Malgun Gothic"/>
                <a:ea typeface="Malgun Gothic"/>
              </a:rPr>
              <a:t>예외 — 자위권 발사 ③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 지정을 받지 못한 포대가 발사 마감이 닥친 위협에 「내가 맞을 것 같다」고 자체 판단해 쏜다(명령 없음). seed 29에서 자위권 결심 As-Is 10건 · To-Be 11건 중 실제 발사 1·2건, 나머지는 발사 직전 재검증에서 발사 불가. 화면에서는 붉은 점선 고리 + 「자위권 ③」 표식.</a:t>
            </a:r>
          </a:p>
        </p:txBody>
      </p:sp>
      <p:sp>
        <p:nvSpPr>
          <p:cNvPr id="32" name="Shape 32"/>
          <p:cNvSpPr/>
          <p:nvPr/>
        </p:nvSpPr>
        <p:spPr>
          <a:xfrm>
            <a:off x="548640" y="544068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3" name="Text 33"/>
          <p:cNvSpPr txBox="1"/>
          <p:nvPr/>
        </p:nvSpPr>
        <p:spPr>
          <a:xfrm>
            <a:off x="731520" y="5486400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5판에서 바뀐 것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4판까지는 ②의 대기 지시가 발사 권한을 겸해 포대가 조건이 갖춰지면 명령 없이 쏘는 「긴급발사」가 방사포의 5분의 4였다. 표준 절차(C2 명령 → 포대 요격 → 결과 보고)로 고치자 명령 경로의 차이가 그대로 드러나, 비슷하던 격추 수(211 대 205)가 176 대 194로 갈라졌다. 6판은 공중 위협의 생성 기준까지 탄도와 같게(발사·이륙 원점) 맞춘 조건이며 178 대 192다.</a:t>
            </a:r>
          </a:p>
        </p:txBody>
      </p:sp>
    </p:spTree>
  </p:cSld>
  <a:clrMapOvr>
    <a:masterClrMapping/>
  </a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(1/2) — 탄도탄 · 방사포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화살표 하나가 노드 하나를 건넌다 · ⇄ 협조는 제안과 회신의 왕복 · 건수는 seed 29에서 발사에 이른 항적 수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① THAAD가 쏘는 경우(가장 흔함 · 22·29건)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음성 협조 탄도탄작전통제소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데이터링크 협조 통합공중작전통제소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② 협조 결과 한국군이 쏘는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→(음성 제안) 탄도탄작전통제소 「내 자산이 최적」 → 방공여단 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→(데이터링크) 통합공중작전통제소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③ 그린파인이 먼저 본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① 협조 없이 바로 명령(가장 흔함 · 35·35건)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→ 방공여단 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② Patriot 지휘소와 협조(23·29건)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Patriot 지휘소 → 방공여단 통제소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Patriot 지휘소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③ 미군 축 자체 처리 · 자위권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 Patriot 사격통제소 → 발사 · 자위권 1건(대기 지시 → 사격통제소 … 포대 자체 판단)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 · 자위권 2건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892040"/>
            <a:ext cx="110642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98348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330952"/>
            <a:ext cx="10789920" cy="886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탄도탄: 두 체계 모두 THAAD 지휘소 ⇄ 결심 지휘소의 협조 왕복이 남아 노드 수가 같고 매체만 바뀐다(음성 평균 20초 → 데이터링크 1초). 한국군 포대가 쏠 때만 As-Is의 방공여단 통제소 한 칸(인가 9초)이 더 낀다.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방사포: 전부 지휘소 명령으로 쏘므로(자위권 1·2건 제외) As-Is 방공여단 중계 한 칸이 모든 경우에 들어가고, Patriot 협조가 붙은 항적(23·29건)에서는 음성 21초 왕복까지 더해진다 — 방사포 격추 51 대 64의 차이가 여기서 난다.</a:t>
            </a:r>
          </a:p>
        </p:txBody>
      </p:sp>
    </p:spTree>
  </p:cSld>
  <a:clrMapOvr>
    <a:masterClrMapping/>
  </a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(2/2) — 순항미사일 · 전투기 · 소형 무인기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As-Is의 음성·채팅 구간은 모두 중앙방공통제소 주변에 있다 · To-Be에는 음성이 없다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① 미군 Patriot 케이시가 쏘는 경우(가장 흔함 · 8·14건)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음성 협조 중앙방공통제소 → Patriot 사격통제소 → 발사  [7칸] · FPS-117이 먼저 보면 중앙방공통제소 →(음성) Patriot 지휘소 → …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데이터링크 협조 통합공중작전통제소 → Patriot 사격통제소 → 발사  [7칸] · FPS-117이 먼저 보면 통합공중작전통제소 → Patriot 지휘소 → …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② 한국군 천궁-II · 천마가 쏘는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지휘소 →(음성 제안) 중앙방공통제소 → 방공여단 통제소 → 천궁-II 연천·충주 사격통제소 → 발사 (7건)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FPS-117 → 통합공중작전통제소 → 군단 방공 지휘소 → 천마 사격통제소 → 천마 (2건)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① L-SAM 레이더가 본 경우(10·12건)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L-SAM 사격통제소 → 방공여단 → 중앙방공통제소 ⇄ 음성 Patriot 지휘소 → 방공여단 → 천궁-II·L-SAM 사격통제소 → 발사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통합공중작전통제소 ⇄ 데이터링크 Patriot 지휘소 → 통합공중작전통제소 → L-SAM·천궁-II 사격통제소 → 발사  [6칸]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② Patriot 레이더가 본 경우(6·4건)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→(음성) 중앙방공통제소 → 방공여단 통제소 → L-SAM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데이터링크 통합공중작전통제소 → Patriot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① 천궁-II 레이더가 본 경우(34·26건)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백령·김포 레이더 → 사격통제소 → 방공여단 → 중앙방공통제소 →(채팅) 군단 방공 →(음성 요청) 중앙방공통제소 →(음성 승인) 군단 방공 → 천마 사격통제소 → 천마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레이더 → 통합공중작전통제소 → 군단 방공 지휘소 → 천마 사격통제소 → 천마 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② TPS-880K가 본 경우(11·24건)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→(음성 요청) 중앙방공통제소 →(음성 승인) 군단 방공 → 천마 사격통제소 → 천마  [6칸]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지휘소 → 천마·비호 사격통제소 → 발사  [4칸]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5074920"/>
            <a:ext cx="11064240" cy="12801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516636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513832"/>
            <a:ext cx="1078992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순항미사일은 발사 원점부터 생성되는 6판에서 두 체계 모두 Patriot 케이시가 쏜다(발사 직후 Patriot 레이더·FPS-117이 잡고, 결심 지휘소가 요격 창이 먼저 열리는 포대를 고름). 노드 수는 같고(5~7) 매체만 음성 → 데이터링크. 5판의 「천마 직접 교전」은 2건으로 줄었다.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전투기·소형 무인기는 방공여단 중계와 중앙방공통제소 ⇄ 군단 방공의 채팅·음성 왕복이 빠져 9 → 6 · 9 → 5. TPS-880K가 먼저 보는 경우 As-Is도 승인 왕복만 남아 6칸이다.</a:t>
            </a:r>
          </a:p>
        </p:txBody>
      </p:sp>
    </p:spTree>
  </p:cSld>
  <a:clrMapOvr>
    <a:masterClrMapping/>
  </a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3. 위협별 거치는 노드 수 — 범위(n~n)와 분포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같은 위협이라도 항적마다 다르므로 중앙값이 아니라 범위와 분포로 읽는다 · 굵은 숫자가 가장 흔한 경우 · 건수는 발사에 이른 항적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2523744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2377440"/>
                <a:gridCol w="1097280"/>
                <a:gridCol w="2377440"/>
                <a:gridCol w="283464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줄어드는 자리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6 · 7: 39 · 9: 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12 · 7: 30 · 8: 8 · 9: 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한국군 포대가 쏠 때의 방공여단 중계(−1) · THAAD가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35 · 7: 23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35 · 5: 3 · 6: 29 · 7: 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중계(−1) · Patriot 협조(+2)는 두 체계에 다 있음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4 · 7: 12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5 · 7: 11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 — 두 체계 모두 Patriot이 쏘고 협조 왕복이 남음(매체만 바뀜)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7: 6 · 9: 10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6~7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12 · 7: 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중계와 되돌아오는 길(−2~−3) · Patriot이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11 · 7: 7 · 9: 34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24 · 5: 26 · 6: 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중앙방공통제소 ⇄ 군단 방공 채팅·음성 이중 왕복(−4) · 방공여단(−1)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114800"/>
            <a:ext cx="11064240" cy="21945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20624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 — 같은 위협인데 왜 항적마다 노드 수가 다른가(실행 기록에서 확인된 다섯 원인)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4553712"/>
            <a:ext cx="10789920" cy="1664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어느 레이더가 먼저 보았는가(±1~2): 그린파인이면 「레이더 → 결심 지휘소」 2칸, AN/TPY-2이면 「AN/TPY-2 → THAAD 사격통제소 → THAAD 지휘소」 3칸 뒤에 협조 시작. 소형 무인기도 TPS-880K가 먼저 보면 As-Is 6 · To-Be 4칸, 천궁-II 레이더가 먼저 보면 9 · 5칸. 순항도 FPS-117이 먼저 보면 5칸, Patriot 레이더가 먼저 보면 7칸(두 체계 같음).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한미 협조 왕복이 몇 번 붙었는가(+2씩): 양보 뒤 재제안·빗나간 뒤 재협조가 붙으면 9칸(srbm#3). 상대 진영도 후보 포대를 가졌는지에 달려 항적마다 다름.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사수의 소속(+1): As-Is에서 한국군 포대가 쏘면 방공여단 통제소가 끼고, 미군 포대면 사격통제소로 바로. 군단 방공으로 내려가는 길(As-Is +4): 중앙방공통제소 ⇄ 군단 방공 이중 왕복.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재지정·재교전은 노드 수를 늘리지 않는다(같은 길로 다시) — 시간만 는다. 구조가 바꾸는 것은 방공여단 중계·이중 왕복뿐이고, 레이더·협조 횟수·사수 소속은 두 체계에 똑같이 작용해 To-Be에도 폭이 남는다.</a:t>
            </a:r>
          </a:p>
        </p:txBody>
      </p:sp>
    </p:spTree>
  </p:cSld>
  <a:clrMapOvr>
    <a:masterClrMapping/>
  </a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(1/2): 단계별 소요(평균 · 초)와 격추 수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결심→발사 = 사수 대기 포함 · 붉은 칸 = 차이 15% 이상·10초 이상 · 시간은 명중한 항적만 세므로 누수는 격추 열로 읽는다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As-Is (분절형)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548640" y="1691640"/>
          <a:ext cx="11064240" cy="1700784"/>
        </p:xfrm>
        <a:graphic>
          <a:graphicData uri="http://schemas.openxmlformats.org/drawingml/2006/table">
            <a:tbl>
              <a:tblPr/>
              <a:tblGrid>
                <a:gridCol w="1566618"/>
                <a:gridCol w="783309"/>
                <a:gridCol w="1174964"/>
                <a:gridCol w="1566618"/>
                <a:gridCol w="1566618"/>
                <a:gridCol w="1272877"/>
                <a:gridCol w="1272877"/>
                <a:gridCol w="1860359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격추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125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107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84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334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449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8" name="Text 8"/>
          <p:cNvSpPr txBox="1"/>
          <p:nvPr/>
        </p:nvSpPr>
        <p:spPr>
          <a:xfrm>
            <a:off x="548640" y="347472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B7F3B"/>
                </a:solidFill>
                <a:latin typeface="Malgun Gothic"/>
                <a:ea typeface="Malgun Gothic"/>
              </a:rPr>
              <a:t>To-Be (Kill-web 통합형)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548640" y="3794760"/>
          <a:ext cx="11064240" cy="1700784"/>
        </p:xfrm>
        <a:graphic>
          <a:graphicData uri="http://schemas.openxmlformats.org/drawingml/2006/table">
            <a:tbl>
              <a:tblPr/>
              <a:tblGrid>
                <a:gridCol w="1566618"/>
                <a:gridCol w="783309"/>
                <a:gridCol w="1174964"/>
                <a:gridCol w="1566618"/>
                <a:gridCol w="1566618"/>
                <a:gridCol w="1272877"/>
                <a:gridCol w="1272877"/>
                <a:gridCol w="1860359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격추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203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64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119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87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48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119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431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465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10" name="Text 10"/>
          <p:cNvSpPr txBox="1"/>
          <p:nvPr/>
        </p:nvSpPr>
        <p:spPr>
          <a:xfrm>
            <a:off x="548640" y="5559552"/>
            <a:ext cx="110642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100" b="1" i="0" dirty="0">
                <a:solidFill>
                  <a:srgbClr val="1D2A35"/>
                </a:solidFill>
                <a:latin typeface="Malgun Gothic"/>
                <a:ea typeface="Malgun Gothic"/>
              </a:rPr>
              <a:t>전체 평균: 교전 시작까지 222 → 215초(seed 30·31도 229 → 218 · 232 → 225초) · 격추까지 263 → 252초 · 생성→탐지는 탄도·공중 모두 발사·이륙 원점 기준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0초 칸(1초 미만의 반올림): 순항·전투기 생성→탐지 0.2초 = 발사·이륙 원점이 FPS-117 레이더 수평선 안(지형 차폐 없음) · To-Be 전투기 탐지→접수 0.3초 = 포대 레이더가 통합공중작전통제소로 1초 주기 직결 보고(As-Is는 교전통제소를 거쳐 2초)</a:t>
            </a:r>
          </a:p>
        </p:txBody>
      </p:sp>
    </p:spTree>
  </p:cSld>
  <a:clrMapOvr>
    <a:masterClrMapping/>
  </a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(2/2): 결심 단축이 총 시간·격추로 이어지는가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Shape 5"/>
          <p:cNvSpPr/>
          <p:nvPr/>
        </p:nvSpPr>
        <p:spPr>
          <a:xfrm>
            <a:off x="54864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Text 6"/>
          <p:cNvSpPr txBox="1"/>
          <p:nvPr/>
        </p:nvSpPr>
        <p:spPr>
          <a:xfrm>
            <a:off x="54864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58 → 20초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4008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탄도탄 · 접수→결심
(음성 왕복 2회 → 데이터링크)</a:t>
            </a:r>
          </a:p>
        </p:txBody>
      </p:sp>
      <p:sp>
        <p:nvSpPr>
          <p:cNvPr id="8" name="Shape 8"/>
          <p:cNvSpPr/>
          <p:nvPr/>
        </p:nvSpPr>
        <p:spPr>
          <a:xfrm>
            <a:off x="333756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9" name="Text 9"/>
          <p:cNvSpPr txBox="1"/>
          <p:nvPr/>
        </p:nvSpPr>
        <p:spPr>
          <a:xfrm>
            <a:off x="333756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84 → 16초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342900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소형 무인기 · 접수→결심
(이중 왕복 제거)</a:t>
            </a:r>
          </a:p>
        </p:txBody>
      </p:sp>
      <p:sp>
        <p:nvSpPr>
          <p:cNvPr id="11" name="Shape 11"/>
          <p:cNvSpPr/>
          <p:nvPr/>
        </p:nvSpPr>
        <p:spPr>
          <a:xfrm>
            <a:off x="612648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612648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53 → 15초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621792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전투기 · 접수→결심
(탐지→명중 164 → 119초)</a:t>
            </a:r>
          </a:p>
        </p:txBody>
      </p:sp>
      <p:sp>
        <p:nvSpPr>
          <p:cNvPr id="14" name="Shape 14"/>
          <p:cNvSpPr/>
          <p:nvPr/>
        </p:nvSpPr>
        <p:spPr>
          <a:xfrm>
            <a:off x="891540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891540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32 → 3초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900684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순항미사일 · 접수→결심
(탐지→명중 107 → 87초)</a:t>
            </a:r>
          </a:p>
        </p:txBody>
      </p:sp>
      <p:sp>
        <p:nvSpPr>
          <p:cNvPr id="17" name="Shape 17"/>
          <p:cNvSpPr/>
          <p:nvPr/>
        </p:nvSpPr>
        <p:spPr>
          <a:xfrm>
            <a:off x="548640" y="2880360"/>
            <a:ext cx="5394960" cy="27432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685800" y="29718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빨라지는 자리 — 결심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85800" y="3319272"/>
            <a:ext cx="5120640" cy="2212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모든 위협에서 「접수→결심」이 To-Be에서 짧다. 사라진 것은 음성 협조 왕복(평균 20초 × 2), 방공여단 통제소 인가(9초), 중앙방공통제소 ⇄ 군단 방공의 채팅·음성 이중 왕복(50초 안팎).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방사포는 76 → 58초. Patriot 협조 음성 21초와 방공여단 중계가 빠진 몫이며, 요격 창이 좁아 이 18초가 「지휘 시한 초과」 누수(7 대 3)와 격추 수(51 대 64)로 이어진다 — 두 체계 격추 차이 +14의 거의 전부.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같은 탄도탄 srbm#3: As-Is는 음성 제안이 엇갈려 두 지휘소가 각자 사수를 지정(한미 중복) → 둘째 발이 명중, To-Be는 1초 만에 한 곳이 지정 → 그 한 발이 빗나가 누수. 같은 결심 구조에서 명중 추첨이 결과를 가른 예.</a:t>
            </a:r>
          </a:p>
        </p:txBody>
      </p:sp>
      <p:sp>
        <p:nvSpPr>
          <p:cNvPr id="20" name="Shape 20"/>
          <p:cNvSpPr/>
          <p:nvPr/>
        </p:nvSpPr>
        <p:spPr>
          <a:xfrm>
            <a:off x="6217920" y="2880360"/>
            <a:ext cx="5394960" cy="27432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1" name="Text 21"/>
          <p:cNvSpPr txBox="1"/>
          <p:nvPr/>
        </p:nvSpPr>
        <p:spPr>
          <a:xfrm>
            <a:off x="6355080" y="29718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결심 단축이 총 시간으로 이어지는가 — 세 갈래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6355080" y="3319272"/>
            <a:ext cx="5120640" cy="2212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총 시간 그대로(탄도탄 286 대 282 · 소형 무인기 449 대 465): 결심이 빨라진 만큼 「결심→발사」 사수 대기가 늘어난다. THAAD가 고도 150 km 아래로 들어오는 시점, 천마 사거리 9 km에 드는 시점을 지휘 구조가 바꾸지 못한다 — 요격 창이 열리는 시각은 물리가 정한다.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총 시간 단축(전투기 164 → 119초 · 순항 107 → 87초): 창이 이미 열려 있어 결심이 빨라진 만큼 발사·명중도 당겨진다. 창이 넓어 격추 수는 같다(15 대 15 · 16 대 16). 순항의 결심→발사 48 → 56초·발사→명중 24 → 26초 증가는 늦어진 것이 아니다(생성→발사 83 → 62초) — 결심이 30초 당겨진 만큼 Patriot 창까지의 대기가 늘고, 사수가 한국군 포대 8건(천궁-II·L-SAM · 비행 평균 20초)에서 Patriot 14건(28초)으로 바뀐 결과.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격추 수로 전환(방사포 51 → 64): 창이 좁아 18초 늦은 명령이 창을 넘긴다. 지휘 구조의 효과가 격추로 바뀌는 유일한 유형.</a:t>
            </a:r>
          </a:p>
        </p:txBody>
      </p:sp>
    </p:spTree>
  </p:cSld>
  <a:clrMapOvr>
    <a:masterClrMapping/>
  </a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(1/2): 지휘소는 여유, 병목은 포대의 물리와 탄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이용률 = 처리 중인 시간 비율(1이면 쉴 틈 없음 · 0.9부터 포화) · 생성 구간 1800초 기준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54864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0.51 / 0.45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4008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결심 지휘소 최대 이용률 As-Is / To-Be
(탄도탄작전통제소 · 임계 0.9의 절반)</a:t>
            </a:r>
          </a:p>
        </p:txBody>
      </p:sp>
      <p:sp>
        <p:nvSpPr>
          <p:cNvPr id="9" name="Shape 9"/>
          <p:cNvSpPr/>
          <p:nvPr/>
        </p:nvSpPr>
        <p:spPr>
          <a:xfrm>
            <a:off x="333756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333756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6/6 포화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42900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THAAD 동시교전 채널
(차단 26 · 24건 — 두 체계 같음)</a:t>
            </a:r>
          </a:p>
        </p:txBody>
      </p:sp>
      <p:sp>
        <p:nvSpPr>
          <p:cNvPr id="12" name="Shape 12"/>
          <p:cNvSpPr/>
          <p:nvPr/>
        </p:nvSpPr>
        <p:spPr>
          <a:xfrm>
            <a:off x="612648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612648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19 → 13건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21792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 소진 누수 As-Is → To-Be
(상층 L-SAM 24발이 먼저 빔)</a:t>
            </a:r>
          </a:p>
        </p:txBody>
      </p:sp>
      <p:sp>
        <p:nvSpPr>
          <p:cNvPr id="15" name="Shape 15"/>
          <p:cNvSpPr/>
          <p:nvPr/>
        </p:nvSpPr>
        <p:spPr>
          <a:xfrm>
            <a:off x="891540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891540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0 → 0건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900684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지휘소·사격통제소 처리 누락(드롭)
(대기열 넘침 없음)</a:t>
            </a:r>
          </a:p>
        </p:txBody>
      </p:sp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548640" y="2834640"/>
          <a:ext cx="11064240" cy="256032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743200"/>
                <a:gridCol w="28346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부분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한 줄 판정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결심 지휘소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이용률 최대 0.51 · 대기 1초 안팎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최대 0.45 · 통합공중작전통제소 0.20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 — 포화는 위협 3배부터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통제소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명령 인가 경유 · 이용률 최대 0.14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명령이 지나지 않음(도착 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43D5C"/>
                          </a:solidFill>
                          <a:latin typeface="Malgun Gothic"/>
                          <a:ea typeface="Malgun Gothic"/>
                        </a:rPr>
                        <a:t>부하가 아니라 거치는 칸 +1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사격통제소(84곳)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32곳 활동 · 최대 0.02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28곳 활동 · 최대 0.01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동시교전 채널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THAAD 6/6 포화 · 차단 26건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THAAD 6/6 포화 · 차단 24건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병목 — 요격 창이 겹치는 물리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탄약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 소진 누수 19건 · 상위 3개 포대가 41%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13건 · 45%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병목 — 보유탄의 벽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교전 현황 공유(군단 방공→상급)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음성/VTC 1채널 · 121건 버려짐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데이터링크 · 버려짐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As-Is만 손실 — 중복 교전 2~4건 · 격추는 잡음 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 19"/>
          <p:cNvSpPr txBox="1"/>
          <p:nvPr/>
        </p:nvSpPr>
        <p:spPr>
          <a:xfrm>
            <a:off x="548640" y="5577840"/>
            <a:ext cx="11064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00" b="1" i="0" dirty="0">
                <a:solidFill>
                  <a:srgbClr val="1D2A35"/>
                </a:solidFill>
                <a:latin typeface="Malgun Gothic"/>
                <a:ea typeface="Malgun Gothic"/>
              </a:rPr>
              <a:t>읽는 법: 지휘 구조를 바꿔도 창구가 포화되는 자리는 없다. 실제로 막히는 곳은 포대의 동시교전 채널(THAAD)과 보유탄(상층 L-SAM)이며, 이것은 두 체계에 같은 물리·자원의 벽이다. 지휘 구조의 차이는 포화가 아니라 「거치는 창구의 수(방공여단 +1)」와 「창구 사이의 매체(음성 ↔ 데이터링크)」로 나타난다.</a:t>
            </a:r>
          </a:p>
        </p:txBody>
      </p:sp>
    </p:spTree>
  </p:cSld>
  <a:clrMapOvr>
    <a:masterClrMapping/>
  </a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(2/2): 지휘소 이용률과 모델이 보지 못하는 부하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1188720"/>
            <a:ext cx="5669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결심 지휘소 이용률(임계 0.9)</a:t>
            </a:r>
          </a:p>
        </p:txBody>
      </p:sp>
      <p:sp>
        <p:nvSpPr>
          <p:cNvPr id="6" name="Shape 6"/>
          <p:cNvSpPr/>
          <p:nvPr/>
        </p:nvSpPr>
        <p:spPr>
          <a:xfrm>
            <a:off x="2286000" y="1600200"/>
            <a:ext cx="3566160" cy="3447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cxnSp>
        <p:nvCxnSpPr>
          <p:cNvPr id="7" name="Line 7"/>
          <p:cNvCxnSpPr/>
          <p:nvPr/>
        </p:nvCxnSpPr>
        <p:spPr>
          <a:xfrm>
            <a:off x="5495544" y="1600200"/>
            <a:ext cx="0" cy="3447288"/>
          </a:xfrm>
          <a:prstGeom prst="line">
            <a:avLst/>
          </a:prstGeom>
          <a:ln w="15240">
            <a:solidFill>
              <a:srgbClr val="B3261E"/>
            </a:solidFill>
            <a:prstDash val="dash"/>
          </a:ln>
        </p:spPr>
      </p:cxnSp>
      <p:sp>
        <p:nvSpPr>
          <p:cNvPr id="8" name="Text 8"/>
          <p:cNvSpPr txBox="1"/>
          <p:nvPr/>
        </p:nvSpPr>
        <p:spPr>
          <a:xfrm>
            <a:off x="4946904" y="5065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900" b="0" i="0" dirty="0">
                <a:solidFill>
                  <a:srgbClr val="B3261E"/>
                </a:solidFill>
                <a:latin typeface="Malgun Gothic"/>
                <a:ea typeface="Malgun Gothic"/>
              </a:rPr>
              <a:t>임계 0.9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48640" y="164592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탄도탄작전통제소</a:t>
            </a:r>
          </a:p>
        </p:txBody>
      </p:sp>
      <p:sp>
        <p:nvSpPr>
          <p:cNvPr id="10" name="Shape 10"/>
          <p:cNvSpPr/>
          <p:nvPr/>
        </p:nvSpPr>
        <p:spPr>
          <a:xfrm>
            <a:off x="2286000" y="1691640"/>
            <a:ext cx="1818742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4150462" y="16459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0.51</a:t>
            </a:r>
          </a:p>
        </p:txBody>
      </p:sp>
      <p:sp>
        <p:nvSpPr>
          <p:cNvPr id="12" name="Shape 12"/>
          <p:cNvSpPr/>
          <p:nvPr/>
        </p:nvSpPr>
        <p:spPr>
          <a:xfrm>
            <a:off x="2286000" y="1920240"/>
            <a:ext cx="1604772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3936492" y="1874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0.45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48640" y="2212848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중앙방공통제소</a:t>
            </a:r>
          </a:p>
        </p:txBody>
      </p:sp>
      <p:sp>
        <p:nvSpPr>
          <p:cNvPr id="15" name="Shape 15"/>
          <p:cNvSpPr/>
          <p:nvPr/>
        </p:nvSpPr>
        <p:spPr>
          <a:xfrm>
            <a:off x="2286000" y="2258568"/>
            <a:ext cx="1034186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3365906" y="22128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0.29</a:t>
            </a:r>
          </a:p>
        </p:txBody>
      </p:sp>
      <p:sp>
        <p:nvSpPr>
          <p:cNvPr id="17" name="Shape 17"/>
          <p:cNvSpPr/>
          <p:nvPr/>
        </p:nvSpPr>
        <p:spPr>
          <a:xfrm>
            <a:off x="2286000" y="2487168"/>
            <a:ext cx="606247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2937967" y="24414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0.17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48640" y="2779776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통합공중작전통제소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2331720" y="2779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1" name="Shape 21"/>
          <p:cNvSpPr/>
          <p:nvPr/>
        </p:nvSpPr>
        <p:spPr>
          <a:xfrm>
            <a:off x="2286000" y="3054096"/>
            <a:ext cx="713232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3044952" y="3008376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0.20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548640" y="3346704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방공여단 3여단</a:t>
            </a:r>
          </a:p>
        </p:txBody>
      </p:sp>
      <p:sp>
        <p:nvSpPr>
          <p:cNvPr id="24" name="Shape 24"/>
          <p:cNvSpPr/>
          <p:nvPr/>
        </p:nvSpPr>
        <p:spPr>
          <a:xfrm>
            <a:off x="2286000" y="3392424"/>
            <a:ext cx="499262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5" name="Text 25"/>
          <p:cNvSpPr txBox="1"/>
          <p:nvPr/>
        </p:nvSpPr>
        <p:spPr>
          <a:xfrm>
            <a:off x="2830982" y="3346704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0.14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2331720" y="357530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548640" y="3913632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미군 Patriot 지휘소</a:t>
            </a:r>
          </a:p>
        </p:txBody>
      </p:sp>
      <p:sp>
        <p:nvSpPr>
          <p:cNvPr id="28" name="Shape 28"/>
          <p:cNvSpPr/>
          <p:nvPr/>
        </p:nvSpPr>
        <p:spPr>
          <a:xfrm>
            <a:off x="2286000" y="3959352"/>
            <a:ext cx="71323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9" name="Text 29"/>
          <p:cNvSpPr txBox="1"/>
          <p:nvPr/>
        </p:nvSpPr>
        <p:spPr>
          <a:xfrm>
            <a:off x="2403043" y="39136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0" name="Shape 30"/>
          <p:cNvSpPr/>
          <p:nvPr/>
        </p:nvSpPr>
        <p:spPr>
          <a:xfrm>
            <a:off x="2286000" y="4187952"/>
            <a:ext cx="106985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2438705" y="41422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0.03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548640" y="448056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군단 방공(서부)</a:t>
            </a:r>
          </a:p>
        </p:txBody>
      </p:sp>
      <p:sp>
        <p:nvSpPr>
          <p:cNvPr id="33" name="Shape 33"/>
          <p:cNvSpPr/>
          <p:nvPr/>
        </p:nvSpPr>
        <p:spPr>
          <a:xfrm>
            <a:off x="2286000" y="4526280"/>
            <a:ext cx="71323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4" name="Text 34"/>
          <p:cNvSpPr txBox="1"/>
          <p:nvPr/>
        </p:nvSpPr>
        <p:spPr>
          <a:xfrm>
            <a:off x="2403043" y="44805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5" name="Shape 35"/>
          <p:cNvSpPr/>
          <p:nvPr/>
        </p:nvSpPr>
        <p:spPr>
          <a:xfrm>
            <a:off x="2286000" y="4754880"/>
            <a:ext cx="71323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6" name="Text 36"/>
          <p:cNvSpPr txBox="1"/>
          <p:nvPr/>
        </p:nvSpPr>
        <p:spPr>
          <a:xfrm>
            <a:off x="2403043" y="47091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7" name="Shape 37"/>
          <p:cNvSpPr/>
          <p:nvPr/>
        </p:nvSpPr>
        <p:spPr>
          <a:xfrm>
            <a:off x="548640" y="5120640"/>
            <a:ext cx="228600" cy="164592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8" name="Text 38"/>
          <p:cNvSpPr txBox="1"/>
          <p:nvPr/>
        </p:nvSpPr>
        <p:spPr>
          <a:xfrm>
            <a:off x="82296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As-Is</a:t>
            </a:r>
          </a:p>
        </p:txBody>
      </p:sp>
      <p:sp>
        <p:nvSpPr>
          <p:cNvPr id="39" name="Shape 39"/>
          <p:cNvSpPr/>
          <p:nvPr/>
        </p:nvSpPr>
        <p:spPr>
          <a:xfrm>
            <a:off x="1737360" y="5120640"/>
            <a:ext cx="228600" cy="164592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0" name="Text 40"/>
          <p:cNvSpPr txBox="1"/>
          <p:nvPr/>
        </p:nvSpPr>
        <p:spPr>
          <a:xfrm>
            <a:off x="201168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To-Be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548640" y="5440680"/>
            <a:ext cx="576072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방공여단 통제소는 두 체계 모두 편제에 있지만, To-Be는 통합공중작전통제소가 포대 사격통제소로 바로 명령하므로 교전 명령이 지나지 않는다(도착 0건). 지휘소 포화는 위협 3배부터이며, 거기서 To-Be 우위는 +14 → +117(5배)로 커진다.</a:t>
            </a:r>
          </a:p>
        </p:txBody>
      </p:sp>
      <p:sp>
        <p:nvSpPr>
          <p:cNvPr id="42" name="Shape 42"/>
          <p:cNvSpPr/>
          <p:nvPr/>
        </p:nvSpPr>
        <p:spPr>
          <a:xfrm>
            <a:off x="6492240" y="1188720"/>
            <a:ext cx="5120640" cy="26974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3" name="Text 43"/>
          <p:cNvSpPr txBox="1"/>
          <p:nvPr/>
        </p:nvSpPr>
        <p:spPr>
          <a:xfrm>
            <a:off x="6629400" y="128016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핵심 세 줄</a:t>
            </a:r>
          </a:p>
        </p:txBody>
      </p:sp>
      <p:sp>
        <p:nvSpPr>
          <p:cNvPr id="44" name="Text 44"/>
          <p:cNvSpPr txBox="1"/>
          <p:nvPr/>
        </p:nvSpPr>
        <p:spPr>
          <a:xfrm>
            <a:off x="6629400" y="1627632"/>
            <a:ext cx="4846320" cy="21671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지휘소는 용량의 절반 아래 — 이 강도에서 지휘 구조가 창구 포화로 결과를 바꾸지는 않는다.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막히는 곳은 포대: THAAD 채널 6/6 포화(차단 26·24건)와 상층 L-SAM 24발 소진(누수 19·13건). 요격 창이 겹치는 물리와 보유탄의 문제라 두 체계가 같다.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As-Is만 잃는 것: 군단 방공의 교전 현황 전문(전부 소형 무인기) 121건이 음성/VTC 한 회선에 막혀 버려짐. 결과로 남는 중복 교전은 실행당 2~4건 — 중앙방공통제소의 무인기 사수가 L-SAM뿐이고 L-SAM 레이더는 저고도 무인기를 수평선 약 80 km 안에서만 봐서(114회 지정 중 12발 발사·69회 사수 불가) 천마와 발사가 겹치기 어렵기 때문. 대신 L-SAM 재지정·인가 왕복 69건이 헛돈다. 격추 차이는 ±5(잡음 안).</a:t>
            </a:r>
          </a:p>
        </p:txBody>
      </p:sp>
      <p:sp>
        <p:nvSpPr>
          <p:cNvPr id="45" name="Shape 45"/>
          <p:cNvSpPr/>
          <p:nvPr/>
        </p:nvSpPr>
        <p:spPr>
          <a:xfrm>
            <a:off x="6492240" y="4023360"/>
            <a:ext cx="5120640" cy="22860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6" name="Text 46"/>
          <p:cNvSpPr txBox="1"/>
          <p:nvPr/>
        </p:nvSpPr>
        <p:spPr>
          <a:xfrm>
            <a:off x="6629400" y="411480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모델이 보지 못하는 부하(한계)</a:t>
            </a:r>
          </a:p>
        </p:txBody>
      </p:sp>
      <p:sp>
        <p:nvSpPr>
          <p:cNvPr id="47" name="Text 47"/>
          <p:cNvSpPr txBox="1"/>
          <p:nvPr/>
        </p:nvSpPr>
        <p:spPr>
          <a:xfrm>
            <a:off x="6629400" y="4462272"/>
            <a:ext cx="4846320" cy="1755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통신 계선과 레이더에는 용량이 없다 — 전문이 몰려도 서로 기다리지 않고 각자 지연만큼 뒤에 닿는다. 지휘소의 「바빠서 못 본다」(창구·대기실 포화 → 항적 버림)는 구현돼 있지만, 창구를 쓰는 일이 항적 접수·명령 인가뿐이라 협조 전문·상태 보고로 바쁜 효과는 없다.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이용률은 「항적 접수 처리」만 센 값이다. 예측 평가·협조 전문 판독·상태 보고 읽기는 창구 시간을 쓰지 않으므로 실제 운용자 부하보다 낮다.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포대 채널·탄약은 물리 엔진 값이라 지휘 구조 비교의 대상이 아니다 — 배치·보유탄 가정을 바꾸면 그대로 바뀐다.</a:t>
            </a:r>
          </a:p>
        </p:txBody>
      </p:sp>
    </p:spTree>
  </p:cSld>
  <a:clrMapOvr>
    <a:masterClrMapping/>
  </a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4114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3200" b="1" i="0" dirty="0">
                <a:solidFill>
                  <a:srgbClr val="FFFFFF"/>
                </a:solidFill>
                <a:latin typeface="Malgun Gothic"/>
                <a:ea typeface="Malgun Gothic"/>
              </a:rPr>
              <a:t>6. 결론</a:t>
            </a:r>
          </a:p>
        </p:txBody>
      </p:sp>
      <p:sp>
        <p:nvSpPr>
          <p:cNvPr id="4" name="Shape 4"/>
          <p:cNvSpPr/>
          <p:nvPr/>
        </p:nvSpPr>
        <p:spPr>
          <a:xfrm>
            <a:off x="73152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" name="Text 5"/>
          <p:cNvSpPr txBox="1"/>
          <p:nvPr/>
        </p:nvSpPr>
        <p:spPr>
          <a:xfrm>
            <a:off x="73152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178 → 192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2296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격추(228개 중) · seed 3개 평균 185 → 198 · +14·+14·+13</a:t>
            </a:r>
          </a:p>
        </p:txBody>
      </p:sp>
      <p:sp>
        <p:nvSpPr>
          <p:cNvPr id="7" name="Shape 7"/>
          <p:cNvSpPr/>
          <p:nvPr/>
        </p:nvSpPr>
        <p:spPr>
          <a:xfrm>
            <a:off x="342900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342900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222 → 215초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352044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 · 결심 58→20 · 84→16초</a:t>
            </a:r>
          </a:p>
        </p:txBody>
      </p:sp>
      <p:sp>
        <p:nvSpPr>
          <p:cNvPr id="10" name="Shape 10"/>
          <p:cNvSpPr/>
          <p:nvPr/>
        </p:nvSpPr>
        <p:spPr>
          <a:xfrm>
            <a:off x="612648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612648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6~9 → 4~6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21792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소형 무인기 노드 수 · 전투기 7~9 → 6~7 · 음성 0</a:t>
            </a:r>
          </a:p>
        </p:txBody>
      </p:sp>
      <p:sp>
        <p:nvSpPr>
          <p:cNvPr id="13" name="Shape 13"/>
          <p:cNvSpPr/>
          <p:nvPr/>
        </p:nvSpPr>
        <p:spPr>
          <a:xfrm>
            <a:off x="882396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4" name="Text 14"/>
          <p:cNvSpPr txBox="1"/>
          <p:nvPr/>
        </p:nvSpPr>
        <p:spPr>
          <a:xfrm>
            <a:off x="882396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8 → 12건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91540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한미 중복 발사(As-Is 음성 엇갈림 · To-Be 군단 방공이 협조 고리 밖)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731520" y="288036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① 차이가 격추 수로 드러나는 자리는 「명령이 요격 창 안에 닿아야 하는 위협」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731520" y="320954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방사포 51 → 64 — 두 체계 격추 차이의 거의 전부. 요격 창이 넓은 위협(순항·전투기·소형 무인기)과 THAAD가 맡는 탄도탄에서는 시간·노드 수로만 나타난다.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374904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② 4판(긴급발사 허용)에서 두 체계가 비슷했던 이유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731520" y="407822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포대의 자체 발사가 As-Is의 음성 협조·방공여단 중계 지연을 덮고 있었다. 표준 절차(명령 없이는 발사 없음)로 고치자 명령 경로의 차이가 그대로 드러났다 — 대기 지시의 발사 권한(교전 규칙)이 격추 수를 가장 크게 움직이는 가정.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731520" y="461772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③ 병목은 지휘소가 아니라 포대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731520" y="494690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지휘소는 모두 용량의 절반 아래(통합공중작전통제소 0.20). 포화는 THAAD 채널(6/6)과 상층 L-SAM 탄(24발)뿐이며 두 체계에 같은 벽. 지휘소 포화와 To-Be 우위 확대는 강도 3배 이상에서.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731520" y="548640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④ To-Be의 남은 빈틈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31520" y="581558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군단 방공이 한미 협조 고리 밖에 있어 생기는 중복 발사 12건과, 공중 위협이 발사 원점에서 즉시 보이는 센서 모델(지형 차폐 없음) — 순항미사일의 사수(Patriot 대 천마)가 이 가정에 달려 있다.</a:t>
            </a:r>
          </a:p>
        </p:txBody>
      </p:sp>
    </p:spTree>
  </p:cSld>
  <a:clrMapOvr>
    <a:masterClrMapping/>
  </a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7. 한계점 — 수치를 읽을 때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모델이 보여 줄 수 없는 것과 가정이 결과를 움직이는 자리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8016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표본과 강도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3152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seed 3개 · 강도 1배. 격추 차이는 세 seed에서 방향이 같지만(+18·+19·+6) 크기는 seed 하나의 난수 잡음(±10 안팎)을 포함. 20개 비교와 강도 1·2·3·5배 스윕이 필요.</a:t>
            </a:r>
          </a:p>
        </p:txBody>
      </p:sp>
      <p:sp>
        <p:nvSpPr>
          <p:cNvPr id="10" name="Shape 10"/>
          <p:cNvSpPr/>
          <p:nvPr/>
        </p:nvSpPr>
        <p:spPr>
          <a:xfrm>
            <a:off x="429768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448056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02920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지휘소 부하는 「항적 접수」만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448056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예측 평가·협조 전문 판독·포대 상태 보고 읽기·결과 판독은 창구 시간을 쓰지 않는다. 이용률 0.2~0.5는 실제보다 낮게 읽어야 하고, 통합 지휘소에 모이는 판독 부하는 재지 않았다.</a:t>
            </a:r>
          </a:p>
        </p:txBody>
      </p:sp>
      <p:sp>
        <p:nvSpPr>
          <p:cNvPr id="14" name="Shape 14"/>
          <p:cNvSpPr/>
          <p:nvPr/>
        </p:nvSpPr>
        <p:spPr>
          <a:xfrm>
            <a:off x="804672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822960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77824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레이더에 용량이 없다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동시 추적 수·빔 자원 제한과 지형 차폐가 없어 「레이더가 바빠서·가려서 늦게 본다」는 효과가 어떤 수치에도 없다. 공중 위협을 발사 원점에서 생성해도 생성→탐지가 0~2초인 이유이며, 순항미사일의 사수(Patriot 대 천마)가 여기에 달려 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54864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9" name="Text 19"/>
          <p:cNvSpPr txBox="1"/>
          <p:nvPr/>
        </p:nvSpPr>
        <p:spPr>
          <a:xfrm>
            <a:off x="73152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128016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통신 계선에 용량이 없다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73152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음성 회선에 전문이 몰려도 각각 20초 뒤 따로 닿는다 — 실제 음성 회선은 한 번에 한 통화이므로 As-Is에 유리한 가정. 교전 현황 공유 채널만 용량이 있다(As-Is 121건 손실).</a:t>
            </a:r>
          </a:p>
        </p:txBody>
      </p:sp>
      <p:sp>
        <p:nvSpPr>
          <p:cNvPr id="22" name="Shape 22"/>
          <p:cNvSpPr/>
          <p:nvPr/>
        </p:nvSpPr>
        <p:spPr>
          <a:xfrm>
            <a:off x="429768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3" name="Text 23"/>
          <p:cNvSpPr txBox="1"/>
          <p:nvPr/>
        </p:nvSpPr>
        <p:spPr>
          <a:xfrm>
            <a:off x="448056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502920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탄약·재장전·요격 확률은 개념값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448056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15분 재장전·무한 재보급·1표적 1발·L-SAM 탄 주머니 합산은 모두 상층 포대 처리량을 넉넉하게 본다. 요격 확률은 상수(L-SAM 0.75)이며 명중은 난수로 정해진다.</a:t>
            </a:r>
          </a:p>
        </p:txBody>
      </p:sp>
      <p:sp>
        <p:nvSpPr>
          <p:cNvPr id="26" name="Shape 26"/>
          <p:cNvSpPr/>
          <p:nvPr/>
        </p:nvSpPr>
        <p:spPr>
          <a:xfrm>
            <a:off x="804672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822960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77824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가정이 결과를 가장 크게 움직이는 자리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대기 지시의 발사 권한(교전 규칙 · 4판 211/205 → 5판 176/194), 천마의 To-Be 한정 순항 교전(사용자 가정), 한미 협조 매체(음성 20초 ↔ 데이터링크 1초), 그린파인 직접 인지. 모두 공개 근거가 얇은 개념값.</a:t>
            </a:r>
          </a:p>
        </p:txBody>
      </p:sp>
    </p:spTree>
  </p:cSld>
  <a:clrMapOvr>
    <a:masterClrMapping/>
  </a:clrMapOvr>
</p:sld>
</file>

<file path=ppt/theme/theme1.xml><?xml version="1.0" encoding="utf-8"?>
<a:theme xmlns:a="http://schemas.openxmlformats.org/drawingml/2006/main" name="KJAMDS">
  <a:themeElements>
    <a:clrScheme name="KJAMDS">
      <a:dk1>
        <a:srgbClr val="1D2A35"/>
      </a:dk1>
      <a:lt1>
        <a:srgbClr val="FFFFFF"/>
      </a:lt1>
      <a:dk2>
        <a:srgbClr val="143D5C"/>
      </a:dk2>
      <a:lt2>
        <a:srgbClr val="E8EDF1"/>
      </a:lt2>
      <a:accent1>
        <a:srgbClr val="143D5C"/>
      </a:accent1>
      <a:accent2>
        <a:srgbClr val="B3261E"/>
      </a:accent2>
      <a:accent3>
        <a:srgbClr val="1B7F3B"/>
      </a:accent3>
      <a:accent4>
        <a:srgbClr val="0E7490"/>
      </a:accent4>
      <a:accent5>
        <a:srgbClr val="F59E0B"/>
      </a:accent5>
      <a:accent6>
        <a:srgbClr val="7C3AED"/>
      </a:accent6>
      <a:hlink>
        <a:srgbClr val="0E7490"/>
      </a:hlink>
      <a:folHlink>
        <a:srgbClr val="7C3AED"/>
      </a:folHlink>
    </a:clrScheme>
    <a:fontScheme name="KJAMDS">
      <a:majorFont>
        <a:latin typeface="Malgun Gothic"/>
        <a:ea typeface="Malgun Gothic"/>
        <a:cs typeface=""/>
      </a:majorFont>
      <a:minorFont>
        <a:latin typeface="Malgun Gothic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K-JAMDS 효과척도 분석 발표 정리본</dc:title>
  <dc:creator>K-JAMDS</dc:creator>
</cp:coreProperties>
</file>