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1695" cy="6858000"/>
  <p:notesSz cx="6858000" cy="9144000"/>
  <p:defaultTextStyle>
    <a:defPPr>
      <a:defRPr lang="ko-KR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6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600" b="0" i="0" dirty="0">
                <a:solidFill>
                  <a:srgbClr val="CADCFC"/>
                </a:solidFill>
                <a:latin typeface="Malgun Gothic"/>
                <a:ea typeface="Malgun Gothic"/>
              </a:rPr>
              <a:t>K-JAMDS 지휘통제 효과척도 분석 — 발표 정리본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31520" y="15544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4000" b="1" i="0" dirty="0">
                <a:solidFill>
                  <a:srgbClr val="FFFFFF"/>
                </a:solidFill>
                <a:latin typeface="Malgun Gothic"/>
                <a:ea typeface="Malgun Gothic"/>
              </a:rPr>
              <a:t>현 체계(As-Is) 대 Kill-web(To-Be)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2000" b="0" i="0" dirty="0">
                <a:solidFill>
                  <a:srgbClr val="CADCFC"/>
                </a:solidFill>
                <a:latin typeface="Malgun Gothic"/>
                <a:ea typeface="Malgun Gothic"/>
              </a:rPr>
              <a:t>분절형 대 통합형 — 결심 과정 · 위협별 경로와 노드 수 · 시간 · 부하 · 결론 · 한계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393192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1E4E7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7"/>
          <p:cNvSpPr txBox="1"/>
          <p:nvPr/>
        </p:nvSpPr>
        <p:spPr>
          <a:xfrm>
            <a:off x="731520" y="400507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2600" b="1" i="0" dirty="0">
                <a:solidFill>
                  <a:srgbClr val="FFFFFF"/>
                </a:solidFill>
                <a:latin typeface="Malgun Gothic"/>
                <a:ea typeface="Malgun Gothic"/>
              </a:rPr>
              <a:t>178 → 192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22960" y="470916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buNone/>
            </a:pPr>
            <a:r>
              <a:rPr lang="ko-KR" sz="1100" b="0" i="0" dirty="0">
                <a:solidFill>
                  <a:srgbClr val="CADCFC"/>
                </a:solidFill>
                <a:latin typeface="Malgun Gothic"/>
                <a:ea typeface="Malgun Gothic"/>
              </a:rPr>
              <a:t>격추 수(228개 중) · As-Is → To-Be</a:t>
            </a:r>
          </a:p>
        </p:txBody>
      </p:sp>
      <p:sp>
        <p:nvSpPr>
          <p:cNvPr id="9" name="Shape 9"/>
          <p:cNvSpPr/>
          <p:nvPr/>
        </p:nvSpPr>
        <p:spPr>
          <a:xfrm>
            <a:off x="3429000" y="393192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1E4E7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10"/>
          <p:cNvSpPr txBox="1"/>
          <p:nvPr/>
        </p:nvSpPr>
        <p:spPr>
          <a:xfrm>
            <a:off x="3429000" y="400507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2600" b="1" i="0" dirty="0">
                <a:solidFill>
                  <a:srgbClr val="FFFFFF"/>
                </a:solidFill>
                <a:latin typeface="Malgun Gothic"/>
                <a:ea typeface="Malgun Gothic"/>
              </a:rPr>
              <a:t>222 → 215초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520440" y="470916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buNone/>
            </a:pPr>
            <a:r>
              <a:rPr lang="ko-KR" sz="1100" b="0" i="0" dirty="0">
                <a:solidFill>
                  <a:srgbClr val="CADCFC"/>
                </a:solidFill>
                <a:latin typeface="Malgun Gothic"/>
                <a:ea typeface="Malgun Gothic"/>
              </a:rPr>
              <a:t>교전 시작까지 평균</a:t>
            </a:r>
          </a:p>
        </p:txBody>
      </p:sp>
      <p:sp>
        <p:nvSpPr>
          <p:cNvPr id="12" name="Shape 12"/>
          <p:cNvSpPr/>
          <p:nvPr/>
        </p:nvSpPr>
        <p:spPr>
          <a:xfrm>
            <a:off x="6126480" y="393192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1E4E7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3"/>
          <p:cNvSpPr txBox="1"/>
          <p:nvPr/>
        </p:nvSpPr>
        <p:spPr>
          <a:xfrm>
            <a:off x="6126480" y="400507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2600" b="1" i="0" dirty="0">
                <a:solidFill>
                  <a:srgbClr val="FFFFFF"/>
                </a:solidFill>
                <a:latin typeface="Malgun Gothic"/>
                <a:ea typeface="Malgun Gothic"/>
              </a:rPr>
              <a:t>58 → 20초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217920" y="470916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buNone/>
            </a:pPr>
            <a:r>
              <a:rPr lang="ko-KR" sz="1100" b="0" i="0" dirty="0">
                <a:solidFill>
                  <a:srgbClr val="CADCFC"/>
                </a:solidFill>
                <a:latin typeface="Malgun Gothic"/>
                <a:ea typeface="Malgun Gothic"/>
              </a:rPr>
              <a:t>탄도탄 접수→결심</a:t>
            </a:r>
          </a:p>
        </p:txBody>
      </p:sp>
      <p:sp>
        <p:nvSpPr>
          <p:cNvPr id="15" name="Shape 15"/>
          <p:cNvSpPr/>
          <p:nvPr/>
        </p:nvSpPr>
        <p:spPr>
          <a:xfrm>
            <a:off x="8823960" y="393192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1E4E7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6" name="Text 16"/>
          <p:cNvSpPr txBox="1"/>
          <p:nvPr/>
        </p:nvSpPr>
        <p:spPr>
          <a:xfrm>
            <a:off x="8823960" y="400507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2600" b="1" i="0" dirty="0">
                <a:solidFill>
                  <a:srgbClr val="FFFFFF"/>
                </a:solidFill>
                <a:latin typeface="Malgun Gothic"/>
                <a:ea typeface="Malgun Gothic"/>
              </a:rPr>
              <a:t>6~9 → 4~6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915400" y="470916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buNone/>
            </a:pPr>
            <a:r>
              <a:rPr lang="ko-KR" sz="1100" b="0" i="0" dirty="0">
                <a:solidFill>
                  <a:srgbClr val="CADCFC"/>
                </a:solidFill>
                <a:latin typeface="Malgun Gothic"/>
                <a:ea typeface="Malgun Gothic"/>
              </a:rPr>
              <a:t>소형 무인기 거친 노드 수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ko-KR" sz="1100" b="0" i="0" dirty="0">
                <a:solidFill>
                  <a:srgbClr val="CADCFC"/>
                </a:solidFill>
                <a:latin typeface="Malgun Gothic"/>
                <a:ea typeface="Malgun Gothic"/>
              </a:rPr>
              <a:t>조건: SC3 복합 동시 포화 · 한반도 본 배치(지휘소 96 · 포대 84) · 위협 228개(탄도탄 53 · 방사포 90 · 순항 16 · 전투기 16 · 소형 무인기 53) · 생성 1800초 / 관측 3600초 · seed 29(재현성 30·31) · 표준 절차(대기 지시는 준비만 · 발사는 지휘소 명령 · 예외는 자위권 발사) · 탄도·공중 위협 모두 발사·이륙 원점에서 생성 · 결과서 6판(2026-10-04) 기준 · 모든 수치는 공개자료 기반 정책연구용 개념값</a:t>
            </a:r>
          </a:p>
        </p:txBody>
      </p:sp>
    </p:spTree>
  </p:cSld>
  <a:clrMapOvr>
    <a:masterClrMapping/>
  </a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2500" b="1" i="0" dirty="0">
                <a:solidFill>
                  <a:srgbClr val="143D5C"/>
                </a:solidFill>
                <a:latin typeface="Malgun Gothic"/>
                <a:ea typeface="Malgun Gothic"/>
              </a:rPr>
              <a:t>1. 결심 과정 정리 — 지휘소가 명령하고, 포대가 쏘고, 결과를 보고한다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0" i="0" dirty="0">
                <a:solidFill>
                  <a:srgbClr val="5B6B7A"/>
                </a:solidFill>
                <a:latin typeface="Malgun Gothic"/>
                <a:ea typeface="Malgun Gothic"/>
              </a:rPr>
              <a:t>5단계는 두 체계에 같다. 차이는 각 단계 사이의 매체(음성 ↔ 데이터링크)와 거치는 중계(방공여단 통제소 · 군단 방공 이중 왕복)에 들어간다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900" b="0" i="0" dirty="0">
                <a:solidFill>
                  <a:srgbClr val="8A97A3"/>
                </a:solidFill>
                <a:latin typeface="Malgun Gothic"/>
                <a:ea typeface="Malgun Gothic"/>
              </a:rPr>
              <a:t>K-JAMDS 효과척도 분석 결과서 6판(2026-10-04) · SC3 복합 동시 포화 · 한반도 본 배치(지휘소 96 · 포대 84) · 위협 228개 · seed 29 · 모든 수치는 공개자료 기반 정책연구용 개념값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4630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2D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7"/>
          <p:cNvSpPr txBox="1"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1800" b="1" i="0" dirty="0">
                <a:solidFill>
                  <a:srgbClr val="FFFFFF"/>
                </a:solidFill>
                <a:latin typeface="Malgun Gothic"/>
                <a:ea typeface="Malgun Gothic"/>
              </a:rPr>
              <a:t>①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207008" y="157276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400" b="1" i="0" dirty="0">
                <a:solidFill>
                  <a:srgbClr val="143D5C"/>
                </a:solidFill>
                <a:latin typeface="Malgun Gothic"/>
                <a:ea typeface="Malgun Gothic"/>
              </a:rPr>
              <a:t>탐지·인지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85800" y="2103120"/>
            <a:ext cx="18288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150" b="0" i="0" dirty="0">
                <a:solidFill>
                  <a:srgbClr val="1D2A35"/>
                </a:solidFill>
                <a:latin typeface="Malgun Gothic"/>
                <a:ea typeface="Malgun Gothic"/>
              </a:rPr>
              <a:t>탐지 레이더(그린파인·FPS-117·TPS-880K)가 책임 지휘소에 보고. 감시 등급 항적만 — 이것만으로는 발사 불가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2651760" y="2834640"/>
            <a:ext cx="146304" cy="0"/>
          </a:xfrm>
          <a:prstGeom prst="line">
            <a:avLst/>
          </a:prstGeom>
          <a:ln w="25400">
            <a:solidFill>
              <a:srgbClr val="143D5C"/>
            </a:solidFill>
            <a:tailEnd type="triangle"/>
          </a:ln>
        </p:spPr>
      </p:cxnSp>
      <p:sp>
        <p:nvSpPr>
          <p:cNvPr id="11" name="Shape 11"/>
          <p:cNvSpPr/>
          <p:nvPr/>
        </p:nvSpPr>
        <p:spPr>
          <a:xfrm>
            <a:off x="2798064" y="14630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2D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2"/>
          <p:cNvSpPr txBox="1"/>
          <p:nvPr/>
        </p:nvSpPr>
        <p:spPr>
          <a:xfrm>
            <a:off x="2935224" y="1554480"/>
            <a:ext cx="457200" cy="457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1800" b="1" i="0" dirty="0">
                <a:solidFill>
                  <a:srgbClr val="FFFFFF"/>
                </a:solidFill>
                <a:latin typeface="Malgun Gothic"/>
                <a:ea typeface="Malgun Gothic"/>
              </a:rPr>
              <a:t>②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456432" y="157276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400" b="1" i="0" dirty="0">
                <a:solidFill>
                  <a:srgbClr val="143D5C"/>
                </a:solidFill>
                <a:latin typeface="Malgun Gothic"/>
                <a:ea typeface="Malgun Gothic"/>
              </a:rPr>
              <a:t>대기 지시(준비)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935224" y="2103120"/>
            <a:ext cx="18288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150" b="0" i="0" dirty="0">
                <a:solidFill>
                  <a:srgbClr val="1D2A35"/>
                </a:solidFill>
                <a:latin typeface="Malgun Gothic"/>
                <a:ea typeface="Malgun Gothic"/>
              </a:rPr>
              <a:t>탄도탄·방사포에 한해 요격 창이 있는 상층 포대 전부에 「준비하라」. 표적 정보만 주는 준비 지시 — 발사 권한 아님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4901184" y="2834640"/>
            <a:ext cx="146304" cy="0"/>
          </a:xfrm>
          <a:prstGeom prst="line">
            <a:avLst/>
          </a:prstGeom>
          <a:ln w="25400">
            <a:solidFill>
              <a:srgbClr val="143D5C"/>
            </a:solidFill>
            <a:tailEnd type="triangle"/>
          </a:ln>
        </p:spPr>
      </p:cxnSp>
      <p:sp>
        <p:nvSpPr>
          <p:cNvPr id="16" name="Shape 16"/>
          <p:cNvSpPr/>
          <p:nvPr/>
        </p:nvSpPr>
        <p:spPr>
          <a:xfrm>
            <a:off x="5047488" y="14630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2D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7" name="Text 17"/>
          <p:cNvSpPr txBox="1"/>
          <p:nvPr/>
        </p:nvSpPr>
        <p:spPr>
          <a:xfrm>
            <a:off x="5184648" y="1554480"/>
            <a:ext cx="457200" cy="457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1800" b="1" i="0" dirty="0">
                <a:solidFill>
                  <a:srgbClr val="FFFFFF"/>
                </a:solidFill>
                <a:latin typeface="Malgun Gothic"/>
                <a:ea typeface="Malgun Gothic"/>
              </a:rPr>
              <a:t>③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705856" y="157276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400" b="1" i="0" dirty="0">
                <a:solidFill>
                  <a:srgbClr val="143D5C"/>
                </a:solidFill>
                <a:latin typeface="Malgun Gothic"/>
                <a:ea typeface="Malgun Gothic"/>
              </a:rPr>
              <a:t>사수 지정(결심)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184648" y="2103120"/>
            <a:ext cx="18288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150" b="0" i="0" dirty="0">
                <a:solidFill>
                  <a:srgbClr val="1D2A35"/>
                </a:solidFill>
                <a:latin typeface="Malgun Gothic"/>
                <a:ea typeface="Malgun Gothic"/>
              </a:rPr>
              <a:t>항적 접수 직후 포대마다 「지금/언제 쏠 수 있나」 예측(4초 주기 상태 보고 + 계선 지연). 미군과 협조(As-Is 음성 20초 · To-Be 데이터링크 1초) → 「준비되면 쏘라」 명령</a:t>
            </a:r>
          </a:p>
        </p:txBody>
      </p:sp>
      <p:cxnSp>
        <p:nvCxnSpPr>
          <p:cNvPr id="20" name="Line 20"/>
          <p:cNvCxnSpPr/>
          <p:nvPr/>
        </p:nvCxnSpPr>
        <p:spPr>
          <a:xfrm>
            <a:off x="7150608" y="2834640"/>
            <a:ext cx="146304" cy="0"/>
          </a:xfrm>
          <a:prstGeom prst="line">
            <a:avLst/>
          </a:prstGeom>
          <a:ln w="25400">
            <a:solidFill>
              <a:srgbClr val="143D5C"/>
            </a:solidFill>
            <a:tailEnd type="triangle"/>
          </a:ln>
        </p:spPr>
      </p:cxnSp>
      <p:sp>
        <p:nvSpPr>
          <p:cNvPr id="21" name="Shape 21"/>
          <p:cNvSpPr/>
          <p:nvPr/>
        </p:nvSpPr>
        <p:spPr>
          <a:xfrm>
            <a:off x="7296912" y="14630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2D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2" name="Text 22"/>
          <p:cNvSpPr txBox="1"/>
          <p:nvPr/>
        </p:nvSpPr>
        <p:spPr>
          <a:xfrm>
            <a:off x="7434072" y="1554480"/>
            <a:ext cx="457200" cy="457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1800" b="1" i="0" dirty="0">
                <a:solidFill>
                  <a:srgbClr val="FFFFFF"/>
                </a:solidFill>
                <a:latin typeface="Malgun Gothic"/>
                <a:ea typeface="Malgun Gothic"/>
              </a:rPr>
              <a:t>④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955280" y="157276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400" b="1" i="0" dirty="0">
                <a:solidFill>
                  <a:srgbClr val="143D5C"/>
                </a:solidFill>
                <a:latin typeface="Malgun Gothic"/>
                <a:ea typeface="Malgun Gothic"/>
              </a:rPr>
              <a:t>사격통제 · 발사 · 보고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7434072" y="2103120"/>
            <a:ext cx="18288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150" b="0" i="0" dirty="0">
                <a:solidFill>
                  <a:srgbClr val="1D2A35"/>
                </a:solidFill>
                <a:latin typeface="Malgun Gothic"/>
                <a:ea typeface="Malgun Gothic"/>
              </a:rPr>
              <a:t>포대 레이더 탐지→추적→사격통제 등급, 요격점이 사거리·고도 안에 들면 발사. 결과 보고(BDA) — 빗나가면 지휘소가 재지정</a:t>
            </a:r>
          </a:p>
        </p:txBody>
      </p:sp>
      <p:cxnSp>
        <p:nvCxnSpPr>
          <p:cNvPr id="25" name="Line 25"/>
          <p:cNvCxnSpPr/>
          <p:nvPr/>
        </p:nvCxnSpPr>
        <p:spPr>
          <a:xfrm>
            <a:off x="9400032" y="2834640"/>
            <a:ext cx="146304" cy="0"/>
          </a:xfrm>
          <a:prstGeom prst="line">
            <a:avLst/>
          </a:prstGeom>
          <a:ln w="25400">
            <a:solidFill>
              <a:srgbClr val="143D5C"/>
            </a:solidFill>
            <a:tailEnd type="triangle"/>
          </a:ln>
        </p:spPr>
      </p:cxnSp>
      <p:sp>
        <p:nvSpPr>
          <p:cNvPr id="26" name="Shape 26"/>
          <p:cNvSpPr/>
          <p:nvPr/>
        </p:nvSpPr>
        <p:spPr>
          <a:xfrm>
            <a:off x="9546336" y="14630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2D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7" name="Text 27"/>
          <p:cNvSpPr txBox="1"/>
          <p:nvPr/>
        </p:nvSpPr>
        <p:spPr>
          <a:xfrm>
            <a:off x="9683496" y="1554480"/>
            <a:ext cx="457200" cy="457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1800" b="1" i="0" dirty="0">
                <a:solidFill>
                  <a:srgbClr val="FFFFFF"/>
                </a:solidFill>
                <a:latin typeface="Malgun Gothic"/>
                <a:ea typeface="Malgun Gothic"/>
              </a:rPr>
              <a:t>⑤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0204704" y="157276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400" b="1" i="0" dirty="0">
                <a:solidFill>
                  <a:srgbClr val="143D5C"/>
                </a:solidFill>
                <a:latin typeface="Malgun Gothic"/>
                <a:ea typeface="Malgun Gothic"/>
              </a:rPr>
              <a:t>수행 불가 · 재지정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9683496" y="2103120"/>
            <a:ext cx="18288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150" b="0" i="0" dirty="0">
                <a:solidFill>
                  <a:srgbClr val="1D2A35"/>
                </a:solidFill>
                <a:latin typeface="Malgun Gothic"/>
                <a:ea typeface="Malgun Gothic"/>
              </a:rPr>
              <a:t>예측 준비 시각 + 30초가 지나도 못 쏘면 포대가 CANTCO 회신, 지휘소가 1초 뒤 다른 사수 지정(seed 29 · As-Is 70건 · To-Be 37건)</a:t>
            </a:r>
          </a:p>
        </p:txBody>
      </p:sp>
      <p:sp>
        <p:nvSpPr>
          <p:cNvPr id="30" name="Shape 30"/>
          <p:cNvSpPr/>
          <p:nvPr/>
        </p:nvSpPr>
        <p:spPr>
          <a:xfrm>
            <a:off x="548640" y="443484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DE7E7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31"/>
          <p:cNvSpPr txBox="1"/>
          <p:nvPr/>
        </p:nvSpPr>
        <p:spPr>
          <a:xfrm>
            <a:off x="731520" y="4498848"/>
            <a:ext cx="106984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150" b="1" i="0" dirty="0">
                <a:solidFill>
                  <a:srgbClr val="B3261E"/>
                </a:solidFill>
                <a:latin typeface="Malgun Gothic"/>
                <a:ea typeface="Malgun Gothic"/>
              </a:rPr>
              <a:t>예외 — 자위권 발사 ③  </a:t>
            </a:r>
            <a:r>
              <a:rPr lang="ko-KR" sz="1150" b="0" i="0" dirty="0">
                <a:solidFill>
                  <a:srgbClr val="1D2A35"/>
                </a:solidFill>
                <a:latin typeface="Malgun Gothic"/>
                <a:ea typeface="Malgun Gothic"/>
              </a:rPr>
              <a:t>사수 지정을 받지 못한 포대가 발사 마감이 닥친 위협에 「내가 맞을 것 같다」고 자체 판단해 쏜다(명령 없음). seed 29에서 자위권 결심 As-Is 10건 · To-Be 11건 중 실제 발사 1·2건, 나머지는 발사 직전 재검증에서 발사 불가. 화면에서는 붉은 점선 고리 + 「자위권 ③」 표식.</a:t>
            </a:r>
          </a:p>
        </p:txBody>
      </p:sp>
      <p:sp>
        <p:nvSpPr>
          <p:cNvPr id="32" name="Shape 32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3" name="Text 33"/>
          <p:cNvSpPr txBox="1"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150" b="1" i="0" dirty="0">
                <a:solidFill>
                  <a:srgbClr val="143D5C"/>
                </a:solidFill>
                <a:latin typeface="Malgun Gothic"/>
                <a:ea typeface="Malgun Gothic"/>
              </a:rPr>
              <a:t>5판에서 바뀐 것  </a:t>
            </a:r>
            <a:r>
              <a:rPr lang="ko-KR" sz="1150" b="0" i="0" dirty="0">
                <a:solidFill>
                  <a:srgbClr val="1D2A35"/>
                </a:solidFill>
                <a:latin typeface="Malgun Gothic"/>
                <a:ea typeface="Malgun Gothic"/>
              </a:rPr>
              <a:t>4판까지는 ②의 대기 지시가 발사 권한을 겸해 포대가 조건이 갖춰지면 명령 없이 쏘는 「긴급발사」가 방사포의 5분의 4였다. 표준 절차(C2 명령 → 포대 요격 → 결과 보고)로 고치자 명령 경로의 차이가 그대로 드러나, 비슷하던 격추 수(211 대 205)가 176 대 194로 갈라졌다. 6판은 공중 위협의 생성 기준까지 탄도와 같게(발사·이륙 원점) 맞춘 조건이며 178 대 192다.</a:t>
            </a:r>
          </a:p>
        </p:txBody>
      </p:sp>
    </p:spTree>
  </p:cSld>
  <a:clrMapOvr>
    <a:masterClrMapping/>
  </a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2500" b="1" i="0" dirty="0">
                <a:solidFill>
                  <a:srgbClr val="143D5C"/>
                </a:solidFill>
                <a:latin typeface="Malgun Gothic"/>
                <a:ea typeface="Malgun Gothic"/>
              </a:rPr>
              <a:t>2. 위협별 거치는 노드 (1/2) — 탄도탄 · 방사포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0" i="0" dirty="0">
                <a:solidFill>
                  <a:srgbClr val="5B6B7A"/>
                </a:solidFill>
                <a:latin typeface="Malgun Gothic"/>
                <a:ea typeface="Malgun Gothic"/>
              </a:rPr>
              <a:t>화살표 하나가 노드 하나를 건넌다 · ⇄ 협조는 제안과 회신의 왕복 · 건수는 seed 29에서 발사에 이른 항적 수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900" b="0" i="0" dirty="0">
                <a:solidFill>
                  <a:srgbClr val="8A97A3"/>
                </a:solidFill>
                <a:latin typeface="Malgun Gothic"/>
                <a:ea typeface="Malgun Gothic"/>
              </a:rPr>
              <a:t>K-JAMDS 효과척도 분석 결과서 6판(2026-10-04) · SC3 복합 동시 포화 · 한반도 본 배치(지휘소 96 · 포대 84) · 위협 228개 · seed 29 · 모든 수치는 공개자료 기반 정책연구용 개념값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위협 · 경우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As-Is (분절형)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To-Be (Kill-web 통합형)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탄도탄 ① THAAD가 쏘는 경우(가장 흔함 · 22·29건)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AN/TPY-2 → THAAD 사격통제소 → THAAD 지휘소 ⇄ 음성 협조 탄도탄작전통제소 → THAAD 사격통제소 → THAAD 성주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AN/TPY-2 → THAAD 사격통제소 → THAAD 지휘소 ⇄ 데이터링크 협조 통합공중작전통제소 → THAAD 사격통제소 → THAAD 성주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탄도탄 ② 협조 결과 한국군이 쏘는 경우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… THAAD 지휘소 →(음성 제안) 탄도탄작전통제소 「내 자산이 최적」 → 방공여단 통제소 → L-SAM·PAC-3 사격통제소 → 발사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… THAAD 지휘소 →(데이터링크) 통합공중작전통제소 → L-SAM·PAC-3 사격통제소 → 발사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탄도탄 ③ 그린파인이 먼저 본 경우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그린파인 → 탄도탄작전통제소 ⇄ 음성 협조 THAAD 지휘소 → THAAD 사격통제소 → THAAD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그린파인 → 통합공중작전통제소 ⇄ 데이터링크 협조 THAAD 지휘소 → THAAD 사격통제소 → THAAD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방사포 ① 협조 없이 바로 명령(가장 흔함 · 35·35건)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그린파인 → 탄도탄작전통제소 → 방공여단 통제소 → L-SAM 사격통제소 → L-SAM 중북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그린파인 → 통합공중작전통제소 → L-SAM 사격통제소 → L-SAM 중북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방사포 ② Patriot 지휘소와 협조(23·29건)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그린파인 → 탄도탄작전통제소 ⇄ 음성 협조 Patriot 지휘소 → 방공여단 통제소 → L-SAM 사격통제소 → L-SAM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그린파인 → 통합공중작전통제소 ⇄ 데이터링크 협조 Patriot 지휘소 → L-SAM 사격통제소 → L-SAM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방사포 ③ 미군 축 자체 처리 · 자위권 발사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Patriot 레이더 → Patriot 사격통제소 → Patriot 지휘소 → Patriot 사격통제소 → 발사 · 자위권 1건(대기 지시 → 사격통제소 … 포대 자체 판단)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같음 · 자위권 2건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7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8"/>
          <p:cNvSpPr txBox="1"/>
          <p:nvPr/>
        </p:nvSpPr>
        <p:spPr>
          <a:xfrm>
            <a:off x="685800" y="49834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1" i="0" dirty="0">
                <a:solidFill>
                  <a:srgbClr val="143D5C"/>
                </a:solidFill>
                <a:latin typeface="Malgun Gothic"/>
                <a:ea typeface="Malgun Gothic"/>
              </a:rPr>
              <a:t>분석 코멘트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85800" y="5330952"/>
            <a:ext cx="10789920" cy="886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탄도탄: 두 체계 모두 THAAD 지휘소 ⇄ 결심 지휘소의 협조 왕복이 남아 노드 수가 같고 매체만 바뀐다(음성 평균 20초 → 데이터링크 1초). 한국군 포대가 쏠 때만 As-Is의 방공여단 통제소 한 칸(인가 9초)이 더 낀다.</a:t>
            </a:r>
          </a:p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방사포: 전부 지휘소 명령으로 쏘므로(자위권 1·2건 제외) As-Is 방공여단 중계 한 칸이 모든 경우에 들어가고, Patriot 협조가 붙은 항적(23·29건)에서는 음성 21초 왕복까지 더해진다 — 방사포 격추 51 대 64의 차이가 여기서 난다.</a:t>
            </a:r>
          </a:p>
        </p:txBody>
      </p:sp>
    </p:spTree>
  </p:cSld>
  <a:clrMapOvr>
    <a:masterClrMapping/>
  </a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2500" b="1" i="0" dirty="0">
                <a:solidFill>
                  <a:srgbClr val="143D5C"/>
                </a:solidFill>
                <a:latin typeface="Malgun Gothic"/>
                <a:ea typeface="Malgun Gothic"/>
              </a:rPr>
              <a:t>2. 위협별 거치는 노드 (2/2) — 순항미사일 · 전투기 · 소형 무인기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0" i="0" dirty="0">
                <a:solidFill>
                  <a:srgbClr val="5B6B7A"/>
                </a:solidFill>
                <a:latin typeface="Malgun Gothic"/>
                <a:ea typeface="Malgun Gothic"/>
              </a:rPr>
              <a:t>As-Is의 음성·채팅 구간은 모두 중앙방공통제소 주변에 있다 · To-Be에는 음성이 없다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900" b="0" i="0" dirty="0">
                <a:solidFill>
                  <a:srgbClr val="8A97A3"/>
                </a:solidFill>
                <a:latin typeface="Malgun Gothic"/>
                <a:ea typeface="Malgun Gothic"/>
              </a:rPr>
              <a:t>K-JAMDS 효과척도 분석 결과서 6판(2026-10-04) · SC3 복합 동시 포화 · 한반도 본 배치(지휘소 96 · 포대 84) · 위협 228개 · seed 29 · 모든 수치는 공개자료 기반 정책연구용 개념값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위협 · 경우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As-Is (분절형)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To-Be (Kill-web 통합형)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순항미사일 ① 미군 Patriot 케이시가 쏘는 경우(가장 흔함 · 8·14건)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Patriot 레이더 → Patriot 사격통제소 → Patriot 지휘소 ⇄ 음성 협조 중앙방공통제소 → Patriot 사격통제소 → 발사  [7칸] · FPS-117이 먼저 보면 중앙방공통제소 →(음성) Patriot 지휘소 → … [5칸]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Patriot 레이더 → Patriot 사격통제소 → Patriot 지휘소 ⇄ 데이터링크 협조 통합공중작전통제소 → Patriot 사격통제소 → 발사  [7칸] · FPS-117이 먼저 보면 통합공중작전통제소 → Patriot 지휘소 → … [5칸]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순항미사일 ② 한국군 천궁-II · 천마가 쏘는 경우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Patriot 지휘소 →(음성 제안) 중앙방공통제소 → 방공여단 통제소 → 천궁-II 연천·충주 사격통제소 → 발사 (7건)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FPS-117 → 통합공중작전통제소 → 군단 방공 지휘소 → 천마 사격통제소 → 천마 (2건)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전투기 ① L-SAM 레이더가 본 경우(10·12건)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L-SAM 레이더 → L-SAM 사격통제소 → 방공여단 → 중앙방공통제소 ⇄ 음성 Patriot 지휘소 → 방공여단 → 천궁-II·L-SAM 사격통제소 → 발사  [9칸]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L-SAM 레이더 → 통합공중작전통제소 ⇄ 데이터링크 Patriot 지휘소 → 통합공중작전통제소 → L-SAM·천궁-II 사격통제소 → 발사  [6칸]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전투기 ② Patriot 레이더가 본 경우(6·4건)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Patriot 레이더 → Patriot 사격통제소 → Patriot 지휘소 →(음성) 중앙방공통제소 → 방공여단 통제소 → L-SAM 사격통제소 → 발사  [7칸]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Patriot 레이더 → Patriot 사격통제소 → Patriot 지휘소 ⇄ 데이터링크 통합공중작전통제소 → Patriot 사격통제소 → 발사  [7칸]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소형 무인기 ① 천궁-II 레이더가 본 경우(34·26건)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천궁-II 백령·김포 레이더 → 사격통제소 → 방공여단 → 중앙방공통제소 →(채팅) 군단 방공 →(음성 요청) 중앙방공통제소 →(음성 승인) 군단 방공 → 천마 사격통제소 → 천마  [9칸]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천궁-II 레이더 → 통합공중작전통제소 → 군단 방공 지휘소 → 천마 사격통제소 → 천마  [5칸]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sz="10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소형 무인기 ② TPS-880K가 본 경우(11·24건)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TPS-880K → 군단 방공 →(음성 요청) 중앙방공통제소 →(음성 승인) 군단 방공 → 천마 사격통제소 → 천마  [6칸]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TPS-880K → 군단 방공 지휘소 → 천마·비호 사격통제소 → 발사  [4칸]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7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8"/>
          <p:cNvSpPr txBox="1"/>
          <p:nvPr/>
        </p:nvSpPr>
        <p:spPr>
          <a:xfrm>
            <a:off x="685800" y="516636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1" i="0" dirty="0">
                <a:solidFill>
                  <a:srgbClr val="143D5C"/>
                </a:solidFill>
                <a:latin typeface="Malgun Gothic"/>
                <a:ea typeface="Malgun Gothic"/>
              </a:rPr>
              <a:t>분석 코멘트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85800" y="5513832"/>
            <a:ext cx="1078992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순항미사일은 발사 원점부터 생성되는 6판에서 두 체계 모두 Patriot 케이시가 쏜다(발사 직후 Patriot 레이더·FPS-117이 잡고, 결심 지휘소가 요격 창이 먼저 열리는 포대를 고름). 노드 수는 같고(5~7) 매체만 음성 → 데이터링크. 5판의 「천마 직접 교전」은 2건으로 줄었다.</a:t>
            </a:r>
          </a:p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전투기·소형 무인기는 방공여단 중계와 중앙방공통제소 ⇄ 군단 방공의 채팅·음성 왕복이 빠져 9 → 6 · 9 → 5. TPS-880K가 먼저 보는 경우 As-Is도 승인 왕복만 남아 6칸이다.</a:t>
            </a:r>
          </a:p>
        </p:txBody>
      </p:sp>
    </p:spTree>
  </p:cSld>
  <a:clrMapOvr>
    <a:masterClrMapping/>
  </a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2500" b="1" i="0" dirty="0">
                <a:solidFill>
                  <a:srgbClr val="143D5C"/>
                </a:solidFill>
                <a:latin typeface="Malgun Gothic"/>
                <a:ea typeface="Malgun Gothic"/>
              </a:rPr>
              <a:t>3. 위협별 거치는 노드 수 — 범위(n~n)와 분포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0" i="0" dirty="0">
                <a:solidFill>
                  <a:srgbClr val="5B6B7A"/>
                </a:solidFill>
                <a:latin typeface="Malgun Gothic"/>
                <a:ea typeface="Malgun Gothic"/>
              </a:rPr>
              <a:t>같은 위협이라도 항적마다 다르므로 중앙값이 아니라 범위와 분포로 읽는다 · 굵은 숫자가 가장 흔한 경우 · 건수는 발사에 이른 항적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900" b="0" i="0" dirty="0">
                <a:solidFill>
                  <a:srgbClr val="8A97A3"/>
                </a:solidFill>
                <a:latin typeface="Malgun Gothic"/>
                <a:ea typeface="Malgun Gothic"/>
              </a:rPr>
              <a:t>K-JAMDS 효과척도 분석 결과서 6판(2026-10-04) · SC3 복합 동시 포화 · 한반도 본 배치(지휘소 96 · 포대 84) · 위협 228개 · seed 29 · 모든 수치는 공개자료 기반 정책연구용 개념값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48640" y="1371600"/>
          <a:ext cx="11064240" cy="2523744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2377440"/>
                <a:gridCol w="1097280"/>
                <a:gridCol w="2377440"/>
                <a:gridCol w="283464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sz="105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위협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As-Is 노드 수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As-Is 분포(노드: 건수)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To-Be 노드 수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To-Be 분포(노드: 건수)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줄어드는 자리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탄도탄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5~9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5: 6 · 7: 39 · 9: 8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6~9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6: 12 · 7: 30 · 8: 8 · 9: 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한국군 포대가 쏠 때의 방공여단 중계(−1) · THAAD가 쏘면 7로 같음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방사포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5~7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5: 35 · 7: 23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 i="0" dirty="0">
                          <a:solidFill>
                            <a:srgbClr val="1B7F3B"/>
                          </a:solidFill>
                          <a:latin typeface="Malgun Gothic"/>
                          <a:ea typeface="Malgun Gothic"/>
                        </a:rPr>
                        <a:t>4~7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4: 35 · 5: 3 · 6: 29 · 7: 1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방공여단 중계(−1) · Patriot 협조(+2)는 두 체계에 다 있음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순항미사일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5~7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5: 4 · 7: 12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5~7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5: 5 · 7: 11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같음 — 두 체계 모두 Patriot이 쏘고 협조 왕복이 남음(매체만 바뀜)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전투기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7~9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7: 6 · 9: 10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 i="0" dirty="0">
                          <a:solidFill>
                            <a:srgbClr val="1B7F3B"/>
                          </a:solidFill>
                          <a:latin typeface="Malgun Gothic"/>
                          <a:ea typeface="Malgun Gothic"/>
                        </a:rPr>
                        <a:t>6~7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6: 12 · 7: 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방공여단 중계와 되돌아오는 길(−2~−3) · Patriot이 쏘면 7로 같음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소형 무인기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6~9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6: 11 · 7: 7 · 9: 34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50" b="1" i="0" dirty="0">
                          <a:solidFill>
                            <a:srgbClr val="1B7F3B"/>
                          </a:solidFill>
                          <a:latin typeface="Malgun Gothic"/>
                          <a:ea typeface="Malgun Gothic"/>
                        </a:rPr>
                        <a:t>4~6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4: 24 · 5: 26 · 6: 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05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중앙방공통제소 ⇄ 군단 방공 채팅·음성 이중 왕복(−4) · 방공여단(−1)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7"/>
          <p:cNvSpPr/>
          <p:nvPr/>
        </p:nvSpPr>
        <p:spPr>
          <a:xfrm>
            <a:off x="548640" y="4114800"/>
            <a:ext cx="11064240" cy="219456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8"/>
          <p:cNvSpPr txBox="1"/>
          <p:nvPr/>
        </p:nvSpPr>
        <p:spPr>
          <a:xfrm>
            <a:off x="685800" y="420624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1" i="0" dirty="0">
                <a:solidFill>
                  <a:srgbClr val="143D5C"/>
                </a:solidFill>
                <a:latin typeface="Malgun Gothic"/>
                <a:ea typeface="Malgun Gothic"/>
              </a:rPr>
              <a:t>분석 코멘트 — 같은 위협인데 왜 항적마다 노드 수가 다른가(실행 기록에서 확인된 다섯 원인)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85800" y="4553712"/>
            <a:ext cx="10789920" cy="16642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어느 레이더가 먼저 보았는가(±1~2): 그린파인이면 「레이더 → 결심 지휘소」 2칸, AN/TPY-2이면 「AN/TPY-2 → THAAD 사격통제소 → THAAD 지휘소」 3칸 뒤에 협조 시작. 소형 무인기도 TPS-880K(4·6) 대 천궁-II 레이더(5·9), 순항도 FPS-117(5) 대 Patriot 레이더(7).</a:t>
            </a:r>
          </a:p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한미 협조 왕복이 몇 번 붙었는가(+2씩): 양보 뒤 재제안·빗나간 뒤 재협조가 붙으면 9칸(srbm#3). 상대 진영도 후보 포대를 가졌는지에 달려 항적마다 다름.</a:t>
            </a:r>
          </a:p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사수의 소속(+1): As-Is에서 한국군 포대가 쏘면 방공여단 통제소가 끼고, 미군 포대면 사격통제소로 바로. 군단 방공으로 내려가는 길(As-Is +4): 중앙방공통제소 ⇄ 군단 방공 이중 왕복.</a:t>
            </a:r>
          </a:p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재지정·재교전은 노드 수를 늘리지 않는다(같은 길로 다시) — 시간만 는다. 구조가 바꾸는 것은 방공여단 중계·이중 왕복뿐이고, 레이더·협조 횟수·사수 소속은 두 체계에 똑같이 작용해 To-Be에도 폭이 남는다.</a:t>
            </a:r>
          </a:p>
        </p:txBody>
      </p:sp>
    </p:spTree>
  </p:cSld>
  <a:clrMapOvr>
    <a:masterClrMapping/>
  </a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2500" b="1" i="0" dirty="0">
                <a:solidFill>
                  <a:srgbClr val="143D5C"/>
                </a:solidFill>
                <a:latin typeface="Malgun Gothic"/>
                <a:ea typeface="Malgun Gothic"/>
              </a:rPr>
              <a:t>4. 얼마나 효율적인가 — 시간 (1/2): 단계별 소요(평균 · 초)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0" i="0" dirty="0">
                <a:solidFill>
                  <a:srgbClr val="5B6B7A"/>
                </a:solidFill>
                <a:latin typeface="Malgun Gothic"/>
                <a:ea typeface="Malgun Gothic"/>
              </a:rPr>
              <a:t>접수→결심 = 사수를 정하기까지 · 결심→발사 = 포대가 쏠 수 있게 되기까지의 사수 대기 포함 · 붉은 칸 = 차이 15% 이상이면서 10초 이상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900" b="0" i="0" dirty="0">
                <a:solidFill>
                  <a:srgbClr val="8A97A3"/>
                </a:solidFill>
                <a:latin typeface="Malgun Gothic"/>
                <a:ea typeface="Malgun Gothic"/>
              </a:rPr>
              <a:t>K-JAMDS 효과척도 분석 결과서 6판(2026-10-04) · SC3 복합 동시 포화 · 한반도 본 배치(지휘소 96 · 포대 84) · 위협 228개 · seed 29 · 모든 수치는 공개자료 기반 정책연구용 개념값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400" b="1" i="0" dirty="0">
                <a:solidFill>
                  <a:srgbClr val="143D5C"/>
                </a:solidFill>
                <a:latin typeface="Malgun Gothic"/>
                <a:ea typeface="Malgun Gothic"/>
              </a:rPr>
              <a:t>As-Is (분절형)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48640" y="1691640"/>
          <a:ext cx="11064240" cy="1865376"/>
        </p:xfrm>
        <a:graphic>
          <a:graphicData uri="http://schemas.openxmlformats.org/drawingml/2006/table">
            <a:tbl>
              <a:tblPr/>
              <a:tblGrid>
                <a:gridCol w="1762445"/>
                <a:gridCol w="1272877"/>
                <a:gridCol w="1664532"/>
                <a:gridCol w="1664532"/>
                <a:gridCol w="1468704"/>
                <a:gridCol w="1272877"/>
                <a:gridCol w="1958273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위협(n)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생성→탐지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탐지→지휘소 접수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지휘소 접수→결심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결심→발사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발사→명중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총 걸린 시간(탐지→명중)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탄도탄(53)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58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167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58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286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방사포(90)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15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76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28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125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순항미사일(16)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32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48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107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전투기(16)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53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33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77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164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소형 무인기(53)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84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334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449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400" b="1" i="0" dirty="0">
                <a:solidFill>
                  <a:srgbClr val="1B7F3B"/>
                </a:solidFill>
                <a:latin typeface="Malgun Gothic"/>
                <a:ea typeface="Malgun Gothic"/>
              </a:rPr>
              <a:t>To-Be (Kill-web 통합형)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48640" y="4023360"/>
          <a:ext cx="11064240" cy="1865376"/>
        </p:xfrm>
        <a:graphic>
          <a:graphicData uri="http://schemas.openxmlformats.org/drawingml/2006/table">
            <a:tbl>
              <a:tblPr/>
              <a:tblGrid>
                <a:gridCol w="1762445"/>
                <a:gridCol w="1272877"/>
                <a:gridCol w="1664532"/>
                <a:gridCol w="1664532"/>
                <a:gridCol w="1468704"/>
                <a:gridCol w="1272877"/>
                <a:gridCol w="1958273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위협(n)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생성→탐지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탐지→지휘소 접수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지휘소 접수→결심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결심→발사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발사→명중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총 걸린 시간(탐지→명중)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탄도탄(53)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9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7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20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203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56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282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방사포(90)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15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58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35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119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순항미사일(16)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56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26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87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전투기(16)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15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48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52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119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ko-KR" sz="11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소형 무인기(53)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16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431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465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100" b="1" i="0" dirty="0">
                <a:solidFill>
                  <a:srgbClr val="1D2A35"/>
                </a:solidFill>
                <a:latin typeface="Malgun Gothic"/>
                <a:ea typeface="Malgun Gothic"/>
              </a:rPr>
              <a:t>전체 평균: 교전 시작까지 222 → 215초(seed 30·31도 229 → 218 · 232 → 225초) · 격추까지 263 → 252초 · 생성→탐지는 탄도·공중 모두 발사·이륙 원점 기준(공중 0~2초는 레이더 수평선·지형 차폐 없음의 결과)</a:t>
            </a:r>
          </a:p>
        </p:txBody>
      </p:sp>
    </p:spTree>
  </p:cSld>
  <a:clrMapOvr>
    <a:masterClrMapping/>
  </a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2500" b="1" i="0" dirty="0">
                <a:solidFill>
                  <a:srgbClr val="143D5C"/>
                </a:solidFill>
                <a:latin typeface="Malgun Gothic"/>
                <a:ea typeface="Malgun Gothic"/>
              </a:rPr>
              <a:t>4. 얼마나 효율적인가 — 시간 (2/2): 어디서 빨라지고 어디서 그대로인가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900" b="0" i="0" dirty="0">
                <a:solidFill>
                  <a:srgbClr val="8A97A3"/>
                </a:solidFill>
                <a:latin typeface="Malgun Gothic"/>
                <a:ea typeface="Malgun Gothic"/>
              </a:rPr>
              <a:t>K-JAMDS 효과척도 분석 결과서 6판(2026-10-04) · SC3 복합 동시 포화 · 한반도 본 배치(지휘소 96 · 포대 84) · 위협 228개 · seed 29 · 모든 수치는 공개자료 기반 정책연구용 개념값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23444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6"/>
          <p:cNvSpPr txBox="1"/>
          <p:nvPr/>
        </p:nvSpPr>
        <p:spPr>
          <a:xfrm>
            <a:off x="548640" y="1307592"/>
            <a:ext cx="2606040" cy="7795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3000" b="1" i="0" dirty="0">
                <a:solidFill>
                  <a:srgbClr val="143D5C"/>
                </a:solidFill>
                <a:latin typeface="Malgun Gothic"/>
                <a:ea typeface="Malgun Gothic"/>
              </a:rPr>
              <a:t>58 → 20초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40080" y="2084832"/>
            <a:ext cx="2423160" cy="5385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100" b="0" i="0" dirty="0">
                <a:solidFill>
                  <a:srgbClr val="5B6B7A"/>
                </a:solidFill>
                <a:latin typeface="Malgun Gothic"/>
                <a:ea typeface="Malgun Gothic"/>
              </a:rPr>
              <a:t>탄도탄 · 접수→결심
(음성 왕복 2회 → 데이터링크)</a:t>
            </a:r>
          </a:p>
        </p:txBody>
      </p:sp>
      <p:sp>
        <p:nvSpPr>
          <p:cNvPr id="8" name="Shape 8"/>
          <p:cNvSpPr/>
          <p:nvPr/>
        </p:nvSpPr>
        <p:spPr>
          <a:xfrm>
            <a:off x="3337560" y="123444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9"/>
          <p:cNvSpPr txBox="1"/>
          <p:nvPr/>
        </p:nvSpPr>
        <p:spPr>
          <a:xfrm>
            <a:off x="3337560" y="1307592"/>
            <a:ext cx="2606040" cy="7795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3000" b="1" i="0" dirty="0">
                <a:solidFill>
                  <a:srgbClr val="143D5C"/>
                </a:solidFill>
                <a:latin typeface="Malgun Gothic"/>
                <a:ea typeface="Malgun Gothic"/>
              </a:rPr>
              <a:t>84 → 16초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429000" y="2084832"/>
            <a:ext cx="2423160" cy="5385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100" b="0" i="0" dirty="0">
                <a:solidFill>
                  <a:srgbClr val="5B6B7A"/>
                </a:solidFill>
                <a:latin typeface="Malgun Gothic"/>
                <a:ea typeface="Malgun Gothic"/>
              </a:rPr>
              <a:t>소형 무인기 · 접수→결심
(이중 왕복 제거)</a:t>
            </a:r>
          </a:p>
        </p:txBody>
      </p:sp>
      <p:sp>
        <p:nvSpPr>
          <p:cNvPr id="11" name="Shape 11"/>
          <p:cNvSpPr/>
          <p:nvPr/>
        </p:nvSpPr>
        <p:spPr>
          <a:xfrm>
            <a:off x="6126480" y="123444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2"/>
          <p:cNvSpPr txBox="1"/>
          <p:nvPr/>
        </p:nvSpPr>
        <p:spPr>
          <a:xfrm>
            <a:off x="6126480" y="1307592"/>
            <a:ext cx="2606040" cy="7795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3000" b="1" i="0" dirty="0">
                <a:solidFill>
                  <a:srgbClr val="1B7F3B"/>
                </a:solidFill>
                <a:latin typeface="Malgun Gothic"/>
                <a:ea typeface="Malgun Gothic"/>
              </a:rPr>
              <a:t>53 → 15초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217920" y="2084832"/>
            <a:ext cx="2423160" cy="5385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100" b="0" i="0" dirty="0">
                <a:solidFill>
                  <a:srgbClr val="5B6B7A"/>
                </a:solidFill>
                <a:latin typeface="Malgun Gothic"/>
                <a:ea typeface="Malgun Gothic"/>
              </a:rPr>
              <a:t>전투기 · 접수→결심
(탐지→명중 164 → 119초)</a:t>
            </a:r>
          </a:p>
        </p:txBody>
      </p:sp>
      <p:sp>
        <p:nvSpPr>
          <p:cNvPr id="14" name="Shape 14"/>
          <p:cNvSpPr/>
          <p:nvPr/>
        </p:nvSpPr>
        <p:spPr>
          <a:xfrm>
            <a:off x="8915400" y="123444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5"/>
          <p:cNvSpPr txBox="1"/>
          <p:nvPr/>
        </p:nvSpPr>
        <p:spPr>
          <a:xfrm>
            <a:off x="8915400" y="1307592"/>
            <a:ext cx="2606040" cy="7795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3000" b="1" i="0" dirty="0">
                <a:solidFill>
                  <a:srgbClr val="1B7F3B"/>
                </a:solidFill>
                <a:latin typeface="Malgun Gothic"/>
                <a:ea typeface="Malgun Gothic"/>
              </a:rPr>
              <a:t>32 → 3초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9006840" y="2084832"/>
            <a:ext cx="2423160" cy="5385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100" b="0" i="0" dirty="0">
                <a:solidFill>
                  <a:srgbClr val="5B6B7A"/>
                </a:solidFill>
                <a:latin typeface="Malgun Gothic"/>
                <a:ea typeface="Malgun Gothic"/>
              </a:rPr>
              <a:t>순항미사일 · 접수→결심
(탐지→명중 107 → 87초)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2880360"/>
            <a:ext cx="5394960" cy="274320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8"/>
          <p:cNvSpPr txBox="1"/>
          <p:nvPr/>
        </p:nvSpPr>
        <p:spPr>
          <a:xfrm>
            <a:off x="685800" y="29718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1" i="0" dirty="0">
                <a:solidFill>
                  <a:srgbClr val="143D5C"/>
                </a:solidFill>
                <a:latin typeface="Malgun Gothic"/>
                <a:ea typeface="Malgun Gothic"/>
              </a:rPr>
              <a:t>빨라지는 자리 — 결심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85800" y="3319272"/>
            <a:ext cx="5120640" cy="22128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모든 위협에서 「접수→결심」이 To-Be에서 짧다. 사라진 것은 음성 협조 왕복(평균 20초 × 2), 방공여단 통제소 인가(9초), 중앙방공통제소 ⇄ 군단 방공의 채팅·음성 이중 왕복(50초 안팎).</a:t>
            </a:r>
          </a:p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방사포는 76 → 58초. Patriot 협조 음성 21초와 방공여단 중계가 빠진 몫이며, 요격 창이 좁아 이 18초가 「지휘 시한 초과」 누수(7 대 3)와 격추 수(51 대 64)로 이어진다 — 두 체계 격추 차이 +14의 거의 전부.</a:t>
            </a:r>
          </a:p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같은 탄도탄 srbm#3: As-Is는 음성 제안이 엇갈려 두 지휘소가 각자 사수를 지정(한미 중복) → 둘째 발이 명중, To-Be는 1초 만에 한 곳이 지정 → 그 한 발이 빗나가 누수. 같은 결심 구조에서 명중 추첨이 결과를 가른 예.</a:t>
            </a:r>
          </a:p>
        </p:txBody>
      </p:sp>
      <p:sp>
        <p:nvSpPr>
          <p:cNvPr id="20" name="Shape 20"/>
          <p:cNvSpPr/>
          <p:nvPr/>
        </p:nvSpPr>
        <p:spPr>
          <a:xfrm>
            <a:off x="6217920" y="2880360"/>
            <a:ext cx="5394960" cy="274320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1" name="Text 21"/>
          <p:cNvSpPr txBox="1"/>
          <p:nvPr/>
        </p:nvSpPr>
        <p:spPr>
          <a:xfrm>
            <a:off x="6355080" y="29718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1" i="0" dirty="0">
                <a:solidFill>
                  <a:srgbClr val="143D5C"/>
                </a:solidFill>
                <a:latin typeface="Malgun Gothic"/>
                <a:ea typeface="Malgun Gothic"/>
              </a:rPr>
              <a:t>그대로인 자리 — 발사·명중 시각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355080" y="3319272"/>
            <a:ext cx="5120640" cy="22128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탄도탄·소형 무인기는 결심이 빨라진 만큼 「결심→발사」의 사수 대기가 늘어 총 시간이 같다(286 대 282 · 449 대 465). THAAD가 고도 150 km 아래로 들어오는 시점, 천마 사거리 9 km에 드는 시점을 지휘 구조가 바꾸지 못한다 — 물리가 정하는 시점.</a:t>
            </a:r>
          </a:p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전투기는 요격 창이 넓어 결심이 빨라진 만큼 명중도 빨라진다(164 → 119초). 순항은 두 체계 모두 Patriot이 쏘므로 매체 차이(음성 ↔ 데이터링크)만 남는다(107 → 87초).</a:t>
            </a:r>
          </a:p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정리: 지휘 구조의 효과는 「결심까지의 시간」에 그대로 나타나고, 그것이 격추 수로 바뀌는지는 그 위협의 요격 창이 좁은가(방사포)에 달려 있다.</a:t>
            </a:r>
          </a:p>
        </p:txBody>
      </p:sp>
    </p:spTree>
  </p:cSld>
  <a:clrMapOvr>
    <a:masterClrMapping/>
  </a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2500" b="1" i="0" dirty="0">
                <a:solidFill>
                  <a:srgbClr val="143D5C"/>
                </a:solidFill>
                <a:latin typeface="Malgun Gothic"/>
                <a:ea typeface="Malgun Gothic"/>
              </a:rPr>
              <a:t>5. 얼마나 효율적인가 — 부하 (1/2): 처리 용량이 있는 부분 전부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0" i="0" dirty="0">
                <a:solidFill>
                  <a:srgbClr val="5B6B7A"/>
                </a:solidFill>
                <a:latin typeface="Malgun Gothic"/>
                <a:ea typeface="Malgun Gothic"/>
              </a:rPr>
              <a:t>이용률은 생성 구간 1800초 기준 · 「용량 없음」인 부분은 부하가 커져도 결과에 영향이 없어 분석 범위 밖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900" b="0" i="0" dirty="0">
                <a:solidFill>
                  <a:srgbClr val="8A97A3"/>
                </a:solidFill>
                <a:latin typeface="Malgun Gothic"/>
                <a:ea typeface="Malgun Gothic"/>
              </a:rPr>
              <a:t>K-JAMDS 효과척도 분석 결과서 6판(2026-10-04) · SC3 복합 동시 포화 · 한반도 본 배치(지휘소 96 · 포대 84) · 위협 228개 · seed 29 · 모든 수치는 공개자료 기반 정책연구용 개념값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48640" y="1280160"/>
          <a:ext cx="11064240" cy="3621024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2834640"/>
                <a:gridCol w="228600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부분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용량 모델(개념값)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As-Is 관측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To-Be 관측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판정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143D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결심 지휘소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창구 6·10·20 · 대기실 60·100·40 · 항적당 37.5초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탄도탄작전통제소 0.51</a:t>
                      </a:r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 · 중앙방공통제소 0.29 · 대기 ≤1.4초 · 드롭 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탄도탄작전통제소 0.45 · 통합공중작전통제소 0.20</a:t>
                      </a:r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 · 드롭 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B7F3B"/>
                          </a:solidFill>
                          <a:latin typeface="Malgun Gothic"/>
                          <a:ea typeface="Malgun Gothic"/>
                        </a:rPr>
                        <a:t>여유 — 포화는 강도 3배부터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방공여단 통제소(As-Is)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창구 5 · 대기실 25 · 명령 인가 9초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최대 0.14(3여단 145건) · 드롭 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없음 — 통합망으로 포대 직접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43D5C"/>
                          </a:solidFill>
                          <a:latin typeface="Malgun Gothic"/>
                          <a:ea typeface="Malgun Gothic"/>
                        </a:rPr>
                        <a:t>부하 아닌 지연 +1칸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미군·군단 방공 지휘소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창구 6~12 · 3.5초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≤0.03 · 수방사·서북도서 도착 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≤0.03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B7F3B"/>
                          </a:solidFill>
                          <a:latin typeface="Malgun Gothic"/>
                          <a:ea typeface="Malgun Gothic"/>
                        </a:rPr>
                        <a:t>여유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포대 사격통제소(84곳)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창구 8 · 대기실 16 · 명령 접수 3.5초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32곳 활동 · 최대 0.02 · 드롭 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28곳 활동 · 최대 0.01 · 드롭 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B7F3B"/>
                          </a:solidFill>
                          <a:latin typeface="Malgun Gothic"/>
                          <a:ea typeface="Malgun Gothic"/>
                        </a:rPr>
                        <a:t>여유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포대 동시교전 채널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THAAD 6 · L-SAM 10 · PAC-3·Patriot 9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THAAD 6/6 포화 · 차단 26건</a:t>
                      </a:r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 · L-SAM 5/10 · 3/10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THAAD 6/6 포화 · 차단 24건</a:t>
                      </a:r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 · L-SAM 7/10 · 6/10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THAAD만 포화 — 물리(요격 창 겹침)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포대 발사대·발사 간격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발사대 4~6기 · 발사대당 5초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1분 최대 5~6발 · 10분 18~20발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같음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B7F3B"/>
                          </a:solidFill>
                          <a:latin typeface="Malgun Gothic"/>
                          <a:ea typeface="Malgun Gothic"/>
                        </a:rPr>
                        <a:t>여유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포대 탄약·재장전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L-SAM 24 · THAAD 48 · PAC-3 72 · 재장전 900초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탄 소진 누수 19건</a:t>
                      </a:r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 · 상위 3개 포대 41% · 0발 55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탄 소진 누수 13건</a:t>
                      </a:r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 · 상위 3개 45% · 0발 59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상층 L-SAM 24발이 먼저 닿는 벽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통신 계선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용량 없음 — 지연만(데이터링크 1초 · 음성 20초 · 채팅 40초)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전달 중 전문 최대 0.69건(THAAD→탄도탄작전통제소 음성)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최대 0.62건(그린파인 보고)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5B6B7A"/>
                          </a:solidFill>
                          <a:latin typeface="Malgun Gothic"/>
                          <a:ea typeface="Malgun Gothic"/>
                        </a:rPr>
                        <a:t>포화 자체가 생기지 않음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교전 현황 공유 채널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전송 1 · 대기 4 · As-Is 음성/VTC 135초 · To-Be 1초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버려짐 121건</a:t>
                      </a:r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 · 대기 31건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버려짐 0 · 대기 25건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B3261E"/>
                          </a:solidFill>
                          <a:latin typeface="Malgun Gothic"/>
                          <a:ea typeface="Malgun Gothic"/>
                        </a:rPr>
                        <a:t>As-Is만 손실 — 상급이 군단 방공 교전을 모름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탐지 레이더(71기)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용량 없음 — 추적 수·빔 자원 제한 없음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보고 14기 · 그린파인 충북 140개 · FPS-117 강원북 16건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0" i="0" dirty="0">
                          <a:solidFill>
                            <a:srgbClr val="1D2A35"/>
                          </a:solidFill>
                          <a:latin typeface="Malgun Gothic"/>
                          <a:ea typeface="Malgun Gothic"/>
                        </a:rPr>
                        <a:t>같음(강원북 64건)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900" b="1" i="0" dirty="0">
                          <a:solidFill>
                            <a:srgbClr val="5B6B7A"/>
                          </a:solidFill>
                          <a:latin typeface="Malgun Gothic"/>
                          <a:ea typeface="Malgun Gothic"/>
                        </a:rPr>
                        <a:t>분석 불가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C9D2DA"/>
                      </a:solidFill>
                    </a:lnL>
                    <a:lnR w="6350">
                      <a:solidFill>
                        <a:srgbClr val="C9D2DA"/>
                      </a:solidFill>
                    </a:lnR>
                    <a:lnT w="6350">
                      <a:solidFill>
                        <a:srgbClr val="C9D2DA"/>
                      </a:solidFill>
                    </a:lnT>
                    <a:lnB w="6350">
                      <a:solidFill>
                        <a:srgbClr val="C9D2D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7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000" b="1" i="0" dirty="0">
                <a:solidFill>
                  <a:srgbClr val="1D2A35"/>
                </a:solidFill>
                <a:latin typeface="Malgun Gothic"/>
                <a:ea typeface="Malgun Gothic"/>
              </a:rPr>
              <a:t>읽는 법: 실제로 포화된 것은 THAAD 채널과 상층 포대 탄약뿐 — 지휘 구조가 아니라 물리(요격 창)와 자원(보유탄)이 정한다. 지휘소는 용량의 절반 아래, 통신·레이더는 용량이 없어 포화가 생길 수 없다.</a:t>
            </a:r>
          </a:p>
        </p:txBody>
      </p:sp>
    </p:spTree>
  </p:cSld>
  <a:clrMapOvr>
    <a:masterClrMapping/>
  </a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2500" b="1" i="0" dirty="0">
                <a:solidFill>
                  <a:srgbClr val="143D5C"/>
                </a:solidFill>
                <a:latin typeface="Malgun Gothic"/>
                <a:ea typeface="Malgun Gothic"/>
              </a:rPr>
              <a:t>5. 얼마나 효율적인가 — 부하 (2/2): 병목은 상층 포대 3곳의 채널과 탄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900" b="0" i="0" dirty="0">
                <a:solidFill>
                  <a:srgbClr val="8A97A3"/>
                </a:solidFill>
                <a:latin typeface="Malgun Gothic"/>
                <a:ea typeface="Malgun Gothic"/>
              </a:rPr>
              <a:t>K-JAMDS 효과척도 분석 결과서 6판(2026-10-04) · SC3 복합 동시 포화 · 한반도 본 배치(지휘소 96 · 포대 84) · 위협 228개 · seed 29 · 모든 수치는 공개자료 기반 정책연구용 개념값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118872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1" i="0" dirty="0">
                <a:solidFill>
                  <a:srgbClr val="143D5C"/>
                </a:solidFill>
                <a:latin typeface="Malgun Gothic"/>
                <a:ea typeface="Malgun Gothic"/>
              </a:rPr>
              <a:t>결심 지휘소 이용률(생성 구간 1800초 기준 · 임계 0.9)</a:t>
            </a:r>
          </a:p>
        </p:txBody>
      </p:sp>
      <p:sp>
        <p:nvSpPr>
          <p:cNvPr id="6" name="Shape 6"/>
          <p:cNvSpPr/>
          <p:nvPr/>
        </p:nvSpPr>
        <p:spPr>
          <a:xfrm>
            <a:off x="2286000" y="1600200"/>
            <a:ext cx="3566160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A"/>
            </a:solidFill>
          </a:ln>
        </p:spPr>
        <p:txBody>
          <a:bodyPr/>
          <a:lstStyle/>
          <a:p>
            <a:endParaRPr lang="ko-KR"/>
          </a:p>
        </p:txBody>
      </p:sp>
      <p:cxnSp>
        <p:nvCxnSpPr>
          <p:cNvPr id="7" name="Line 7"/>
          <p:cNvCxnSpPr/>
          <p:nvPr/>
        </p:nvCxnSpPr>
        <p:spPr>
          <a:xfrm>
            <a:off x="5495544" y="1600200"/>
            <a:ext cx="0" cy="3447288"/>
          </a:xfrm>
          <a:prstGeom prst="line">
            <a:avLst/>
          </a:prstGeom>
          <a:ln w="15240">
            <a:solidFill>
              <a:srgbClr val="B3261E"/>
            </a:solidFill>
            <a:prstDash val="dash"/>
          </a:ln>
        </p:spPr>
      </p:cxnSp>
      <p:sp>
        <p:nvSpPr>
          <p:cNvPr id="8" name="Text 8"/>
          <p:cNvSpPr txBox="1"/>
          <p:nvPr/>
        </p:nvSpPr>
        <p:spPr>
          <a:xfrm>
            <a:off x="4946904" y="50657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buNone/>
            </a:pPr>
            <a:r>
              <a:rPr lang="ko-KR" sz="900" b="0" i="0" dirty="0">
                <a:solidFill>
                  <a:srgbClr val="B3261E"/>
                </a:solidFill>
                <a:latin typeface="Malgun Gothic"/>
                <a:ea typeface="Malgun Gothic"/>
              </a:rPr>
              <a:t>임계 0.9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48640" y="164592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r">
              <a:buNone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탄도탄작전통제소</a:t>
            </a:r>
          </a:p>
        </p:txBody>
      </p:sp>
      <p:sp>
        <p:nvSpPr>
          <p:cNvPr id="10" name="Shape 10"/>
          <p:cNvSpPr/>
          <p:nvPr/>
        </p:nvSpPr>
        <p:spPr>
          <a:xfrm>
            <a:off x="2286000" y="1691640"/>
            <a:ext cx="1818742" cy="182880"/>
          </a:xfrm>
          <a:prstGeom prst="rect">
            <a:avLst/>
          </a:prstGeom>
          <a:solidFill>
            <a:srgbClr val="143D5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" name="Text 11"/>
          <p:cNvSpPr txBox="1"/>
          <p:nvPr/>
        </p:nvSpPr>
        <p:spPr>
          <a:xfrm>
            <a:off x="4150462" y="16459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50" b="1" i="0" dirty="0">
                <a:solidFill>
                  <a:srgbClr val="143D5C"/>
                </a:solidFill>
                <a:latin typeface="Malgun Gothic"/>
                <a:ea typeface="Malgun Gothic"/>
              </a:rPr>
              <a:t>0.51</a:t>
            </a:r>
          </a:p>
        </p:txBody>
      </p:sp>
      <p:sp>
        <p:nvSpPr>
          <p:cNvPr id="12" name="Shape 12"/>
          <p:cNvSpPr/>
          <p:nvPr/>
        </p:nvSpPr>
        <p:spPr>
          <a:xfrm>
            <a:off x="2286000" y="1920240"/>
            <a:ext cx="1604772" cy="182880"/>
          </a:xfrm>
          <a:prstGeom prst="rect">
            <a:avLst/>
          </a:prstGeom>
          <a:solidFill>
            <a:srgbClr val="1B7F3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3"/>
          <p:cNvSpPr txBox="1"/>
          <p:nvPr/>
        </p:nvSpPr>
        <p:spPr>
          <a:xfrm>
            <a:off x="3936492" y="1874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50" b="1" i="0" dirty="0">
                <a:solidFill>
                  <a:srgbClr val="1B7F3B"/>
                </a:solidFill>
                <a:latin typeface="Malgun Gothic"/>
                <a:ea typeface="Malgun Gothic"/>
              </a:rPr>
              <a:t>0.45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48640" y="2212848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r">
              <a:buNone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중앙방공통제소</a:t>
            </a:r>
          </a:p>
        </p:txBody>
      </p:sp>
      <p:sp>
        <p:nvSpPr>
          <p:cNvPr id="15" name="Shape 15"/>
          <p:cNvSpPr/>
          <p:nvPr/>
        </p:nvSpPr>
        <p:spPr>
          <a:xfrm>
            <a:off x="2286000" y="2258568"/>
            <a:ext cx="1034186" cy="182880"/>
          </a:xfrm>
          <a:prstGeom prst="rect">
            <a:avLst/>
          </a:prstGeom>
          <a:solidFill>
            <a:srgbClr val="143D5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6" name="Text 16"/>
          <p:cNvSpPr txBox="1"/>
          <p:nvPr/>
        </p:nvSpPr>
        <p:spPr>
          <a:xfrm>
            <a:off x="3365906" y="22128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50" b="1" i="0" dirty="0">
                <a:solidFill>
                  <a:srgbClr val="143D5C"/>
                </a:solidFill>
                <a:latin typeface="Malgun Gothic"/>
                <a:ea typeface="Malgun Gothic"/>
              </a:rPr>
              <a:t>0.29</a:t>
            </a:r>
          </a:p>
        </p:txBody>
      </p:sp>
      <p:sp>
        <p:nvSpPr>
          <p:cNvPr id="17" name="Shape 17"/>
          <p:cNvSpPr/>
          <p:nvPr/>
        </p:nvSpPr>
        <p:spPr>
          <a:xfrm>
            <a:off x="2286000" y="2487168"/>
            <a:ext cx="606247" cy="182880"/>
          </a:xfrm>
          <a:prstGeom prst="rect">
            <a:avLst/>
          </a:prstGeom>
          <a:solidFill>
            <a:srgbClr val="1B7F3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8"/>
          <p:cNvSpPr txBox="1"/>
          <p:nvPr/>
        </p:nvSpPr>
        <p:spPr>
          <a:xfrm>
            <a:off x="2937967" y="24414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50" b="1" i="0" dirty="0">
                <a:solidFill>
                  <a:srgbClr val="1B7F3B"/>
                </a:solidFill>
                <a:latin typeface="Malgun Gothic"/>
                <a:ea typeface="Malgun Gothic"/>
              </a:rPr>
              <a:t>0.17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48640" y="2779776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r">
              <a:buNone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통합공중작전통제소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331720" y="277977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00" b="0" i="0" dirty="0">
                <a:solidFill>
                  <a:srgbClr val="5B6B7A"/>
                </a:solidFill>
                <a:latin typeface="Malgun Gothic"/>
                <a:ea typeface="Malgun Gothic"/>
              </a:rPr>
              <a:t>해당 없음</a:t>
            </a:r>
          </a:p>
        </p:txBody>
      </p:sp>
      <p:sp>
        <p:nvSpPr>
          <p:cNvPr id="21" name="Shape 21"/>
          <p:cNvSpPr/>
          <p:nvPr/>
        </p:nvSpPr>
        <p:spPr>
          <a:xfrm>
            <a:off x="2286000" y="3054096"/>
            <a:ext cx="713232" cy="182880"/>
          </a:xfrm>
          <a:prstGeom prst="rect">
            <a:avLst/>
          </a:prstGeom>
          <a:solidFill>
            <a:srgbClr val="1B7F3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2" name="Text 22"/>
          <p:cNvSpPr txBox="1"/>
          <p:nvPr/>
        </p:nvSpPr>
        <p:spPr>
          <a:xfrm>
            <a:off x="3044952" y="300837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50" b="1" i="0" dirty="0">
                <a:solidFill>
                  <a:srgbClr val="1B7F3B"/>
                </a:solidFill>
                <a:latin typeface="Malgun Gothic"/>
                <a:ea typeface="Malgun Gothic"/>
              </a:rPr>
              <a:t>0.20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48640" y="3346704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r">
              <a:buNone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방공여단 3여단</a:t>
            </a:r>
          </a:p>
        </p:txBody>
      </p:sp>
      <p:sp>
        <p:nvSpPr>
          <p:cNvPr id="24" name="Shape 24"/>
          <p:cNvSpPr/>
          <p:nvPr/>
        </p:nvSpPr>
        <p:spPr>
          <a:xfrm>
            <a:off x="2286000" y="3392424"/>
            <a:ext cx="499262" cy="182880"/>
          </a:xfrm>
          <a:prstGeom prst="rect">
            <a:avLst/>
          </a:prstGeom>
          <a:solidFill>
            <a:srgbClr val="143D5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5" name="Text 25"/>
          <p:cNvSpPr txBox="1"/>
          <p:nvPr/>
        </p:nvSpPr>
        <p:spPr>
          <a:xfrm>
            <a:off x="2830982" y="3346704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50" b="1" i="0" dirty="0">
                <a:solidFill>
                  <a:srgbClr val="143D5C"/>
                </a:solidFill>
                <a:latin typeface="Malgun Gothic"/>
                <a:ea typeface="Malgun Gothic"/>
              </a:rPr>
              <a:t>0.14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2331720" y="357530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00" b="0" i="0" dirty="0">
                <a:solidFill>
                  <a:srgbClr val="5B6B7A"/>
                </a:solidFill>
                <a:latin typeface="Malgun Gothic"/>
                <a:ea typeface="Malgun Gothic"/>
              </a:rPr>
              <a:t>해당 없음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548640" y="391363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r">
              <a:buNone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미군 Patriot 지휘소</a:t>
            </a:r>
          </a:p>
        </p:txBody>
      </p:sp>
      <p:sp>
        <p:nvSpPr>
          <p:cNvPr id="28" name="Shape 28"/>
          <p:cNvSpPr/>
          <p:nvPr/>
        </p:nvSpPr>
        <p:spPr>
          <a:xfrm>
            <a:off x="2286000" y="3959352"/>
            <a:ext cx="71323" cy="182880"/>
          </a:xfrm>
          <a:prstGeom prst="rect">
            <a:avLst/>
          </a:prstGeom>
          <a:solidFill>
            <a:srgbClr val="143D5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9"/>
          <p:cNvSpPr txBox="1"/>
          <p:nvPr/>
        </p:nvSpPr>
        <p:spPr>
          <a:xfrm>
            <a:off x="2403043" y="39136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50" b="1" i="0" dirty="0">
                <a:solidFill>
                  <a:srgbClr val="143D5C"/>
                </a:solidFill>
                <a:latin typeface="Malgun Gothic"/>
                <a:ea typeface="Malgun Gothic"/>
              </a:rPr>
              <a:t>0.02</a:t>
            </a:r>
          </a:p>
        </p:txBody>
      </p:sp>
      <p:sp>
        <p:nvSpPr>
          <p:cNvPr id="30" name="Shape 30"/>
          <p:cNvSpPr/>
          <p:nvPr/>
        </p:nvSpPr>
        <p:spPr>
          <a:xfrm>
            <a:off x="2286000" y="4187952"/>
            <a:ext cx="106985" cy="182880"/>
          </a:xfrm>
          <a:prstGeom prst="rect">
            <a:avLst/>
          </a:prstGeom>
          <a:solidFill>
            <a:srgbClr val="1B7F3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31"/>
          <p:cNvSpPr txBox="1"/>
          <p:nvPr/>
        </p:nvSpPr>
        <p:spPr>
          <a:xfrm>
            <a:off x="2438705" y="414223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50" b="1" i="0" dirty="0">
                <a:solidFill>
                  <a:srgbClr val="1B7F3B"/>
                </a:solidFill>
                <a:latin typeface="Malgun Gothic"/>
                <a:ea typeface="Malgun Gothic"/>
              </a:rPr>
              <a:t>0.03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48640" y="448056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r">
              <a:buNone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군단 방공(서부)</a:t>
            </a:r>
          </a:p>
        </p:txBody>
      </p:sp>
      <p:sp>
        <p:nvSpPr>
          <p:cNvPr id="33" name="Shape 33"/>
          <p:cNvSpPr/>
          <p:nvPr/>
        </p:nvSpPr>
        <p:spPr>
          <a:xfrm>
            <a:off x="2286000" y="4526280"/>
            <a:ext cx="71323" cy="182880"/>
          </a:xfrm>
          <a:prstGeom prst="rect">
            <a:avLst/>
          </a:prstGeom>
          <a:solidFill>
            <a:srgbClr val="143D5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4" name="Text 34"/>
          <p:cNvSpPr txBox="1"/>
          <p:nvPr/>
        </p:nvSpPr>
        <p:spPr>
          <a:xfrm>
            <a:off x="2403043" y="44805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50" b="1" i="0" dirty="0">
                <a:solidFill>
                  <a:srgbClr val="143D5C"/>
                </a:solidFill>
                <a:latin typeface="Malgun Gothic"/>
                <a:ea typeface="Malgun Gothic"/>
              </a:rPr>
              <a:t>0.02</a:t>
            </a:r>
          </a:p>
        </p:txBody>
      </p:sp>
      <p:sp>
        <p:nvSpPr>
          <p:cNvPr id="35" name="Shape 35"/>
          <p:cNvSpPr/>
          <p:nvPr/>
        </p:nvSpPr>
        <p:spPr>
          <a:xfrm>
            <a:off x="2286000" y="4754880"/>
            <a:ext cx="71323" cy="182880"/>
          </a:xfrm>
          <a:prstGeom prst="rect">
            <a:avLst/>
          </a:prstGeom>
          <a:solidFill>
            <a:srgbClr val="1B7F3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6" name="Text 36"/>
          <p:cNvSpPr txBox="1"/>
          <p:nvPr/>
        </p:nvSpPr>
        <p:spPr>
          <a:xfrm>
            <a:off x="2403043" y="47091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950" b="1" i="0" dirty="0">
                <a:solidFill>
                  <a:srgbClr val="1B7F3B"/>
                </a:solidFill>
                <a:latin typeface="Malgun Gothic"/>
                <a:ea typeface="Malgun Gothic"/>
              </a:rPr>
              <a:t>0.02</a:t>
            </a:r>
          </a:p>
        </p:txBody>
      </p:sp>
      <p:sp>
        <p:nvSpPr>
          <p:cNvPr id="37" name="Shape 37"/>
          <p:cNvSpPr/>
          <p:nvPr/>
        </p:nvSpPr>
        <p:spPr>
          <a:xfrm>
            <a:off x="548640" y="5120640"/>
            <a:ext cx="228600" cy="164592"/>
          </a:xfrm>
          <a:prstGeom prst="rect">
            <a:avLst/>
          </a:prstGeom>
          <a:solidFill>
            <a:srgbClr val="143D5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8" name="Text 38"/>
          <p:cNvSpPr txBox="1"/>
          <p:nvPr/>
        </p:nvSpPr>
        <p:spPr>
          <a:xfrm>
            <a:off x="822960" y="5047488"/>
            <a:ext cx="109728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000" b="0" i="0" dirty="0">
                <a:solidFill>
                  <a:srgbClr val="1D2A35"/>
                </a:solidFill>
                <a:latin typeface="Malgun Gothic"/>
                <a:ea typeface="Malgun Gothic"/>
              </a:rPr>
              <a:t>As-Is</a:t>
            </a:r>
          </a:p>
        </p:txBody>
      </p:sp>
      <p:sp>
        <p:nvSpPr>
          <p:cNvPr id="39" name="Shape 39"/>
          <p:cNvSpPr/>
          <p:nvPr/>
        </p:nvSpPr>
        <p:spPr>
          <a:xfrm>
            <a:off x="1737360" y="5120640"/>
            <a:ext cx="228600" cy="164592"/>
          </a:xfrm>
          <a:prstGeom prst="rect">
            <a:avLst/>
          </a:prstGeom>
          <a:solidFill>
            <a:srgbClr val="1B7F3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0" name="Text 40"/>
          <p:cNvSpPr txBox="1"/>
          <p:nvPr/>
        </p:nvSpPr>
        <p:spPr>
          <a:xfrm>
            <a:off x="2011680" y="5047488"/>
            <a:ext cx="109728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000" b="0" i="0" dirty="0">
                <a:solidFill>
                  <a:srgbClr val="1D2A35"/>
                </a:solidFill>
                <a:latin typeface="Malgun Gothic"/>
                <a:ea typeface="Malgun Gothic"/>
              </a:rPr>
              <a:t>To-Be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492240" y="11887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1" i="0" dirty="0">
                <a:solidFill>
                  <a:srgbClr val="B3261E"/>
                </a:solidFill>
                <a:latin typeface="Malgun Gothic"/>
                <a:ea typeface="Malgun Gothic"/>
              </a:rPr>
              <a:t>포대 — 여기가 병목</a:t>
            </a:r>
          </a:p>
        </p:txBody>
      </p:sp>
      <p:sp>
        <p:nvSpPr>
          <p:cNvPr id="42" name="Shape 42"/>
          <p:cNvSpPr/>
          <p:nvPr/>
        </p:nvSpPr>
        <p:spPr>
          <a:xfrm>
            <a:off x="6492240" y="16002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3" name="Text 43"/>
          <p:cNvSpPr txBox="1"/>
          <p:nvPr/>
        </p:nvSpPr>
        <p:spPr>
          <a:xfrm>
            <a:off x="6492240" y="1673352"/>
            <a:ext cx="2468880" cy="729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3000" b="1" i="0" dirty="0">
                <a:solidFill>
                  <a:srgbClr val="B3261E"/>
                </a:solidFill>
                <a:latin typeface="Malgun Gothic"/>
                <a:ea typeface="Malgun Gothic"/>
              </a:rPr>
              <a:t>6/6 · 26건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6583680" y="2395728"/>
            <a:ext cx="2286000" cy="5038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100" b="0" i="0" dirty="0">
                <a:solidFill>
                  <a:srgbClr val="5B6B7A"/>
                </a:solidFill>
                <a:latin typeface="Malgun Gothic"/>
                <a:ea typeface="Malgun Gothic"/>
              </a:rPr>
              <a:t>THAAD 채널 포화 · 차단(As-Is)
To-Be 6/6 · 24건</a:t>
            </a:r>
          </a:p>
        </p:txBody>
      </p:sp>
      <p:sp>
        <p:nvSpPr>
          <p:cNvPr id="45" name="Shape 45"/>
          <p:cNvSpPr/>
          <p:nvPr/>
        </p:nvSpPr>
        <p:spPr>
          <a:xfrm>
            <a:off x="9098280" y="16002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6" name="Text 46"/>
          <p:cNvSpPr txBox="1"/>
          <p:nvPr/>
        </p:nvSpPr>
        <p:spPr>
          <a:xfrm>
            <a:off x="9098280" y="1673352"/>
            <a:ext cx="2468880" cy="729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3000" b="1" i="0" dirty="0">
                <a:solidFill>
                  <a:srgbClr val="B3261E"/>
                </a:solidFill>
                <a:latin typeface="Malgun Gothic"/>
                <a:ea typeface="Malgun Gothic"/>
              </a:rPr>
              <a:t>19 → 13건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9189720" y="2395728"/>
            <a:ext cx="2286000" cy="5038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100" b="0" i="0" dirty="0">
                <a:solidFill>
                  <a:srgbClr val="5B6B7A"/>
                </a:solidFill>
                <a:latin typeface="Malgun Gothic"/>
                <a:ea typeface="Malgun Gothic"/>
              </a:rPr>
              <a:t>탄 소진 누수 As-Is → To-Be
(상층 L-SAM 24발이 먼저 빔)</a:t>
            </a:r>
          </a:p>
        </p:txBody>
      </p:sp>
      <p:sp>
        <p:nvSpPr>
          <p:cNvPr id="48" name="Shape 48"/>
          <p:cNvSpPr/>
          <p:nvPr/>
        </p:nvSpPr>
        <p:spPr>
          <a:xfrm>
            <a:off x="6492240" y="306324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9" name="Text 49"/>
          <p:cNvSpPr txBox="1"/>
          <p:nvPr/>
        </p:nvSpPr>
        <p:spPr>
          <a:xfrm>
            <a:off x="6492240" y="3136392"/>
            <a:ext cx="2468880" cy="729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3000" b="1" i="0" dirty="0">
                <a:solidFill>
                  <a:srgbClr val="143D5C"/>
                </a:solidFill>
                <a:latin typeface="Malgun Gothic"/>
                <a:ea typeface="Malgun Gothic"/>
              </a:rPr>
              <a:t>41% · 45%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583680" y="3858768"/>
            <a:ext cx="2286000" cy="5038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100" b="0" i="0" dirty="0">
                <a:solidFill>
                  <a:srgbClr val="5B6B7A"/>
                </a:solidFill>
                <a:latin typeface="Malgun Gothic"/>
                <a:ea typeface="Malgun Gothic"/>
              </a:rPr>
              <a:t>상위 3개 포대 발사 비중
(THAAD 39·38 · 수도 L-SAM 33·39 · 중북 24·35)</a:t>
            </a:r>
          </a:p>
        </p:txBody>
      </p:sp>
      <p:sp>
        <p:nvSpPr>
          <p:cNvPr id="51" name="Shape 51"/>
          <p:cNvSpPr/>
          <p:nvPr/>
        </p:nvSpPr>
        <p:spPr>
          <a:xfrm>
            <a:off x="9098280" y="306324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2" name="Text 52"/>
          <p:cNvSpPr txBox="1"/>
          <p:nvPr/>
        </p:nvSpPr>
        <p:spPr>
          <a:xfrm>
            <a:off x="9098280" y="3136392"/>
            <a:ext cx="2468880" cy="729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3000" b="1" i="0" dirty="0">
                <a:solidFill>
                  <a:srgbClr val="143D5C"/>
                </a:solidFill>
                <a:latin typeface="Malgun Gothic"/>
                <a:ea typeface="Malgun Gothic"/>
              </a:rPr>
              <a:t>55 · 59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9189720" y="3858768"/>
            <a:ext cx="2286000" cy="5038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100" b="0" i="0" dirty="0">
                <a:solidFill>
                  <a:srgbClr val="5B6B7A"/>
                </a:solidFill>
                <a:latin typeface="Malgun Gothic"/>
                <a:ea typeface="Malgun Gothic"/>
              </a:rPr>
              <a:t>한 발도 안 쏜 포대(84개 중)
— 요격 창 밖의 위치</a:t>
            </a:r>
          </a:p>
        </p:txBody>
      </p:sp>
      <p:sp>
        <p:nvSpPr>
          <p:cNvPr id="54" name="Shape 54"/>
          <p:cNvSpPr/>
          <p:nvPr/>
        </p:nvSpPr>
        <p:spPr>
          <a:xfrm>
            <a:off x="6492240" y="4572000"/>
            <a:ext cx="5120640" cy="173736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5" name="Text 55"/>
          <p:cNvSpPr txBox="1"/>
          <p:nvPr/>
        </p:nvSpPr>
        <p:spPr>
          <a:xfrm>
            <a:off x="6629400" y="46634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1" i="0" dirty="0">
                <a:solidFill>
                  <a:srgbClr val="143D5C"/>
                </a:solidFill>
                <a:latin typeface="Malgun Gothic"/>
                <a:ea typeface="Malgun Gothic"/>
              </a:rPr>
              <a:t>분석 코멘트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6629400" y="5010912"/>
            <a:ext cx="4846320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포화된 두 자리(THAAD 채널·상층 탄)는 두 체계에 같은 물리·자원의 벽이다. 지휘 구조의 차이는 창구 포화가 아니라 거치는 창구의 수(As-Is 방공여단 +1)와 창구 사이의 매체로 나타난다.</a:t>
            </a:r>
          </a:p>
          <a:p>
            <a:pPr algn="l" marL="228600" indent="-228600">
              <a:lnSpc>
                <a:spcPct val="114999"/>
              </a:lnSpc>
              <a:spcAft>
                <a:spcPts val="400"/>
              </a:spcAft>
              <a:buChar char="•"/>
            </a:pPr>
            <a:r>
              <a:rPr lang="ko-KR" sz="1050" b="0" i="0" dirty="0">
                <a:solidFill>
                  <a:srgbClr val="1D2A35"/>
                </a:solidFill>
                <a:latin typeface="Malgun Gothic"/>
                <a:ea typeface="Malgun Gothic"/>
              </a:rPr>
              <a:t>지휘소 포화는 강도 3배부터(탄도탄작전통제소 1.0 · 통합공중작전통제소 0.98). 거기서 To-Be 우위는 +14 → +117(강도 5배)로 커진다.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548640" y="5440680"/>
            <a:ext cx="5760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050" b="0" i="1" dirty="0">
                <a:solidFill>
                  <a:srgbClr val="5B6B7A"/>
                </a:solidFill>
                <a:latin typeface="Malgun Gothic"/>
                <a:ea typeface="Malgun Gothic"/>
              </a:rPr>
              <a:t>이용률은 「항적 접수 처리」만 센 값이다 — 예측 평가·협조 전문 판독·상태 보고 읽기는 창구 시간을 쓰지 않으므로 실제 운용자 부하보다 낮게 읽어야 한다(한계 참조).</a:t>
            </a:r>
          </a:p>
        </p:txBody>
      </p:sp>
    </p:spTree>
  </p:cSld>
  <a:clrMapOvr>
    <a:masterClrMapping/>
  </a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3200" b="1" i="0" dirty="0">
                <a:solidFill>
                  <a:srgbClr val="FFFFFF"/>
                </a:solidFill>
                <a:latin typeface="Malgun Gothic"/>
                <a:ea typeface="Malgun Gothic"/>
              </a:rPr>
              <a:t>6. 결론</a:t>
            </a:r>
          </a:p>
        </p:txBody>
      </p:sp>
      <p:sp>
        <p:nvSpPr>
          <p:cNvPr id="4" name="Shape 4"/>
          <p:cNvSpPr/>
          <p:nvPr/>
        </p:nvSpPr>
        <p:spPr>
          <a:xfrm>
            <a:off x="731520" y="128016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1E4E7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5"/>
          <p:cNvSpPr txBox="1"/>
          <p:nvPr/>
        </p:nvSpPr>
        <p:spPr>
          <a:xfrm>
            <a:off x="731520" y="135331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2600" b="1" i="0" dirty="0">
                <a:solidFill>
                  <a:srgbClr val="FFFFFF"/>
                </a:solidFill>
                <a:latin typeface="Malgun Gothic"/>
                <a:ea typeface="Malgun Gothic"/>
              </a:rPr>
              <a:t>178 → 192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22960" y="20574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050" b="0" i="0" dirty="0">
                <a:solidFill>
                  <a:srgbClr val="CADCFC"/>
                </a:solidFill>
                <a:latin typeface="Malgun Gothic"/>
                <a:ea typeface="Malgun Gothic"/>
              </a:rPr>
              <a:t>격추(228개 중) · seed 3개 평균 185 → 198 · +14·+14·+13</a:t>
            </a:r>
          </a:p>
        </p:txBody>
      </p:sp>
      <p:sp>
        <p:nvSpPr>
          <p:cNvPr id="7" name="Shape 7"/>
          <p:cNvSpPr/>
          <p:nvPr/>
        </p:nvSpPr>
        <p:spPr>
          <a:xfrm>
            <a:off x="3429000" y="128016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1E4E7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8"/>
          <p:cNvSpPr txBox="1"/>
          <p:nvPr/>
        </p:nvSpPr>
        <p:spPr>
          <a:xfrm>
            <a:off x="3429000" y="135331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2600" b="1" i="0" dirty="0">
                <a:solidFill>
                  <a:srgbClr val="FFFFFF"/>
                </a:solidFill>
                <a:latin typeface="Malgun Gothic"/>
                <a:ea typeface="Malgun Gothic"/>
              </a:rPr>
              <a:t>222 → 215초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520440" y="20574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050" b="0" i="0" dirty="0">
                <a:solidFill>
                  <a:srgbClr val="CADCFC"/>
                </a:solidFill>
                <a:latin typeface="Malgun Gothic"/>
                <a:ea typeface="Malgun Gothic"/>
              </a:rPr>
              <a:t>교전 시작까지 평균 · 결심 58→20 · 84→16초</a:t>
            </a:r>
          </a:p>
        </p:txBody>
      </p:sp>
      <p:sp>
        <p:nvSpPr>
          <p:cNvPr id="10" name="Shape 10"/>
          <p:cNvSpPr/>
          <p:nvPr/>
        </p:nvSpPr>
        <p:spPr>
          <a:xfrm>
            <a:off x="6126480" y="128016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1E4E7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" name="Text 11"/>
          <p:cNvSpPr txBox="1"/>
          <p:nvPr/>
        </p:nvSpPr>
        <p:spPr>
          <a:xfrm>
            <a:off x="6126480" y="135331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2600" b="1" i="0" dirty="0">
                <a:solidFill>
                  <a:srgbClr val="FFFFFF"/>
                </a:solidFill>
                <a:latin typeface="Malgun Gothic"/>
                <a:ea typeface="Malgun Gothic"/>
              </a:rPr>
              <a:t>6~9 → 4~6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217920" y="20574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050" b="0" i="0" dirty="0">
                <a:solidFill>
                  <a:srgbClr val="CADCFC"/>
                </a:solidFill>
                <a:latin typeface="Malgun Gothic"/>
                <a:ea typeface="Malgun Gothic"/>
              </a:rPr>
              <a:t>소형 무인기 노드 수 · 전투기 7~9 → 6~7 · 음성 0</a:t>
            </a:r>
          </a:p>
        </p:txBody>
      </p:sp>
      <p:sp>
        <p:nvSpPr>
          <p:cNvPr id="13" name="Shape 13"/>
          <p:cNvSpPr/>
          <p:nvPr/>
        </p:nvSpPr>
        <p:spPr>
          <a:xfrm>
            <a:off x="8823960" y="128016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1E4E7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4"/>
          <p:cNvSpPr txBox="1"/>
          <p:nvPr/>
        </p:nvSpPr>
        <p:spPr>
          <a:xfrm>
            <a:off x="8823960" y="135331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2600" b="1" i="0" dirty="0">
                <a:solidFill>
                  <a:srgbClr val="FFFFFF"/>
                </a:solidFill>
                <a:latin typeface="Malgun Gothic"/>
                <a:ea typeface="Malgun Gothic"/>
              </a:rPr>
              <a:t>8 → 12건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915400" y="20574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114999"/>
              </a:lnSpc>
              <a:buNone/>
            </a:pPr>
            <a:r>
              <a:rPr lang="ko-KR" sz="1050" b="0" i="0" dirty="0">
                <a:solidFill>
                  <a:srgbClr val="CADCFC"/>
                </a:solidFill>
                <a:latin typeface="Malgun Gothic"/>
                <a:ea typeface="Malgun Gothic"/>
              </a:rPr>
              <a:t>한미 중복 발사(As-Is 음성 엇갈림 · To-Be 군단 방공이 협조 고리 밖)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31520" y="288036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400" b="1" i="0" dirty="0">
                <a:solidFill>
                  <a:srgbClr val="FFFFFF"/>
                </a:solidFill>
                <a:latin typeface="Malgun Gothic"/>
                <a:ea typeface="Malgun Gothic"/>
              </a:rPr>
              <a:t>① 차이가 격추 수로 드러나는 자리는 「명령이 요격 창 안에 닿아야 하는 위협」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31520" y="3209544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150" b="0" i="0" dirty="0">
                <a:solidFill>
                  <a:srgbClr val="CADCFC"/>
                </a:solidFill>
                <a:latin typeface="Malgun Gothic"/>
                <a:ea typeface="Malgun Gothic"/>
              </a:rPr>
              <a:t>방사포 51 → 64 — 두 체계 격추 차이의 거의 전부. 요격 창이 넓은 위협(순항·전투기·소형 무인기)과 THAAD가 맡는 탄도탄에서는 시간·노드 수로만 나타난다.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31520" y="37490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400" b="1" i="0" dirty="0">
                <a:solidFill>
                  <a:srgbClr val="FFFFFF"/>
                </a:solidFill>
                <a:latin typeface="Malgun Gothic"/>
                <a:ea typeface="Malgun Gothic"/>
              </a:rPr>
              <a:t>② 4판(긴급발사 허용)에서 두 체계가 비슷했던 이유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31520" y="4078224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150" b="0" i="0" dirty="0">
                <a:solidFill>
                  <a:srgbClr val="CADCFC"/>
                </a:solidFill>
                <a:latin typeface="Malgun Gothic"/>
                <a:ea typeface="Malgun Gothic"/>
              </a:rPr>
              <a:t>포대의 자체 발사가 As-Is의 음성 협조·방공여단 중계 지연을 덮고 있었다. 표준 절차(명령 없이는 발사 없음)로 고치자 명령 경로의 차이가 그대로 드러났다 — 대기 지시의 발사 권한(교전 규칙)이 격추 수를 가장 크게 움직이는 가정.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31520" y="461772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400" b="1" i="0" dirty="0">
                <a:solidFill>
                  <a:srgbClr val="FFFFFF"/>
                </a:solidFill>
                <a:latin typeface="Malgun Gothic"/>
                <a:ea typeface="Malgun Gothic"/>
              </a:rPr>
              <a:t>③ 병목은 지휘소가 아니라 포대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31520" y="4946904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150" b="0" i="0" dirty="0">
                <a:solidFill>
                  <a:srgbClr val="CADCFC"/>
                </a:solidFill>
                <a:latin typeface="Malgun Gothic"/>
                <a:ea typeface="Malgun Gothic"/>
              </a:rPr>
              <a:t>지휘소는 모두 용량의 절반 아래(통합공중작전통제소 0.20). 포화는 THAAD 채널(6/6)과 상층 L-SAM 탄(24발)뿐이며 두 체계에 같은 벽. 지휘소 포화와 To-Be 우위 확대는 강도 3배 이상에서.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31520" y="548640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400" b="1" i="0" dirty="0">
                <a:solidFill>
                  <a:srgbClr val="FFFFFF"/>
                </a:solidFill>
                <a:latin typeface="Malgun Gothic"/>
                <a:ea typeface="Malgun Gothic"/>
              </a:rPr>
              <a:t>④ To-Be의 남은 빈틈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31520" y="5815584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ko-KR" sz="1150" b="0" i="0" dirty="0">
                <a:solidFill>
                  <a:srgbClr val="CADCFC"/>
                </a:solidFill>
                <a:latin typeface="Malgun Gothic"/>
                <a:ea typeface="Malgun Gothic"/>
              </a:rPr>
              <a:t>군단 방공이 한미 협조 고리 밖에 있어 생기는 중복 발사 12건과, 공중 위협이 발사 원점에서 즉시 보이는 센서 모델(지형 차폐 없음) — 순항미사일의 사수(Patriot 대 천마)가 이 가정에 달려 있다.</a:t>
            </a:r>
          </a:p>
        </p:txBody>
      </p:sp>
    </p:spTree>
  </p:cSld>
  <a:clrMapOvr>
    <a:masterClrMapping/>
  </a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2500" b="1" i="0" dirty="0">
                <a:solidFill>
                  <a:srgbClr val="143D5C"/>
                </a:solidFill>
                <a:latin typeface="Malgun Gothic"/>
                <a:ea typeface="Malgun Gothic"/>
              </a:rPr>
              <a:t>7. 한계점 — 수치를 읽을 때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1300" b="0" i="0" dirty="0">
                <a:solidFill>
                  <a:srgbClr val="5B6B7A"/>
                </a:solidFill>
                <a:latin typeface="Malgun Gothic"/>
                <a:ea typeface="Malgun Gothic"/>
              </a:rPr>
              <a:t>모델이 보여 줄 수 없는 것과 가정이 결과를 움직이는 자리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buNone/>
            </a:pPr>
            <a:r>
              <a:rPr lang="ko-KR" sz="900" b="0" i="0" dirty="0">
                <a:solidFill>
                  <a:srgbClr val="8A97A3"/>
                </a:solidFill>
                <a:latin typeface="Malgun Gothic"/>
                <a:ea typeface="Malgun Gothic"/>
              </a:rPr>
              <a:t>K-JAMDS 효과척도 분석 결과서 6판(2026-10-04) · SC3 복합 동시 포화 · 한반도 본 배치(지휘소 96 · 포대 84) · 위협 228개 · seed 29 · 모든 수치는 공개자료 기반 정책연구용 개념값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141732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7"/>
          <p:cNvSpPr txBox="1"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1600" b="1" i="0" dirty="0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280160" y="157276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350" b="1" i="0" dirty="0">
                <a:solidFill>
                  <a:srgbClr val="143D5C"/>
                </a:solidFill>
                <a:latin typeface="Malgun Gothic"/>
                <a:ea typeface="Malgun Gothic"/>
              </a:rPr>
              <a:t>표본과 강도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31520" y="2130552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seed 3개 · 강도 1배. 격추 차이는 세 seed에서 방향이 같지만(+18·+19·+6) 크기는 seed 하나의 난수 잡음(±10 안팎)을 포함. 20개 비교와 강도 1·2·3·5배 스윕이 필요.</a:t>
            </a:r>
          </a:p>
        </p:txBody>
      </p:sp>
      <p:sp>
        <p:nvSpPr>
          <p:cNvPr id="10" name="Shape 10"/>
          <p:cNvSpPr/>
          <p:nvPr/>
        </p:nvSpPr>
        <p:spPr>
          <a:xfrm>
            <a:off x="4297680" y="141732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" name="Text 11"/>
          <p:cNvSpPr txBox="1"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1600" b="1" i="0" dirty="0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29200" y="157276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350" b="1" i="0" dirty="0">
                <a:solidFill>
                  <a:srgbClr val="143D5C"/>
                </a:solidFill>
                <a:latin typeface="Malgun Gothic"/>
                <a:ea typeface="Malgun Gothic"/>
              </a:rPr>
              <a:t>지휘소 부하는 「항적 접수」만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480560" y="2130552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예측 평가·협조 전문 판독·포대 상태 보고 읽기·결과 판독은 창구 시간을 쓰지 않는다. 이용률 0.2~0.5는 실제보다 낮게 읽어야 하고, 통합 지휘소에 모이는 판독 부하는 재지 않았다.</a:t>
            </a:r>
          </a:p>
        </p:txBody>
      </p:sp>
      <p:sp>
        <p:nvSpPr>
          <p:cNvPr id="14" name="Shape 14"/>
          <p:cNvSpPr/>
          <p:nvPr/>
        </p:nvSpPr>
        <p:spPr>
          <a:xfrm>
            <a:off x="8046720" y="141732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5"/>
          <p:cNvSpPr txBox="1"/>
          <p:nvPr/>
        </p:nvSpPr>
        <p:spPr>
          <a:xfrm>
            <a:off x="8229600" y="1554480"/>
            <a:ext cx="457200" cy="457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1600" b="1" i="0" dirty="0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778240" y="157276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350" b="1" i="0" dirty="0">
                <a:solidFill>
                  <a:srgbClr val="143D5C"/>
                </a:solidFill>
                <a:latin typeface="Malgun Gothic"/>
                <a:ea typeface="Malgun Gothic"/>
              </a:rPr>
              <a:t>레이더에 용량이 없다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29600" y="2130552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동시 추적 수·빔 자원 제한과 지형 차폐가 없어 「레이더가 바빠서·가려서 늦게 본다」는 효과가 어떤 수치에도 없다. 공중 위협을 발사 원점에서 생성해도 생성→탐지가 0~2초인 이유이며, 순항미사일의 사수(Patriot 대 천마)가 여기에 달려 있다.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384048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9"/>
          <p:cNvSpPr txBox="1"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1600" b="1" i="0" dirty="0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280160" y="399592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350" b="1" i="0" dirty="0">
                <a:solidFill>
                  <a:srgbClr val="143D5C"/>
                </a:solidFill>
                <a:latin typeface="Malgun Gothic"/>
                <a:ea typeface="Malgun Gothic"/>
              </a:rPr>
              <a:t>통신 계선에 용량이 없다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31520" y="4553712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음성 회선에 전문이 몰려도 각각 20초 뒤 따로 닿는다 — 실제 음성 회선은 한 번에 한 통화이므로 As-Is에 유리한 가정. 교전 현황 공유 채널만 용량이 있다(As-Is 121건 손실).</a:t>
            </a:r>
          </a:p>
        </p:txBody>
      </p:sp>
      <p:sp>
        <p:nvSpPr>
          <p:cNvPr id="22" name="Shape 22"/>
          <p:cNvSpPr/>
          <p:nvPr/>
        </p:nvSpPr>
        <p:spPr>
          <a:xfrm>
            <a:off x="4297680" y="384048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" name="Text 23"/>
          <p:cNvSpPr txBox="1"/>
          <p:nvPr/>
        </p:nvSpPr>
        <p:spPr>
          <a:xfrm>
            <a:off x="4480560" y="3977640"/>
            <a:ext cx="457200" cy="457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1600" b="1" i="0" dirty="0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5029200" y="399592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350" b="1" i="0" dirty="0">
                <a:solidFill>
                  <a:srgbClr val="143D5C"/>
                </a:solidFill>
                <a:latin typeface="Malgun Gothic"/>
                <a:ea typeface="Malgun Gothic"/>
              </a:rPr>
              <a:t>탄약·재장전·요격 확률은 개념값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480560" y="4553712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15분 재장전·무한 재보급·1표적 1발·L-SAM 탄 주머니 합산은 모두 상층 포대 처리량을 넉넉하게 본다. 요격 확률은 상수(L-SAM 0.75)이며 명중은 난수로 정해진다.</a:t>
            </a:r>
          </a:p>
        </p:txBody>
      </p:sp>
      <p:sp>
        <p:nvSpPr>
          <p:cNvPr id="26" name="Shape 26"/>
          <p:cNvSpPr/>
          <p:nvPr/>
        </p:nvSpPr>
        <p:spPr>
          <a:xfrm>
            <a:off x="8046720" y="3840480"/>
            <a:ext cx="3566160" cy="2240280"/>
          </a:xfrm>
          <a:prstGeom prst="roundRect">
            <a:avLst>
              <a:gd name="adj" fmla="val 12000"/>
            </a:avLst>
          </a:prstGeom>
          <a:solidFill>
            <a:srgbClr val="F3F6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7" name="Text 27"/>
          <p:cNvSpPr txBox="1"/>
          <p:nvPr/>
        </p:nvSpPr>
        <p:spPr>
          <a:xfrm>
            <a:off x="8229600" y="3977640"/>
            <a:ext cx="457200" cy="457200"/>
          </a:xfrm>
          <a:prstGeom prst="ellipse">
            <a:avLst/>
          </a:prstGeom>
          <a:solidFill>
            <a:srgbClr val="143D5C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buNone/>
            </a:pPr>
            <a:r>
              <a:rPr lang="ko-KR" sz="1600" b="1" i="0" dirty="0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778240" y="399592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buNone/>
            </a:pPr>
            <a:r>
              <a:rPr lang="ko-KR" sz="1350" b="1" i="0" dirty="0">
                <a:solidFill>
                  <a:srgbClr val="143D5C"/>
                </a:solidFill>
                <a:latin typeface="Malgun Gothic"/>
                <a:ea typeface="Malgun Gothic"/>
              </a:rPr>
              <a:t>가정이 결과를 가장 크게 움직이는 자리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9600" y="4553712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ko-KR" sz="1100" b="0" i="0" dirty="0">
                <a:solidFill>
                  <a:srgbClr val="1D2A35"/>
                </a:solidFill>
                <a:latin typeface="Malgun Gothic"/>
                <a:ea typeface="Malgun Gothic"/>
              </a:rPr>
              <a:t>대기 지시의 발사 권한(교전 규칙 · 4판 211/205 → 5판 176/194), 천마의 To-Be 한정 순항 교전(사용자 가정), 한미 협조 매체(음성 20초 ↔ 데이터링크 1초), 그린파인 직접 인지. 모두 공개 근거가 얇은 개념값.</a:t>
            </a:r>
          </a:p>
        </p:txBody>
      </p:sp>
    </p:spTree>
  </p:cSld>
  <a:clrMapOvr>
    <a:masterClrMapping/>
  </a:clrMapOvr>
</p:sld>
</file>

<file path=ppt/theme/theme1.xml><?xml version="1.0" encoding="utf-8"?>
<a:theme xmlns:a="http://schemas.openxmlformats.org/drawingml/2006/main" name="KJAMDS">
  <a:themeElements>
    <a:clrScheme name="KJAMDS">
      <a:dk1>
        <a:srgbClr val="1D2A35"/>
      </a:dk1>
      <a:lt1>
        <a:srgbClr val="FFFFFF"/>
      </a:lt1>
      <a:dk2>
        <a:srgbClr val="143D5C"/>
      </a:dk2>
      <a:lt2>
        <a:srgbClr val="E8EDF1"/>
      </a:lt2>
      <a:accent1>
        <a:srgbClr val="143D5C"/>
      </a:accent1>
      <a:accent2>
        <a:srgbClr val="B3261E"/>
      </a:accent2>
      <a:accent3>
        <a:srgbClr val="1B7F3B"/>
      </a:accent3>
      <a:accent4>
        <a:srgbClr val="0E7490"/>
      </a:accent4>
      <a:accent5>
        <a:srgbClr val="F59E0B"/>
      </a:accent5>
      <a:accent6>
        <a:srgbClr val="7C3AED"/>
      </a:accent6>
      <a:hlink>
        <a:srgbClr val="0E7490"/>
      </a:hlink>
      <a:folHlink>
        <a:srgbClr val="7C3AED"/>
      </a:folHlink>
    </a:clrScheme>
    <a:fontScheme name="KJAMDS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K-JAMDS 효과척도 분석 발표 정리본</dc:title>
  <dc:creator>K-JAMDS</dc:creator>
</cp:coreProperties>
</file>