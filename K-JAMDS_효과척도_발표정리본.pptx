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초)와 격추 수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결심→발사 = 사수 대기 포함 · 붉은 칸 = 차이 15% 이상·10초 이상 · 시간은 명중한 항적만 세므로 누수는 격추 열로 읽는다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566618"/>
                <a:gridCol w="783309"/>
                <a:gridCol w="1174964"/>
                <a:gridCol w="1566618"/>
                <a:gridCol w="1566618"/>
                <a:gridCol w="1272877"/>
                <a:gridCol w="1272877"/>
                <a:gridCol w="1860359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격추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결심 단축이 총 시간·격추로 이어지는가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단축이 총 시간으로 이어지는가 — 세 갈래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그대로(탄도탄 286 대 282 · 소형 무인기 449 대 465): 결심이 빨라진 만큼 「결심→발사」 사수 대기가 늘어난다. THAAD가 고도 150 km 아래로 들어오는 시점, 천마 사거리 9 km에 드는 시점을 지휘 구조가 바꾸지 못한다 — 요격 창이 열리는 시각은 물리가 정한다.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총 시간 단축(전투기 164 → 119초 · 순항 107 → 87초): 창이 이미 열려 있어 결심이 빨라진 만큼 발사·명중도 당겨진다. 창이 넓어 격추 수는 같다(15 대 15 · 16 대 16). 순항의 결심→발사 48 → 56초·발사→명중 24 → 26초 증가는 늦어진 것이 아니다(생성→발사 83 → 62초) — 결심이 30초 당겨진 만큼 Patriot 창까지의 대기가 늘고, 사수가 한국군 포대 8건(천궁-II·L-SAM · 비행 평균 20초)에서 Patriot 14건(28초)으로 바뀐 결과.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격추 수로 전환(방사포 51 → 64): 창이 좁아 18초 늦은 명령이 창을 넘긴다. 지휘 구조의 효과가 격추로 바뀌는 유일한 유형.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처리 용량이 있는 부분 전부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이용률은 생성 구간 1800초 기준 · 「용량 없음」인 부분은 부하가 커져도 결과에 영향이 없어 분석 범위 밖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280160"/>
          <a:ext cx="11064240" cy="3621024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834640"/>
                <a:gridCol w="228600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용량 모델(개념값)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6·10·20 · 대기실 60·100·40 · 항적당 37.5초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0.51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중앙방공통제소 0.29 · 대기 ≤1.4초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0.45 · 통합공중작전통제소 0.20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강도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통제소(As-Is)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5 · 대기실 25 · 명령 인가 9초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0.14(3여단 145건)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없음 — 통합망으로 포대 직접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 아닌 지연 +1칸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미군·군단 방공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6~12 ·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 · 수방사·서북도서 도착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8 · 대기실 16 · 명령 접수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 · L-SAM 10 · PAC-3·Patriot 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 · 3/10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7/10 · 6/10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THAAD만 포화 — 물리(요격 창 겹침)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발사대·발사 간격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발사대 4~6기 · 발사대당 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1분 최대 5~6발 · 10분 18~20발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탄약·재장전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24 · THAAD 48 · PAC-3 72 · 재장전 900초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19건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포대 41% · 0발 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13건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45% · 0발 59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상층 L-SAM 24발이 먼저 닿는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통신 계선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지연만(데이터링크 1초 · 음성 20초 · 채팅 40초)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전달 중 전문 최대 0.69건(THAAD→탄도탄작전통제소 음성)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0.62건(그린파인 보고)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포화 자체가 생기지 않음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전송 1 · 대기 4 · As-Is 음성/VTC 135초 · To-Be 1초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버려짐 121건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대기 31건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버려짐 0 · 대기 25건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군단 방공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탐지 레이더(71기)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추적 수·빔 자원 제한 없음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보고 14기 · 그린파인 충북 140개 · FPS-117 강원북 16건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같음(강원북 64건)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분석 불가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실제로 포화된 것은 THAAD 채널과 상층 포대 탄약뿐 — 지휘 구조가 아니라 물리(요격 창)와 자원(보유탄)이 정한다. 지휘소는 용량의 절반 아래, 통신·레이더는 용량이 없어 포화가 생길 수 없다.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병목은 상층 포대 3곳의 채널과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이용률(생성 구간 1800초 기준 · 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B3261E"/>
                </a:solidFill>
                <a:latin typeface="Malgun Gothic"/>
                <a:ea typeface="Malgun Gothic"/>
              </a:rPr>
              <a:t>포대 — 여기가 병목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49224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· 26건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58368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채널 포화 · 차단(As-Is)
To-Be 6/6 · 24건</a:t>
            </a:r>
          </a:p>
        </p:txBody>
      </p:sp>
      <p:sp>
        <p:nvSpPr>
          <p:cNvPr id="45" name="Shape 45"/>
          <p:cNvSpPr/>
          <p:nvPr/>
        </p:nvSpPr>
        <p:spPr>
          <a:xfrm>
            <a:off x="909828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909828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918972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48" name="Shape 48"/>
          <p:cNvSpPr/>
          <p:nvPr/>
        </p:nvSpPr>
        <p:spPr>
          <a:xfrm>
            <a:off x="649224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9" name="Text 49"/>
          <p:cNvSpPr txBox="1"/>
          <p:nvPr/>
        </p:nvSpPr>
        <p:spPr>
          <a:xfrm>
            <a:off x="649224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41% · 45%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58368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상위 3개 포대 발사 비중
(THAAD 39·38 · 수도 L-SAM 33·39 · 중북 24·35)</a:t>
            </a:r>
          </a:p>
        </p:txBody>
      </p:sp>
      <p:sp>
        <p:nvSpPr>
          <p:cNvPr id="51" name="Shape 51"/>
          <p:cNvSpPr/>
          <p:nvPr/>
        </p:nvSpPr>
        <p:spPr>
          <a:xfrm>
            <a:off x="909828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Text 52"/>
          <p:cNvSpPr txBox="1"/>
          <p:nvPr/>
        </p:nvSpPr>
        <p:spPr>
          <a:xfrm>
            <a:off x="909828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55 · 59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918972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한 발도 안 쏜 포대(84개 중)
— 요격 창 밖의 위치</a:t>
            </a:r>
          </a:p>
        </p:txBody>
      </p:sp>
      <p:sp>
        <p:nvSpPr>
          <p:cNvPr id="54" name="Shape 54"/>
          <p:cNvSpPr/>
          <p:nvPr/>
        </p:nvSpPr>
        <p:spPr>
          <a:xfrm>
            <a:off x="6492240" y="4572000"/>
            <a:ext cx="5120640" cy="17373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Text 55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629400" y="5010912"/>
            <a:ext cx="4846320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포화된 두 자리(THAAD 채널·상층 탄)는 두 체계에 같은 물리·자원의 벽이다. 지휘 구조의 차이는 창구 포화가 아니라 거치는 창구의 수(As-Is 방공여단 +1)와 창구 사이의 매체로 나타난다.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 포화는 강도 3배부터(탄도탄작전통제소 1.0 · 통합공중작전통제소 0.98). 거기서 To-Be 우위는 +14 → +117(강도 5배)로 커진다.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48640" y="5440680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1" dirty="0">
                <a:solidFill>
                  <a:srgbClr val="5B6B7A"/>
                </a:solidFill>
                <a:latin typeface="Malgun Gothic"/>
                <a:ea typeface="Malgun Gothic"/>
              </a:rPr>
              <a:t>이용률은 「항적 접수 처리」만 센 값이다 — 예측 평가·협조 전문 판독·상태 보고 읽기는 창구 시간을 쓰지 않으므로 실제 운용자 부하보다 낮게 읽어야 한다(한계 참조).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