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6b1b57256c46a3" /><Relationship Type="http://schemas.openxmlformats.org/officeDocument/2006/relationships/extended-properties" Target="/docProps/app.xml" Id="R3f3e12d6fa9b472c" /><Relationship Type="http://schemas.openxmlformats.org/officeDocument/2006/relationships/officeDocument" Target="/ppt/presentation.xml" Id="R60e601ab523541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49efd63e8b41be"/>
  </p:sldMasterIdLst>
  <p:notesMasterIdLst>
    <p:notesMasterId xmlns:r="http://schemas.openxmlformats.org/officeDocument/2006/relationships" r:id="R902036365d34404d"/>
  </p:notesMasterIdLst>
  <p:sldIdLst>
    <p:sldId xmlns:r="http://schemas.openxmlformats.org/officeDocument/2006/relationships" id="256" r:id="R41426cd7ba6d47b1"/>
    <p:sldId xmlns:r="http://schemas.openxmlformats.org/officeDocument/2006/relationships" id="257" r:id="R6d9083dce3674aff"/>
    <p:sldId xmlns:r="http://schemas.openxmlformats.org/officeDocument/2006/relationships" id="258" r:id="Re42f8ad5b78d474a"/>
    <p:sldId xmlns:r="http://schemas.openxmlformats.org/officeDocument/2006/relationships" id="259" r:id="Rb0e997d8fa354554"/>
    <p:sldId xmlns:r="http://schemas.openxmlformats.org/officeDocument/2006/relationships" id="260" r:id="Rf9225a2f7c2f4fd4"/>
    <p:sldId xmlns:r="http://schemas.openxmlformats.org/officeDocument/2006/relationships" id="261" r:id="R111511ccd02941e9"/>
    <p:sldId xmlns:r="http://schemas.openxmlformats.org/officeDocument/2006/relationships" id="262" r:id="Rb29a0bbfbe6b4737"/>
    <p:sldId xmlns:r="http://schemas.openxmlformats.org/officeDocument/2006/relationships" id="263" r:id="Rd35eae2b4b584046"/>
    <p:sldId xmlns:r="http://schemas.openxmlformats.org/officeDocument/2006/relationships" id="264" r:id="R203eaad8261042c5"/>
    <p:sldId xmlns:r="http://schemas.openxmlformats.org/officeDocument/2006/relationships" id="265" r:id="R0f982bf850ca40a1"/>
    <p:sldId xmlns:r="http://schemas.openxmlformats.org/officeDocument/2006/relationships" id="266" r:id="R38c6874aa2b643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6492b134204add" /><Relationship Type="http://schemas.openxmlformats.org/officeDocument/2006/relationships/slideMaster" Target="/ppt/slideMasters/slideMaster1.xml" Id="R6e49efd63e8b41be" /><Relationship Type="http://schemas.openxmlformats.org/officeDocument/2006/relationships/notesMaster" Target="/ppt/notesMasters/notesMaster1.xml" Id="R902036365d34404d" /><Relationship Type="http://schemas.openxmlformats.org/officeDocument/2006/relationships/presProps" Target="/ppt/presProps.xml" Id="R870ccac3ee614fe9" /><Relationship Type="http://schemas.openxmlformats.org/officeDocument/2006/relationships/tableStyles" Target="/ppt/tableStyles.xml" Id="Rab7f94de97604d27" /><Relationship Type="http://schemas.openxmlformats.org/officeDocument/2006/relationships/slide" Target="/ppt/slides/slide1.xml" Id="R41426cd7ba6d47b1" /><Relationship Type="http://schemas.openxmlformats.org/officeDocument/2006/relationships/slide" Target="/ppt/slides/slide2.xml" Id="R6d9083dce3674aff" /><Relationship Type="http://schemas.openxmlformats.org/officeDocument/2006/relationships/slide" Target="/ppt/slides/slide3.xml" Id="Re42f8ad5b78d474a" /><Relationship Type="http://schemas.openxmlformats.org/officeDocument/2006/relationships/slide" Target="/ppt/slides/slide4.xml" Id="Rb0e997d8fa354554" /><Relationship Type="http://schemas.openxmlformats.org/officeDocument/2006/relationships/slide" Target="/ppt/slides/slide5.xml" Id="Rf9225a2f7c2f4fd4" /><Relationship Type="http://schemas.openxmlformats.org/officeDocument/2006/relationships/slide" Target="/ppt/slides/slide6.xml" Id="R111511ccd02941e9" /><Relationship Type="http://schemas.openxmlformats.org/officeDocument/2006/relationships/slide" Target="/ppt/slides/slide7.xml" Id="Rb29a0bbfbe6b4737" /><Relationship Type="http://schemas.openxmlformats.org/officeDocument/2006/relationships/slide" Target="/ppt/slides/slide8.xml" Id="Rd35eae2b4b584046" /><Relationship Type="http://schemas.openxmlformats.org/officeDocument/2006/relationships/slide" Target="/ppt/slides/slide9.xml" Id="R203eaad8261042c5" /><Relationship Type="http://schemas.openxmlformats.org/officeDocument/2006/relationships/slide" Target="/ppt/slides/slide10.xml" Id="R0f982bf850ca40a1" /><Relationship Type="http://schemas.openxmlformats.org/officeDocument/2006/relationships/slide" Target="/ppt/slides/slide11.xml" Id="R38c6874aa2b643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19602ae43e48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44bff5ea3a4052" /><Relationship Type="http://schemas.openxmlformats.org/officeDocument/2006/relationships/notesMaster" Target="/ppt/notesMasters/notesMaster1.xml" Id="Ree8e943b88354f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c9c2877bec47e8" /><Relationship Type="http://schemas.openxmlformats.org/officeDocument/2006/relationships/notesMaster" Target="/ppt/notesMasters/notesMaster1.xml" Id="R99c3a50378854b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736b1b3da64f17" /><Relationship Type="http://schemas.openxmlformats.org/officeDocument/2006/relationships/notesMaster" Target="/ppt/notesMasters/notesMaster1.xml" Id="R136e76154c5746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a956591d244884" /><Relationship Type="http://schemas.openxmlformats.org/officeDocument/2006/relationships/notesMaster" Target="/ppt/notesMasters/notesMaster1.xml" Id="Rd9f380a038bd46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00d6b202b24407" /><Relationship Type="http://schemas.openxmlformats.org/officeDocument/2006/relationships/notesMaster" Target="/ppt/notesMasters/notesMaster1.xml" Id="Rd4e066d9011e40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81e4c0cd594f8b" /><Relationship Type="http://schemas.openxmlformats.org/officeDocument/2006/relationships/notesMaster" Target="/ppt/notesMasters/notesMaster1.xml" Id="R1da433babc244e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5e813675854486" /><Relationship Type="http://schemas.openxmlformats.org/officeDocument/2006/relationships/notesMaster" Target="/ppt/notesMasters/notesMaster1.xml" Id="Red73a27987bc4f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5b1ab3d1ad414c" /><Relationship Type="http://schemas.openxmlformats.org/officeDocument/2006/relationships/notesMaster" Target="/ppt/notesMasters/notesMaster1.xml" Id="Ra680c3ae68a949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6d7f1fa9c34110" /><Relationship Type="http://schemas.openxmlformats.org/officeDocument/2006/relationships/notesMaster" Target="/ppt/notesMasters/notesMaster1.xml" Id="Rc731687d33de4f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47b8c0f5eb4853" /><Relationship Type="http://schemas.openxmlformats.org/officeDocument/2006/relationships/notesMaster" Target="/ppt/notesMasters/notesMaster1.xml" Id="R630ec9807ba242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9330f1fcf446ba" /><Relationship Type="http://schemas.openxmlformats.org/officeDocument/2006/relationships/notesMaster" Target="/ppt/notesMasters/notesMaster1.xml" Id="R9c105187e3d543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자료는 HANBANDO_LEGACY_NORMAL 한 배치만 다룹니다.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README.md: 모델 범위와 기본 분석 배치</a:t>
            </a:r>
          </a:p>
          <a:p xmlns:a="http://schemas.openxmlformats.org/drawingml/2006/main">
            <a:r>
              <a:t>- docs/adr/ADR-080-local-radar-relay-and-normal-dist.md: 최신 C2 배선 기준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As-Is 64개, To-Be 65개 노드의 차이는 IAOC 하나입니다. EOC는 ADR-078에서 유령 노드로 판정되어 삭제됐습니다.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.tmp_legacy_deck.1dhYP6/current-c2.json: 현행 노드·링크 수와 자산 그룹</a:t>
            </a:r>
          </a:p>
          <a:p xmlns:a="http://schemas.openxmlformats.org/drawingml/2006/main">
            <a:r>
              <a:t>- README.md: HANBANDO_LEGACY_NORMAL 자산 편성 및 ADR-060 범위</a:t>
            </a:r>
          </a:p>
          <a:p xmlns:a="http://schemas.openxmlformats.org/drawingml/2006/main">
            <a:r>
              <a:t>- docs/adr/ADR-078-iaoc-as-upper-echelon.md: IAOC 계층화와 EOC 삭제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선은 그룹화된 연결을 나타냅니다. 같은 유형의 반복 노드는 한 상자로 묶었습니다.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.tmp_legacy_deck.1dhYP6/current-c2.json: As-Is 64노드·116링크, 그룹별 연결과 지연</a:t>
            </a:r>
          </a:p>
          <a:p xmlns:a="http://schemas.openxmlformats.org/drawingml/2006/main">
            <a:r>
              <a:t>- js/config/deployment-adapter.js: CHAT_TRACK, VOICE, VOICE_STATUS, 보고주기와 C2 계선</a:t>
            </a:r>
          </a:p>
          <a:p xmlns:a="http://schemas.openxmlformats.org/drawingml/2006/main">
            <a:r>
              <a:t>- docs/adr/ADR-079-corps-aoc-chat-track-relay.md: 육↔공 문자 항적 중계</a:t>
            </a:r>
          </a:p>
          <a:p xmlns:a="http://schemas.openxmlformats.org/drawingml/2006/main">
            <a:r>
              <a:t>- docs/adr/ADR-080-local-radar-relay-and-normal-dist.md: TPS880K→ADC2A→MCRC와 정규 음성 분포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To-Be는 MCRC와 KAMDOC를 없애지 않고 IAOC 아래 병렬 도메인 제대로 유지합니다.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.tmp_legacy_deck.1dhYP6/current-c2.json: To-Be 65노드·221링크와 IFCN 계선</a:t>
            </a:r>
          </a:p>
          <a:p xmlns:a="http://schemas.openxmlformats.org/drawingml/2006/main">
            <a:r>
              <a:t>- js/config/deployment-adapter.js: IAOC 센서 직결, 도메인 병렬 통보, C2↔IAOC 협조</a:t>
            </a:r>
          </a:p>
          <a:p xmlns:a="http://schemas.openxmlformats.org/drawingml/2006/main">
            <a:r>
              <a:t>- docs/adr/ADR-078-iaoc-as-upper-echelon.md: IAOC를 상위 조율층으로 정립한 결정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C2 노드의 큐는 M/M/c/K 형태이며 서비스시간은 시스템 처리와 운용자 시간을 합친 개념값입니다.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.tmp_legacy_deck.1dhYP6/current-c2.json: 노드별 서버·서비스시간·큐 용량과 링크 파라미터</a:t>
            </a:r>
          </a:p>
          <a:p xmlns:a="http://schemas.openxmlformats.org/drawingml/2006/main">
            <a:r>
              <a:t>- js/config/system-types.js: C2 유형별 simultaneousCapacity와 processing</a:t>
            </a:r>
          </a:p>
          <a:p xmlns:a="http://schemas.openxmlformats.org/drawingml/2006/main">
            <a:r>
              <a:t>- js/config/deployment-adapter.js: 링크 매체·분포·지연</a:t>
            </a:r>
          </a:p>
          <a:p xmlns:a="http://schemas.openxmlformats.org/drawingml/2006/main">
            <a:r>
              <a:t>- docs/params.md: IADS-C2-COMPAT-01, C2-CHAT-TRACK-01, C2-VOICE-COORD-01, C2-ENG-STATUS-01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최신 결과 슬라이드는 12개 seed, 900초, 강도 1.5 조건입니다. 각 복제에서 As-Is와 To-Be가 같은 위협열을 마주합니다.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README.md: native IADS 파이프라인과 CRN 설계</a:t>
            </a:r>
          </a:p>
          <a:p xmlns:a="http://schemas.openxmlformats.org/drawingml/2006/main">
            <a:r>
              <a:t>- js/engine/sim-engine.js: DES 이벤트·대기열·교전·결과 집계</a:t>
            </a:r>
          </a:p>
          <a:p xmlns:a="http://schemas.openxmlformats.org/drawingml/2006/main">
            <a:r>
              <a:t>- scripts/experiment-lib.mjs: paired runCell, metricsOf, Welford 95% CI</a:t>
            </a:r>
          </a:p>
          <a:p xmlns:a="http://schemas.openxmlformats.org/drawingml/2006/main">
            <a:r>
              <a:t>- docs/모의논리서.html: 시간 관문·지표 정의·V&amp;V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두 화면은 SC3, LEGACY_NORMAL, 강도 1.5의 실제 로컬 UI입니다. 분석 화면의 숫자는 단일 seed 예시이며 통계 결과는 다음 슬라이드에서 별도로 제시합니다.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_tmp_presentation_sim_map.png: 로컬 시뮬레이터 지도 화면</a:t>
            </a:r>
          </a:p>
          <a:p xmlns:a="http://schemas.openxmlformats.org/drawingml/2006/main">
            <a:r>
              <a:t>- _tmp_presentation_analysis.png: 로컬 시뮬레이터 시간 관문 화면</a:t>
            </a:r>
          </a:p>
          <a:p xmlns:a="http://schemas.openxmlformats.org/drawingml/2006/main">
            <a:r>
              <a:t>- index.html and js/ui/map-view.js: 지도·범례·재생 UI</a:t>
            </a:r>
          </a:p>
          <a:p xmlns:a="http://schemas.openxmlformats.org/drawingml/2006/main">
            <a:r>
              <a:t>- js/ui/panels.js and js/analysis/c2-report.js: 시간 관문·항적 병렬 비교 UI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시나리오는 병목을 직접 지정하지 않고 위협 유형·축선·도착률만 정의합니다.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js/data/scenarios.js: SC1·SC2·SC3 mix, burst, southernMix, 문제상황 설명</a:t>
            </a:r>
          </a:p>
          <a:p xmlns:a="http://schemas.openxmlformats.org/drawingml/2006/main">
            <a:r>
              <a:t>- .tmp_legacy_deck.1dhYP6/current-sc1.json: 현행 SC1 평균 생성량</a:t>
            </a:r>
          </a:p>
          <a:p xmlns:a="http://schemas.openxmlformats.org/drawingml/2006/main">
            <a:r>
              <a:t>- .tmp_legacy_deck.1dhYP6/current-sc2.json: 현행 SC2 평균 생성량</a:t>
            </a:r>
          </a:p>
          <a:p xmlns:a="http://schemas.openxmlformats.org/drawingml/2006/main">
            <a:r>
              <a:t>- .tmp_legacy_deck.1dhYP6/current-sc3.json: 현행 SC3 평균 생성량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수치는 현행 작업트리에서 직접 다시 계산했습니다. SC1은 현재 셀에서 유의하지만 과거 저부하 결과가 가정에 따라 흔들렸으므로 일반화하지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.tmp_legacy_deck.1dhYP6/current-sc1.json: 격추율과 paired Δ 95% CI</a:t>
            </a:r>
          </a:p>
          <a:p xmlns:a="http://schemas.openxmlformats.org/drawingml/2006/main">
            <a:r>
              <a:t>- .tmp_legacy_deck.1dhYP6/current-sc2.json: 격추율과 paired Δ 95% CI</a:t>
            </a:r>
          </a:p>
          <a:p xmlns:a="http://schemas.openxmlformats.org/drawingml/2006/main">
            <a:r>
              <a:t>- .tmp_legacy_deck.1dhYP6/current-sc3.json: 격추율과 paired Δ 95% CI</a:t>
            </a:r>
          </a:p>
          <a:p xmlns:a="http://schemas.openxmlformats.org/drawingml/2006/main">
            <a:r>
              <a:t>- scripts/experiment-lib.mjs: 전체 생성 분모와 paired CI 계산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승인 처리 ρ가 거의 사라지는 것은 To-Be에서 사람 중심 승인 계선을 거치지 않기 때문입니다. C2 항적 최대 ρ는 KAMDOC 상황인식 부하로 남습니다.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.tmp_legacy_deck.1dhYP6/current-sc3.json: SC3 이용률·결심지연·중복·구조적 실패</a:t>
            </a:r>
          </a:p>
          <a:p xmlns:a="http://schemas.openxmlformats.org/drawingml/2006/main">
            <a:r>
              <a:t>- docs/adr/ADR-078-iaoc-as-upper-echelon.md: To-Be KAMDOC 포화의 의미와 비차단 병렬 통보</a:t>
            </a:r>
          </a:p>
          <a:p xmlns:a="http://schemas.openxmlformats.org/drawingml/2006/main">
            <a:r>
              <a:t>- scripts/experiment-lib.mjs: c2MaxRhoTrack, apprMaxRho, shooterMaxRho 정의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결론은 구조와 조건을 붙여 읽어야 합니다. 절대 전술성능이나 실제 배치 위치를 의미하지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README.md: 디스클레이머·ADR-060 범위·모델의 목적</a:t>
            </a:r>
          </a:p>
          <a:p xmlns:a="http://schemas.openxmlformats.org/drawingml/2006/main">
            <a:r>
              <a:t>- .tmp_legacy_deck.1dhYP6/current-sc1.json: 최신 저부하 결과</a:t>
            </a:r>
          </a:p>
          <a:p xmlns:a="http://schemas.openxmlformats.org/drawingml/2006/main">
            <a:r>
              <a:t>- .tmp_legacy_deck.1dhYP6/current-sc2.json: 최신 무인기 결과</a:t>
            </a:r>
          </a:p>
          <a:p xmlns:a="http://schemas.openxmlformats.org/drawingml/2006/main">
            <a:r>
              <a:t>- .tmp_legacy_deck.1dhYP6/current-sc3.json: 최신 복합포화 결과</a:t>
            </a:r>
          </a:p>
          <a:p xmlns:a="http://schemas.openxmlformats.org/drawingml/2006/main">
            <a:r>
              <a:t>- docs/adr/ADR-078-iaoc-as-upper-echelon.md: 남는 KAMDOC 포화</a:t>
            </a:r>
          </a:p>
          <a:p xmlns:a="http://schemas.openxmlformats.org/drawingml/2006/main">
            <a:r>
              <a:t>- docs/adr/ADR-080-local-radar-relay-and-normal-dist.md: 최신 배선 가정과 한계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8500129f5345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b2846b0db9438b" /><Relationship Type="http://schemas.openxmlformats.org/officeDocument/2006/relationships/slideLayout" Target="/ppt/slideLayouts/slideLayout1.xml" Id="Rbdf6bb5079c140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f6bb5079c140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efa6242594bd1" /><Relationship Type="http://schemas.openxmlformats.org/officeDocument/2006/relationships/notesSlide" Target="/ppt/notesSlides/notesSlide1.xml" Id="Rdcf9e27889c74a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c21b0c86448ff" /><Relationship Type="http://schemas.openxmlformats.org/officeDocument/2006/relationships/notesSlide" Target="/ppt/notesSlides/notesSlide2.xml" Id="Re11e790ccc144b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495e512384dc9" /><Relationship Type="http://schemas.openxmlformats.org/officeDocument/2006/relationships/notesSlide" Target="/ppt/notesSlides/notesSlide3.xml" Id="Rf4304735962f48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cab493bb84bc0" /><Relationship Type="http://schemas.openxmlformats.org/officeDocument/2006/relationships/notesSlide" Target="/ppt/notesSlides/notesSlide4.xml" Id="Re48bc4b430fc4d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1a69374da4ba6" /><Relationship Type="http://schemas.openxmlformats.org/officeDocument/2006/relationships/notesSlide" Target="/ppt/notesSlides/notesSlide5.xml" Id="R82d341567c8b4f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74d0493734917" /><Relationship Type="http://schemas.openxmlformats.org/officeDocument/2006/relationships/notesSlide" Target="/ppt/notesSlides/notesSlide6.xml" Id="R72c10d7c673947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c87ff1b3b447f" /><Relationship Type="http://schemas.openxmlformats.org/officeDocument/2006/relationships/image" Target="/ppt/media/image.jpeg" Id="Rb1168698b2894e21" /><Relationship Type="http://schemas.openxmlformats.org/officeDocument/2006/relationships/image" Target="/ppt/media/image2.jpeg" Id="R96230a20a6f24d9a" /><Relationship Type="http://schemas.openxmlformats.org/officeDocument/2006/relationships/notesSlide" Target="/ppt/notesSlides/notesSlide7.xml" Id="R1218b6b6f87d48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9d0b675a54a83" /><Relationship Type="http://schemas.openxmlformats.org/officeDocument/2006/relationships/notesSlide" Target="/ppt/notesSlides/notesSlide8.xml" Id="R4a6f75d25a884e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9ae977e124e53" /><Relationship Type="http://schemas.openxmlformats.org/officeDocument/2006/relationships/chart" Target="/ppt/slides/charts/chart1.xml" Id="R29b9ebdb9fc347fe" /><Relationship Type="http://schemas.openxmlformats.org/officeDocument/2006/relationships/notesSlide" Target="/ppt/notesSlides/notesSlide9.xml" Id="Rab95a223091243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844ac5f7a4632" /><Relationship Type="http://schemas.openxmlformats.org/officeDocument/2006/relationships/chart" Target="/ppt/slides/charts/chart2.xml" Id="Rb280f0bae3a54e49" /><Relationship Type="http://schemas.openxmlformats.org/officeDocument/2006/relationships/notesSlide" Target="/ppt/notesSlides/notesSlide10.xml" Id="R9e082fec24b642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dfeed8aff41c7" /><Relationship Type="http://schemas.openxmlformats.org/officeDocument/2006/relationships/notesSlide" Target="/ppt/notesSlides/notesSlide11.xml" Id="R9e7135961f714aa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As-Is</c:v>
          </c:tx>
          <c:spPr>
            <a:solidFill xmlns:a="http://schemas.openxmlformats.org/drawingml/2006/main">
              <a:srgbClr val="B8BCC4"/>
            </a:solidFill>
          </c:spPr>
          <c:cat>
            <c:strLit>
              <c:ptCount val="3"/>
              <c:pt idx="0">
                <c:v>SC1 경계</c:v>
              </c:pt>
              <c:pt idx="1">
                <c:v>SC2 무인기</c:v>
              </c:pt>
              <c:pt idx="2">
                <c:v>SC3 복합포화</c:v>
              </c:pt>
            </c:strLit>
          </c:cat>
          <c:val>
            <c:numLit>
              <c:formatCode>0.0</c:formatCode>
              <c:ptCount val="3"/>
              <c:pt idx="0">
                <c:v>63.2</c:v>
              </c:pt>
              <c:pt idx="1">
                <c:v>35</c:v>
              </c:pt>
              <c:pt idx="2">
                <c:v>35.5</c:v>
              </c:pt>
            </c:numLit>
          </c:val>
        </c:ser>
        <c:ser>
          <c:idx val="1"/>
          <c:order val="1"/>
          <c:tx>
            <c:v>To-Be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SC1 경계</c:v>
              </c:pt>
              <c:pt idx="1">
                <c:v>SC2 무인기</c:v>
              </c:pt>
              <c:pt idx="2">
                <c:v>SC3 복합포화</c:v>
              </c:pt>
            </c:strLit>
          </c:cat>
          <c:val>
            <c:numLit>
              <c:formatCode>0.0</c:formatCode>
              <c:ptCount val="3"/>
              <c:pt idx="0">
                <c:v>66.4</c:v>
              </c:pt>
              <c:pt idx="1">
                <c:v>35.6</c:v>
              </c:pt>
              <c:pt idx="2">
                <c:v>56.1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B0D1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5A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7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1F2F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25A66"/>
                    </a:solidFill>
                  </a:rPr>
                  <a:t>격추율 (%)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25A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5A66"/>
                </a:solidFill>
              </a:defRPr>
            </a:pPr>
          </a:p>
        </c:txPr>
        <c:crossAx val="48650112"/>
        <c:crossBetween val="between"/>
        <c:majorUnit val="1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25A66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As-Is</c:v>
          </c:tx>
          <c:spPr>
            <a:solidFill xmlns:a="http://schemas.openxmlformats.org/drawingml/2006/main">
              <a:srgbClr val="B8BCC4"/>
            </a:solidFill>
          </c:spPr>
          <c:cat>
            <c:strLit>
              <c:ptCount val="3"/>
              <c:pt idx="0">
                <c:v>C2 항적 처리</c:v>
              </c:pt>
              <c:pt idx="1">
                <c:v>승인 처리</c:v>
              </c:pt>
              <c:pt idx="2">
                <c:v>요격 노드</c:v>
              </c:pt>
            </c:strLit>
          </c:cat>
          <c:val>
            <c:numLit>
              <c:formatCode>0.00</c:formatCode>
              <c:ptCount val="3"/>
              <c:pt idx="0">
                <c:v>0.949710519388552</c:v>
              </c:pt>
              <c:pt idx="1">
                <c:v>0.37571809687327573</c:v>
              </c:pt>
              <c:pt idx="2">
                <c:v>0.4407888965608734</c:v>
              </c:pt>
            </c:numLit>
          </c:val>
        </c:ser>
        <c:ser>
          <c:idx val="1"/>
          <c:order val="1"/>
          <c:tx>
            <c:v>To-Be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C2 항적 처리</c:v>
              </c:pt>
              <c:pt idx="1">
                <c:v>승인 처리</c:v>
              </c:pt>
              <c:pt idx="2">
                <c:v>요격 노드</c:v>
              </c:pt>
            </c:strLit>
          </c:cat>
          <c:val>
            <c:numLit>
              <c:formatCode>0.00</c:formatCode>
              <c:ptCount val="3"/>
              <c:pt idx="0">
                <c:v>0.9385922012287652</c:v>
              </c:pt>
              <c:pt idx="1">
                <c:v>0.004103890666677423</c:v>
              </c:pt>
              <c:pt idx="2">
                <c:v>0.4240647936672994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B0D1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5A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.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1F2F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25A66"/>
                    </a:solidFill>
                  </a:rPr>
                  <a:t>이용률 ρ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25A66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5A66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25A66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38719C0-B0A4-4FF8-A9ED-FED58DE3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K-JAMDS C2 SIMULATOR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1202888-D789-48C8-9877-4C464AFF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95250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7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7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LEGACY_NORMAL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7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7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C2 시뮬레이션 모델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9797896-03C3-427A-9297-34548BA9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As-Is 분절형과 To-Be 통합형의 구조 · 평가 · 시나리오 · 분석 결과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52517249-4197-4B21-8E30-22B205BE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1391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B0D10"/>
            </a:solidFill>
            <a:prstDash val="solid"/>
          </a:ln>
        </p:spPr>
      </p:sp>
      <p:sp>
        <p:nvSpPr>
          <p:cNvPr id="5" name="cover-version">
            <a:extLst xmlns:a="http://schemas.openxmlformats.org/drawingml/2006/main">
              <a:ext uri="{FF2B5EF4-FFF2-40B4-BE49-F238E27FC236}">
                <a16:creationId xmlns:a16="http://schemas.microsoft.com/office/drawing/2014/main" id="{3D51500D-9FD0-4A37-8C70-0F1EF437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7B849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7B8491"/>
                </a:solidFill>
                <a:latin typeface="Apple SD Gothic Neo"/>
                <a:ea typeface="Apple SD Gothic Neo"/>
                <a:cs typeface="Apple SD Gothic Neo"/>
              </a:rPr>
              <a:t>2026.08 기준 · ADR-080 반영 · 정책연구용 개념모델</a:t>
            </a:r>
          </a:p>
        </p:txBody>
      </p:sp>
    </p:spTree>
    <p:extLst>
      <p:ext uri="{BB962C8B-B14F-4D97-AF65-F5344CB8AC3E}">
        <p14:creationId xmlns:p14="http://schemas.microsoft.com/office/powerpoint/2010/main" val="1141377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2">
            <a:extLst xmlns:a="http://schemas.openxmlformats.org/drawingml/2006/main">
              <a:ext uri="{FF2B5EF4-FFF2-40B4-BE49-F238E27FC236}">
                <a16:creationId xmlns:a16="http://schemas.microsoft.com/office/drawing/2014/main" id="{9766903B-D244-4E3B-AF8B-BE8EA2F2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· MODEL SCOPE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9864CE3A-5DDA-4523-9F3D-9023F547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LEGACY_NORMAL은 64개 노드의 지상방공 C2 기준 배치다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5363B27-C2FB-4C97-8AD8-449301D2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B0D10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583901ED-8B0F-4EF1-BACA-B6294BBA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B84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7B849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scope-intro">
            <a:extLst xmlns:a="http://schemas.openxmlformats.org/drawingml/2006/main">
              <a:ext uri="{FF2B5EF4-FFF2-40B4-BE49-F238E27FC236}">
                <a16:creationId xmlns:a16="http://schemas.microsoft.com/office/drawing/2014/main" id="{611210E9-1541-4779-93F3-8F2A3B5B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Legacy 자산 편성을 고해상도 IADS 유형으로 이식한 주 분석 배치다. As-Is와 To-Be는 같은 센서·무기·위협을 사용하고, C2 토폴로지와 정책 계층만 비교한다.</a:t>
            </a:r>
          </a:p>
        </p:txBody>
      </p:sp>
      <p:sp>
        <p:nvSpPr>
          <p:cNvPr id="6" name="inventory-nodes-surface">
            <a:extLst xmlns:a="http://schemas.openxmlformats.org/drawingml/2006/main">
              <a:ext uri="{FF2B5EF4-FFF2-40B4-BE49-F238E27FC236}">
                <a16:creationId xmlns:a16="http://schemas.microsoft.com/office/drawing/2014/main" id="{68E50109-8B92-466B-BBA3-274A7ABE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38450"/>
            <a:ext cx="356235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ventory-nodes-value">
            <a:extLst xmlns:a="http://schemas.openxmlformats.org/drawingml/2006/main">
              <a:ext uri="{FF2B5EF4-FFF2-40B4-BE49-F238E27FC236}">
                <a16:creationId xmlns:a16="http://schemas.microsoft.com/office/drawing/2014/main" id="{964F3C03-EBC2-4AE2-B2C1-9649E581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3105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64 → 65</a:t>
            </a:r>
          </a:p>
        </p:txBody>
      </p:sp>
      <p:sp>
        <p:nvSpPr>
          <p:cNvPr id="8" name="inventory-nodes-label">
            <a:extLst xmlns:a="http://schemas.openxmlformats.org/drawingml/2006/main">
              <a:ext uri="{FF2B5EF4-FFF2-40B4-BE49-F238E27FC236}">
                <a16:creationId xmlns:a16="http://schemas.microsoft.com/office/drawing/2014/main" id="{F33C91D2-3175-4FD4-96F1-77E0CF61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3105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As-Is → To-Be 활성 노드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(To-Be에 IAOC 1개 추가)</a:t>
            </a:r>
          </a:p>
        </p:txBody>
      </p:sp>
      <p:sp>
        <p:nvSpPr>
          <p:cNvPr id="9" name="inventory-links-surface">
            <a:extLst xmlns:a="http://schemas.openxmlformats.org/drawingml/2006/main">
              <a:ext uri="{FF2B5EF4-FFF2-40B4-BE49-F238E27FC236}">
                <a16:creationId xmlns:a16="http://schemas.microsoft.com/office/drawing/2014/main" id="{AF5108E4-3799-4C1C-BDEC-93BF34CC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38450"/>
            <a:ext cx="356235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nventory-links-value">
            <a:extLst xmlns:a="http://schemas.openxmlformats.org/drawingml/2006/main">
              <a:ext uri="{FF2B5EF4-FFF2-40B4-BE49-F238E27FC236}">
                <a16:creationId xmlns:a16="http://schemas.microsoft.com/office/drawing/2014/main" id="{39472BF3-2B0E-4B2E-9D52-1E18F84C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67050"/>
            <a:ext cx="3105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116 → 221</a:t>
            </a:r>
          </a:p>
        </p:txBody>
      </p:sp>
      <p:sp>
        <p:nvSpPr>
          <p:cNvPr id="11" name="inventory-links-label">
            <a:extLst xmlns:a="http://schemas.openxmlformats.org/drawingml/2006/main">
              <a:ext uri="{FF2B5EF4-FFF2-40B4-BE49-F238E27FC236}">
                <a16:creationId xmlns:a16="http://schemas.microsoft.com/office/drawing/2014/main" id="{3257009A-8ABD-4A7F-9921-CE8374F2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552950"/>
            <a:ext cx="3105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As-Is → To-Be 링크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(센서·C2의 통합망 연결 확대)</a:t>
            </a:r>
          </a:p>
        </p:txBody>
      </p:sp>
      <p:sp>
        <p:nvSpPr>
          <p:cNvPr id="12" name="inventory-weapons-surface">
            <a:extLst xmlns:a="http://schemas.openxmlformats.org/drawingml/2006/main">
              <a:ext uri="{FF2B5EF4-FFF2-40B4-BE49-F238E27FC236}">
                <a16:creationId xmlns:a16="http://schemas.microsoft.com/office/drawing/2014/main" id="{5398D7D9-BA33-4324-8C37-95B5C2C1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38450"/>
            <a:ext cx="356235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nventory-weapons-value">
            <a:extLst xmlns:a="http://schemas.openxmlformats.org/drawingml/2006/main">
              <a:ext uri="{FF2B5EF4-FFF2-40B4-BE49-F238E27FC236}">
                <a16:creationId xmlns:a16="http://schemas.microsoft.com/office/drawing/2014/main" id="{9AA55EAA-C3F4-43D2-A9AF-CE3A33B1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67050"/>
            <a:ext cx="3105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1B8A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1B8A6B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14" name="inventory-weapons-label">
            <a:extLst xmlns:a="http://schemas.openxmlformats.org/drawingml/2006/main">
              <a:ext uri="{FF2B5EF4-FFF2-40B4-BE49-F238E27FC236}">
                <a16:creationId xmlns:a16="http://schemas.microsoft.com/office/drawing/2014/main" id="{B5BEBA1F-293C-4991-9491-8715D969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52950"/>
            <a:ext cx="3105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요격 노드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천마 5 · 천궁-II 6 · 비호 2 · L-SAM 1 · PAC-3 1</a:t>
            </a:r>
          </a:p>
        </p:txBody>
      </p:sp>
      <p:sp>
        <p:nvSpPr>
          <p:cNvPr id="15" name="inventory-bottom">
            <a:extLst xmlns:a="http://schemas.openxmlformats.org/drawingml/2006/main">
              <a:ext uri="{FF2B5EF4-FFF2-40B4-BE49-F238E27FC236}">
                <a16:creationId xmlns:a16="http://schemas.microsoft.com/office/drawing/2014/main" id="{5310BB3C-8418-4AE2-9A1A-7ED0CF17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공통 자산: C2 30 · 센서 19 · 요격 15  |  범위 밖: 요격기·해상 자산  |  LEGACY 배치에는 THAAD 없음</a:t>
            </a:r>
          </a:p>
        </p:txBody>
      </p:sp>
    </p:spTree>
    <p:extLst>
      <p:ext uri="{BB962C8B-B14F-4D97-AF65-F5344CB8AC3E}">
        <p14:creationId xmlns:p14="http://schemas.microsoft.com/office/powerpoint/2010/main" val="20428080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3">
            <a:extLst xmlns:a="http://schemas.openxmlformats.org/drawingml/2006/main">
              <a:ext uri="{FF2B5EF4-FFF2-40B4-BE49-F238E27FC236}">
                <a16:creationId xmlns:a16="http://schemas.microsoft.com/office/drawing/2014/main" id="{08744F2C-4AA6-4606-B77F-3448405B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· C2 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D1ABD176-12A4-4EED-B411-CCC09A25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As-Is: 분절된 도메인 C2와 사람 중심 육↔공 조율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576E5325-618B-4C57-A7AD-1828D06D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B0D10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3801D48C-4E98-47E0-B20B-86992B23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B84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7B849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30" name="asis-sensor-mcrc"/>
          <p:cNvCxnSpPr/>
          <p:nvPr/>
        </p:nvCxnSpPr>
        <p:spPr>
          <a:xfrm xmlns:a="http://schemas.openxmlformats.org/drawingml/2006/main" flipH="0" flipV="1">
            <a:off x="1885950" y="2571750"/>
            <a:ext cx="209550" cy="2114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1" name="asis-sensor-kamdoc"/>
          <p:cNvCxnSpPr/>
          <p:nvPr/>
        </p:nvCxnSpPr>
        <p:spPr>
          <a:xfrm xmlns:a="http://schemas.openxmlformats.org/drawingml/2006/main" flipH="0" flipV="1">
            <a:off x="3333750" y="2571750"/>
            <a:ext cx="1619250" cy="2114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2" name="asis-sensor-aoc"/>
          <p:cNvCxnSpPr/>
          <p:nvPr/>
        </p:nvCxnSpPr>
        <p:spPr>
          <a:xfrm xmlns:a="http://schemas.openxmlformats.org/drawingml/2006/main" flipH="0" flipV="1">
            <a:off x="4476750" y="2571750"/>
            <a:ext cx="4476750" cy="2114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3" name="asis-mcrc-icc"/>
          <p:cNvCxnSpPr/>
          <p:nvPr/>
        </p:nvCxnSpPr>
        <p:spPr>
          <a:xfrm xmlns:a="http://schemas.openxmlformats.org/drawingml/2006/main" flipH="0" flipV="0">
            <a:off x="2076450" y="2571750"/>
            <a:ext cx="131445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3B66"/>
            </a:solidFill>
            <a:prstDash val="solid"/>
          </a:ln>
        </p:spPr>
      </p:cxnSp>
      <p:cxnSp>
        <p:nvCxnSpPr>
          <p:cNvPr id="34" name="asis-kamdoc-icc"/>
          <p:cNvCxnSpPr/>
          <p:nvPr/>
        </p:nvCxnSpPr>
        <p:spPr>
          <a:xfrm xmlns:a="http://schemas.openxmlformats.org/drawingml/2006/main" flipH="1" flipV="0">
            <a:off x="3867150" y="2571750"/>
            <a:ext cx="108585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3B66"/>
            </a:solidFill>
            <a:prstDash val="solid"/>
          </a:ln>
        </p:spPr>
      </p:cxnSp>
      <p:cxnSp>
        <p:nvCxnSpPr>
          <p:cNvPr id="35" name="asis-aoc-ecs"/>
          <p:cNvCxnSpPr/>
          <p:nvPr/>
        </p:nvCxnSpPr>
        <p:spPr>
          <a:xfrm xmlns:a="http://schemas.openxmlformats.org/drawingml/2006/main" flipH="1" flipV="0">
            <a:off x="7429500" y="2571750"/>
            <a:ext cx="171450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3B66"/>
            </a:solidFill>
            <a:prstDash val="solid"/>
          </a:ln>
        </p:spPr>
      </p:cxnSp>
      <p:cxnSp>
        <p:nvCxnSpPr>
          <p:cNvPr id="36" name="asis-icc-ecs"/>
          <p:cNvCxnSpPr/>
          <p:nvPr/>
        </p:nvCxnSpPr>
        <p:spPr>
          <a:xfrm xmlns:a="http://schemas.openxmlformats.org/drawingml/2006/main" flipH="0" flipV="0">
            <a:off x="4819650" y="3524250"/>
            <a:ext cx="1409700" cy="95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63B66"/>
            </a:solidFill>
            <a:prstDash val="solid"/>
          </a:ln>
        </p:spPr>
      </p:cxnSp>
      <p:cxnSp>
        <p:nvCxnSpPr>
          <p:cNvPr id="37" name="asis-ecs-shooter"/>
          <p:cNvCxnSpPr/>
          <p:nvPr/>
        </p:nvCxnSpPr>
        <p:spPr>
          <a:xfrm xmlns:a="http://schemas.openxmlformats.org/drawingml/2006/main" flipH="0" flipV="0">
            <a:off x="7429500" y="3905250"/>
            <a:ext cx="76200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8A6B"/>
            </a:solidFill>
            <a:prstDash val="solid"/>
          </a:ln>
        </p:spPr>
      </p:cxnSp>
      <p:sp>
        <p:nvSpPr>
          <p:cNvPr id="13" name="asis-human-link-1">
            <a:extLst xmlns:a="http://schemas.openxmlformats.org/drawingml/2006/main">
              <a:ext uri="{FF2B5EF4-FFF2-40B4-BE49-F238E27FC236}">
                <a16:creationId xmlns:a16="http://schemas.microsoft.com/office/drawing/2014/main" id="{59949782-F791-4AA9-AA1A-2BA813E0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57400"/>
            <a:ext cx="4914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9534F"/>
            </a:solidFill>
            <a:prstDash val="dash"/>
          </a:ln>
        </p:spPr>
      </p:sp>
      <p:sp>
        <p:nvSpPr>
          <p:cNvPr id="14" name="asis-human-link-2">
            <a:extLst xmlns:a="http://schemas.openxmlformats.org/drawingml/2006/main">
              <a:ext uri="{FF2B5EF4-FFF2-40B4-BE49-F238E27FC236}">
                <a16:creationId xmlns:a16="http://schemas.microsoft.com/office/drawing/2014/main" id="{C3FF76CE-2EC1-4E84-AFC8-7586A2F1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09800"/>
            <a:ext cx="4914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88921"/>
            </a:solidFill>
            <a:prstDash val="dot"/>
          </a:ln>
        </p:spPr>
      </p:sp>
      <p:sp>
        <p:nvSpPr>
          <p:cNvPr id="15" name="asis-human-link-3">
            <a:extLst xmlns:a="http://schemas.openxmlformats.org/drawingml/2006/main">
              <a:ext uri="{FF2B5EF4-FFF2-40B4-BE49-F238E27FC236}">
                <a16:creationId xmlns:a16="http://schemas.microsoft.com/office/drawing/2014/main" id="{EEAFB4D7-2E80-436B-A9F2-8F46B137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62200"/>
            <a:ext cx="4914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534F"/>
            </a:solidFill>
            <a:prstDash val="dashDot"/>
          </a:ln>
        </p:spPr>
      </p:sp>
      <p:sp>
        <p:nvSpPr>
          <p:cNvPr id="16" name="asis-mcrc-node">
            <a:extLst xmlns:a="http://schemas.openxmlformats.org/drawingml/2006/main">
              <a:ext uri="{FF2B5EF4-FFF2-40B4-BE49-F238E27FC236}">
                <a16:creationId xmlns:a16="http://schemas.microsoft.com/office/drawing/2014/main" id="{CB8C0D73-F1F3-456A-B932-C0CF6897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2190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MCRC</a:t>
            </a:r>
          </a:p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공중 도메인 · 1개
8서버 · 37.5s · K80</a:t>
            </a:r>
          </a:p>
        </p:txBody>
      </p:sp>
      <p:sp>
        <p:nvSpPr>
          <p:cNvPr id="17" name="asis-kamdoc-node">
            <a:extLst xmlns:a="http://schemas.openxmlformats.org/drawingml/2006/main">
              <a:ext uri="{FF2B5EF4-FFF2-40B4-BE49-F238E27FC236}">
                <a16:creationId xmlns:a16="http://schemas.microsoft.com/office/drawing/2014/main" id="{B5AB6D69-E4E2-480B-BADC-08B64072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790700"/>
            <a:ext cx="2190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KAMDOC</a:t>
            </a:r>
          </a:p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BMD 도메인 · 1개
3서버 · 37.5s · K30</a:t>
            </a:r>
          </a:p>
        </p:txBody>
      </p:sp>
      <p:sp>
        <p:nvSpPr>
          <p:cNvPr id="18" name="asis-aoc-node">
            <a:extLst xmlns:a="http://schemas.openxmlformats.org/drawingml/2006/main">
              <a:ext uri="{FF2B5EF4-FFF2-40B4-BE49-F238E27FC236}">
                <a16:creationId xmlns:a16="http://schemas.microsoft.com/office/drawing/2014/main" id="{0B7F91A5-42AD-43D0-9E37-FACA5D12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2381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88921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ADC2A / 군단 AOC</a:t>
            </a:r>
          </a:p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국지 도메인 · 2개
8서버 · 3.5s · K16</a:t>
            </a:r>
          </a:p>
        </p:txBody>
      </p:sp>
      <p:sp>
        <p:nvSpPr>
          <p:cNvPr id="19" name="asis-icc-node">
            <a:extLst xmlns:a="http://schemas.openxmlformats.org/drawingml/2006/main">
              <a:ext uri="{FF2B5EF4-FFF2-40B4-BE49-F238E27FC236}">
                <a16:creationId xmlns:a16="http://schemas.microsoft.com/office/drawing/2014/main" id="{747FC76A-375C-49D3-80FA-5E17478C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62300"/>
            <a:ext cx="23812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ICC × 11</a:t>
            </a:r>
          </a:p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교전통제 · 5서버 · 9s · K25</a:t>
            </a:r>
          </a:p>
        </p:txBody>
      </p:sp>
      <p:sp>
        <p:nvSpPr>
          <p:cNvPr id="20" name="asis-ecs-node">
            <a:extLst xmlns:a="http://schemas.openxmlformats.org/drawingml/2006/main">
              <a:ext uri="{FF2B5EF4-FFF2-40B4-BE49-F238E27FC236}">
                <a16:creationId xmlns:a16="http://schemas.microsoft.com/office/drawing/2014/main" id="{C4C15848-2D0B-4793-A439-B509A148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62300"/>
            <a:ext cx="23812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ECS × 15</a:t>
            </a:r>
          </a:p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포대 C2 · 8서버 · 3.5s · K16</a:t>
            </a:r>
          </a:p>
        </p:txBody>
      </p:sp>
      <p:sp>
        <p:nvSpPr>
          <p:cNvPr id="21" name="asis-sensors-node">
            <a:extLst xmlns:a="http://schemas.openxmlformats.org/drawingml/2006/main">
              <a:ext uri="{FF2B5EF4-FFF2-40B4-BE49-F238E27FC236}">
                <a16:creationId xmlns:a16="http://schemas.microsoft.com/office/drawing/2014/main" id="{2DD62B40-088F-4752-B3FA-469FA7A9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409575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센서 × 19</a:t>
            </a:r>
          </a:p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GP 16s · FPS-117 8s · TPS-880K 4s · MFR 1s 보고</a:t>
            </a:r>
          </a:p>
        </p:txBody>
      </p:sp>
      <p:sp>
        <p:nvSpPr>
          <p:cNvPr id="22" name="asis-shooters-node">
            <a:extLst xmlns:a="http://schemas.openxmlformats.org/drawingml/2006/main">
              <a:ext uri="{FF2B5EF4-FFF2-40B4-BE49-F238E27FC236}">
                <a16:creationId xmlns:a16="http://schemas.microsoft.com/office/drawing/2014/main" id="{616DE103-2C9F-4B77-AAC4-008D2CB4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86300"/>
            <a:ext cx="409575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1B8A6B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요격 노드 × 15</a:t>
            </a:r>
          </a:p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ECS → 포대 내부 명령 1s</a:t>
            </a:r>
          </a:p>
        </p:txBody>
      </p:sp>
      <p:sp>
        <p:nvSpPr>
          <p:cNvPr id="23" name="asis-human-callout">
            <a:extLst xmlns:a="http://schemas.openxmlformats.org/drawingml/2006/main">
              <a:ext uri="{FF2B5EF4-FFF2-40B4-BE49-F238E27FC236}">
                <a16:creationId xmlns:a16="http://schemas.microsoft.com/office/drawing/2014/main" id="{0C788A86-9D48-42AD-8337-3FEE6984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62600"/>
            <a:ext cx="42100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sis-human-callout-text">
            <a:extLst xmlns:a="http://schemas.openxmlformats.org/drawingml/2006/main">
              <a:ext uri="{FF2B5EF4-FFF2-40B4-BE49-F238E27FC236}">
                <a16:creationId xmlns:a16="http://schemas.microsoft.com/office/drawing/2014/main" id="{215F3E34-4348-45F9-A5F2-A5A134FF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676900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D953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 i="0">
                <a:solidFill>
                  <a:srgbClr val="D9534F"/>
                </a:solidFill>
                <a:latin typeface="Apple SD Gothic Neo"/>
                <a:ea typeface="Apple SD Gothic Neo"/>
                <a:cs typeface="Apple SD Gothic Neo"/>
              </a:rPr>
              <a:t>육↔공 조율: 문자 45s Tri(20·45·120) · 음성 20s N(20,5) · 현황 VTC 180s Tri(90·180·270)</a:t>
            </a:r>
          </a:p>
        </p:txBody>
      </p:sp>
      <p:sp>
        <p:nvSpPr>
          <p:cNvPr id="25" name="asis-summary">
            <a:extLst xmlns:a="http://schemas.openxmlformats.org/drawingml/2006/main">
              <a:ext uri="{FF2B5EF4-FFF2-40B4-BE49-F238E27FC236}">
                <a16:creationId xmlns:a16="http://schemas.microsoft.com/office/drawing/2014/main" id="{EB93E466-1BC4-495D-A689-CA22AE90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607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핵심 제약: 국지레이더 항적은 ADC2A를 거쳐 문자로 MCRC에 공유되며, 승인·교전현황도 별도 사람 절차를 탄다.</a:t>
            </a:r>
          </a:p>
        </p:txBody>
      </p:sp>
    </p:spTree>
    <p:extLst>
      <p:ext uri="{BB962C8B-B14F-4D97-AF65-F5344CB8AC3E}">
        <p14:creationId xmlns:p14="http://schemas.microsoft.com/office/powerpoint/2010/main" val="12361004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4">
            <a:extLst xmlns:a="http://schemas.openxmlformats.org/drawingml/2006/main">
              <a:ext uri="{FF2B5EF4-FFF2-40B4-BE49-F238E27FC236}">
                <a16:creationId xmlns:a16="http://schemas.microsoft.com/office/drawing/2014/main" id="{08163058-9803-4B5D-9F57-4D3BBF2F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· C2 ARCHITECTURE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79E828C-D00B-44E1-8460-00BC13BD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To-Be: IAOC 조율층을 추가하되 기존 도메인 C2는 유지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1C1C9935-E742-4724-8E61-1DB000D0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B0D10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3620A34B-8088-4F5F-8408-100A413F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B84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7B849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32" name="tobe-iaoc-mcrc"/>
          <p:cNvCxnSpPr/>
          <p:nvPr/>
        </p:nvCxnSpPr>
        <p:spPr>
          <a:xfrm xmlns:a="http://schemas.openxmlformats.org/drawingml/2006/main" flipH="1" flipV="0">
            <a:off x="1943100" y="2381250"/>
            <a:ext cx="281940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D8DFF"/>
            </a:solidFill>
            <a:prstDash val="solid"/>
          </a:ln>
        </p:spPr>
      </p:cxnSp>
      <p:cxnSp>
        <p:nvCxnSpPr>
          <p:cNvPr id="33" name="tobe-iaoc-kamdoc"/>
          <p:cNvCxnSpPr/>
          <p:nvPr/>
        </p:nvCxnSpPr>
        <p:spPr>
          <a:xfrm xmlns:a="http://schemas.openxmlformats.org/drawingml/2006/main" flipH="1" flipV="0">
            <a:off x="4667250" y="2381250"/>
            <a:ext cx="6667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D8DFF"/>
            </a:solidFill>
            <a:prstDash val="solid"/>
          </a:ln>
        </p:spPr>
      </p:cxnSp>
      <p:cxnSp>
        <p:nvCxnSpPr>
          <p:cNvPr id="34" name="tobe-iaoc-aoc"/>
          <p:cNvCxnSpPr/>
          <p:nvPr/>
        </p:nvCxnSpPr>
        <p:spPr>
          <a:xfrm xmlns:a="http://schemas.openxmlformats.org/drawingml/2006/main" flipH="0" flipV="0">
            <a:off x="7239000" y="2381250"/>
            <a:ext cx="228600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D8DFF"/>
            </a:solidFill>
            <a:prstDash val="solid"/>
          </a:ln>
        </p:spPr>
      </p:cxnSp>
      <p:cxnSp>
        <p:nvCxnSpPr>
          <p:cNvPr id="35" name="tobe-iaoc-icc"/>
          <p:cNvCxnSpPr/>
          <p:nvPr/>
        </p:nvCxnSpPr>
        <p:spPr>
          <a:xfrm xmlns:a="http://schemas.openxmlformats.org/drawingml/2006/main" flipH="1" flipV="0">
            <a:off x="3476625" y="2381250"/>
            <a:ext cx="1666875" cy="19812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D8DFF"/>
            </a:solidFill>
            <a:prstDash val="solid"/>
          </a:ln>
        </p:spPr>
      </p:cxnSp>
      <p:cxnSp>
        <p:nvCxnSpPr>
          <p:cNvPr id="36" name="tobe-iaoc-ecs"/>
          <p:cNvCxnSpPr/>
          <p:nvPr/>
        </p:nvCxnSpPr>
        <p:spPr>
          <a:xfrm xmlns:a="http://schemas.openxmlformats.org/drawingml/2006/main" flipH="0" flipV="0">
            <a:off x="6781800" y="2381250"/>
            <a:ext cx="571500" cy="19812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D8DFF"/>
            </a:solidFill>
            <a:prstDash val="solid"/>
          </a:ln>
        </p:spPr>
      </p:cxnSp>
      <p:cxnSp>
        <p:nvCxnSpPr>
          <p:cNvPr id="37" name="tobe-mcrc-icc"/>
          <p:cNvCxnSpPr/>
          <p:nvPr/>
        </p:nvCxnSpPr>
        <p:spPr>
          <a:xfrm xmlns:a="http://schemas.openxmlformats.org/drawingml/2006/main" flipH="0" flipV="0">
            <a:off x="1943100" y="3771900"/>
            <a:ext cx="1247775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63B66"/>
            </a:solidFill>
            <a:prstDash val="solid"/>
          </a:ln>
        </p:spPr>
      </p:cxnSp>
      <p:cxnSp>
        <p:nvCxnSpPr>
          <p:cNvPr id="38" name="tobe-kamdoc-icc"/>
          <p:cNvCxnSpPr/>
          <p:nvPr/>
        </p:nvCxnSpPr>
        <p:spPr>
          <a:xfrm xmlns:a="http://schemas.openxmlformats.org/drawingml/2006/main" flipH="1" flipV="0">
            <a:off x="3857625" y="3771900"/>
            <a:ext cx="809625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63B66"/>
            </a:solidFill>
            <a:prstDash val="solid"/>
          </a:ln>
        </p:spPr>
      </p:cxnSp>
      <p:cxnSp>
        <p:nvCxnSpPr>
          <p:cNvPr id="39" name="tobe-aoc-ecs"/>
          <p:cNvCxnSpPr/>
          <p:nvPr/>
        </p:nvCxnSpPr>
        <p:spPr>
          <a:xfrm xmlns:a="http://schemas.openxmlformats.org/drawingml/2006/main" flipH="1" flipV="0">
            <a:off x="7810500" y="3771900"/>
            <a:ext cx="171450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63B66"/>
            </a:solidFill>
            <a:prstDash val="solid"/>
          </a:ln>
        </p:spPr>
      </p:cxnSp>
      <p:cxnSp>
        <p:nvCxnSpPr>
          <p:cNvPr id="40" name="tobe-sensor-iaoc"/>
          <p:cNvCxnSpPr/>
          <p:nvPr/>
        </p:nvCxnSpPr>
        <p:spPr>
          <a:xfrm xmlns:a="http://schemas.openxmlformats.org/drawingml/2006/main" flipH="0" flipV="1">
            <a:off x="2667000" y="2381250"/>
            <a:ext cx="2667000" cy="3181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CBF4"/>
            </a:solidFill>
            <a:prstDash val="solid"/>
          </a:ln>
        </p:spPr>
      </p:cxnSp>
      <p:cxnSp>
        <p:nvCxnSpPr>
          <p:cNvPr id="41" name="tobe-sensor-domains"/>
          <p:cNvCxnSpPr/>
          <p:nvPr/>
        </p:nvCxnSpPr>
        <p:spPr>
          <a:xfrm xmlns:a="http://schemas.openxmlformats.org/drawingml/2006/main" flipH="0" flipV="1">
            <a:off x="4000500" y="3771900"/>
            <a:ext cx="666750" cy="17907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DCBF4"/>
            </a:solidFill>
            <a:prstDash val="solid"/>
          </a:ln>
        </p:spPr>
      </p:cxnSp>
      <p:cxnSp>
        <p:nvCxnSpPr>
          <p:cNvPr id="42" name="tobe-ecs-shooter"/>
          <p:cNvCxnSpPr/>
          <p:nvPr/>
        </p:nvCxnSpPr>
        <p:spPr>
          <a:xfrm xmlns:a="http://schemas.openxmlformats.org/drawingml/2006/main" flipH="0" flipV="0">
            <a:off x="7353300" y="5048250"/>
            <a:ext cx="121920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8A6B"/>
            </a:solidFill>
            <a:prstDash val="solid"/>
          </a:ln>
        </p:spPr>
      </p:cxnSp>
      <p:sp>
        <p:nvSpPr>
          <p:cNvPr id="16" name="tobe-iaoc-node">
            <a:extLst xmlns:a="http://schemas.openxmlformats.org/drawingml/2006/main">
              <a:ext uri="{FF2B5EF4-FFF2-40B4-BE49-F238E27FC236}">
                <a16:creationId xmlns:a16="http://schemas.microsoft.com/office/drawing/2014/main" id="{4076D087-184D-4CAC-8B1D-3E1D7739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81150"/>
            <a:ext cx="35814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IAOC · 통합 조율층</a:t>
            </a:r>
          </a:p>
          <a:p xmlns:a="http://schemas.openxmlformats.org/drawingml/2006/main">
            <a:pPr algn="ctr">
              <a:defRPr sz="105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plot 표준화 · 표적할당 · 우선순위 · 교전정보 통합
20서버 · 2.5s · K40</a:t>
            </a:r>
          </a:p>
        </p:txBody>
      </p:sp>
      <p:sp>
        <p:nvSpPr>
          <p:cNvPr id="17" name="tobe-mcrc-node">
            <a:extLst xmlns:a="http://schemas.openxmlformats.org/drawingml/2006/main">
              <a:ext uri="{FF2B5EF4-FFF2-40B4-BE49-F238E27FC236}">
                <a16:creationId xmlns:a16="http://schemas.microsoft.com/office/drawing/2014/main" id="{58FAF633-BCD9-461C-84E3-93BDB842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2190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MCRC</a:t>
            </a:r>
          </a:p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공중 도메인 병렬 처리</a:t>
            </a:r>
          </a:p>
        </p:txBody>
      </p:sp>
      <p:sp>
        <p:nvSpPr>
          <p:cNvPr id="18" name="tobe-kamdoc-node">
            <a:extLst xmlns:a="http://schemas.openxmlformats.org/drawingml/2006/main">
              <a:ext uri="{FF2B5EF4-FFF2-40B4-BE49-F238E27FC236}">
                <a16:creationId xmlns:a16="http://schemas.microsoft.com/office/drawing/2014/main" id="{894F8347-59CE-45F7-BFE9-48BA0646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28950"/>
            <a:ext cx="2190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KAMDOC</a:t>
            </a:r>
          </a:p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BMD 도메인 병렬 처리</a:t>
            </a:r>
          </a:p>
        </p:txBody>
      </p:sp>
      <p:sp>
        <p:nvSpPr>
          <p:cNvPr id="19" name="tobe-aoc-node">
            <a:extLst xmlns:a="http://schemas.openxmlformats.org/drawingml/2006/main">
              <a:ext uri="{FF2B5EF4-FFF2-40B4-BE49-F238E27FC236}">
                <a16:creationId xmlns:a16="http://schemas.microsoft.com/office/drawing/2014/main" id="{511FB769-CDAA-4F50-9BC9-B2C72991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28950"/>
            <a:ext cx="23812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ADC2A × 2</a:t>
            </a:r>
          </a:p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국지 도메인 병렬 처리</a:t>
            </a:r>
          </a:p>
        </p:txBody>
      </p:sp>
      <p:sp>
        <p:nvSpPr>
          <p:cNvPr id="20" name="tobe-icc-node">
            <a:extLst xmlns:a="http://schemas.openxmlformats.org/drawingml/2006/main">
              <a:ext uri="{FF2B5EF4-FFF2-40B4-BE49-F238E27FC236}">
                <a16:creationId xmlns:a16="http://schemas.microsoft.com/office/drawing/2014/main" id="{5B4A7A10-0587-4BD7-9D7A-99393391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62450"/>
            <a:ext cx="2381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ICC × 11</a:t>
            </a:r>
          </a:p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도메인 C2와 IAOC 양쪽 협조</a:t>
            </a:r>
          </a:p>
        </p:txBody>
      </p:sp>
      <p:sp>
        <p:nvSpPr>
          <p:cNvPr id="21" name="tobe-ecs-node">
            <a:extLst xmlns:a="http://schemas.openxmlformats.org/drawingml/2006/main">
              <a:ext uri="{FF2B5EF4-FFF2-40B4-BE49-F238E27FC236}">
                <a16:creationId xmlns:a16="http://schemas.microsoft.com/office/drawing/2014/main" id="{C574BCF8-4CE4-454C-BB9C-3FE5FC2F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62450"/>
            <a:ext cx="2381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ECS × 15</a:t>
            </a:r>
          </a:p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상급·포대 사이 교전통제</a:t>
            </a:r>
          </a:p>
        </p:txBody>
      </p:sp>
      <p:sp>
        <p:nvSpPr>
          <p:cNvPr id="22" name="tobe-sensors-node">
            <a:extLst xmlns:a="http://schemas.openxmlformats.org/drawingml/2006/main">
              <a:ext uri="{FF2B5EF4-FFF2-40B4-BE49-F238E27FC236}">
                <a16:creationId xmlns:a16="http://schemas.microsoft.com/office/drawing/2014/main" id="{42354914-866E-4620-81AA-99676BC8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42100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센서 × 19</a:t>
            </a:r>
          </a:p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IAOC와 도메인 C2에 같은 시각 병렬 통보 · 1/4/8/16s</a:t>
            </a:r>
          </a:p>
        </p:txBody>
      </p:sp>
      <p:sp>
        <p:nvSpPr>
          <p:cNvPr id="23" name="tobe-shooters-node">
            <a:extLst xmlns:a="http://schemas.openxmlformats.org/drawingml/2006/main">
              <a:ext uri="{FF2B5EF4-FFF2-40B4-BE49-F238E27FC236}">
                <a16:creationId xmlns:a16="http://schemas.microsoft.com/office/drawing/2014/main" id="{2B9CBB3E-0308-4378-9A60-8DFCE33E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62600"/>
            <a:ext cx="42100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1B8A6B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요격 노드 × 15</a:t>
            </a:r>
          </a:p>
          <a:p xmlns:a="http://schemas.openxmlformats.org/drawingml/2006/main">
            <a:pPr algn="ctr">
              <a:def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ECS 내부 발사명령 1s</a:t>
            </a:r>
          </a:p>
        </p:txBody>
      </p:sp>
      <p:sp>
        <p:nvSpPr>
          <p:cNvPr id="24" name="tobe-callout">
            <a:extLst xmlns:a="http://schemas.openxmlformats.org/drawingml/2006/main">
              <a:ext uri="{FF2B5EF4-FFF2-40B4-BE49-F238E27FC236}">
                <a16:creationId xmlns:a16="http://schemas.microsoft.com/office/drawing/2014/main" id="{603C7795-2E88-497C-A2E9-168CF337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952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obe-callout-text">
            <a:extLst xmlns:a="http://schemas.openxmlformats.org/drawingml/2006/main">
              <a:ext uri="{FF2B5EF4-FFF2-40B4-BE49-F238E27FC236}">
                <a16:creationId xmlns:a16="http://schemas.microsoft.com/office/drawing/2014/main" id="{4C722E6D-192F-44C0-A71C-1ACD0829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526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1B8A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 i="0">
                <a:solidFill>
                  <a:srgbClr val="1B8A6B"/>
                </a:solidFill>
                <a:latin typeface="Apple SD Gothic Neo"/>
                <a:ea typeface="Apple SD Gothic Neo"/>
                <a:cs typeface="Apple SD Gothic Neo"/>
              </a:rPr>
              <a:t>C2↔C2 협조·현황: IFCN 1s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1B8A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 i="0">
                <a:solidFill>
                  <a:srgbClr val="1B8A6B"/>
                </a:solidFill>
                <a:latin typeface="Apple SD Gothic Neo"/>
                <a:ea typeface="Apple SD Gothic Neo"/>
                <a:cs typeface="Apple SD Gothic Neo"/>
              </a:rPr>
              <a:t>도메인 제대 처리는 IAOC 결심을 gate하지 않음</a:t>
            </a:r>
          </a:p>
        </p:txBody>
      </p:sp>
      <p:sp>
        <p:nvSpPr>
          <p:cNvPr id="26" name="section-4-overlay">
            <a:extLst xmlns:a="http://schemas.openxmlformats.org/drawingml/2006/main">
              <a:ext uri="{FF2B5EF4-FFF2-40B4-BE49-F238E27FC236}">
                <a16:creationId xmlns:a16="http://schemas.microsoft.com/office/drawing/2014/main" id="{2F4433A3-0199-40F8-A7ED-31F28647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· C2 ARCHITECTURE</a:t>
            </a:r>
          </a:p>
        </p:txBody>
      </p:sp>
      <p:sp>
        <p:nvSpPr>
          <p:cNvPr id="27" name="title-rule-4-overlay">
            <a:extLst xmlns:a="http://schemas.openxmlformats.org/drawingml/2006/main">
              <a:ext uri="{FF2B5EF4-FFF2-40B4-BE49-F238E27FC236}">
                <a16:creationId xmlns:a16="http://schemas.microsoft.com/office/drawing/2014/main" id="{D56887FF-E9D1-40EE-B83E-81DAE36F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B0D1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763601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5">
            <a:extLst xmlns:a="http://schemas.openxmlformats.org/drawingml/2006/main">
              <a:ext uri="{FF2B5EF4-FFF2-40B4-BE49-F238E27FC236}">
                <a16:creationId xmlns:a16="http://schemas.microsoft.com/office/drawing/2014/main" id="{29EAC0E7-6345-48EF-8AA7-24FD249A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· PARAMETERS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0D61227-AFFC-447D-B343-218BA61E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노드 처리용량과 링크 지연이 시간·포화를 결정한다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D7E24B91-9EBF-4E65-A14D-A7C8AA0B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B0D10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34460671-99FE-46E9-9FF0-43BA851F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B84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7B8491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400050" y="1562100"/>
          <a:ext xmlns:a="http://schemas.openxmlformats.org/drawingml/2006/main" cx="11391900" cy="32575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8750"/>
                <a:gridCol w="1285875"/>
                <a:gridCol w="3714750"/>
                <a:gridCol w="1095375"/>
                <a:gridCol w="2190750"/>
                <a:gridCol w="1676400"/>
              </a:tblGrid>
              <a:tr h="46536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C2 노드</a:t>
                      </a:r>
                    </a:p>
                  </a:txBody>
                  <a:tcPr marL="76200" marR="76200" marT="38100" marB="38100" anchor="ctr"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모드·수량</a:t>
                      </a:r>
                    </a:p>
                  </a:txBody>
                  <a:tcPr marL="76200" marR="76200" marT="38100" marB="38100" anchor="ctr"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 역할</a:t>
                      </a:r>
                    </a:p>
                  </a:txBody>
                  <a:tcPr marL="76200" marR="76200" marT="38100" marB="38100" anchor="ctr"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서버 c</a:t>
                      </a:r>
                    </a:p>
                  </a:txBody>
                  <a:tcPr marL="76200" marR="76200" marT="38100" marB="38100" anchor="ctr"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평균 서비스</a:t>
                      </a:r>
                    </a:p>
                  </a:txBody>
                  <a:tcPr marL="76200" marR="76200" marT="38100" marB="38100" anchor="ctr"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큐 용량 K</a:t>
                      </a:r>
                    </a:p>
                  </a:txBody>
                  <a:tcPr marL="76200" marR="76200" marT="38100" marB="38100" anchor="ctr">
                    <a:solidFill>
                      <a:srgbClr val="F1F2F4"/>
                    </a:solidFill>
                  </a:tcPr>
                </a:tc>
              </a:tr>
              <a:tr h="46536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IAOC</a:t>
                      </a:r>
                    </a:p>
                  </a:txBody>
                  <a:tcPr marL="76200" marR="76200" marT="38100" marB="381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To-Be · 1</a:t>
                      </a:r>
                    </a:p>
                  </a:txBody>
                  <a:tcPr marL="76200" marR="76200" marT="38100" marB="381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통합 조율·표적할당·교전정보</a:t>
                      </a:r>
                    </a:p>
                  </a:txBody>
                  <a:tcPr marL="76200" marR="76200" marT="38100" marB="381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</a:t>
                      </a:r>
                    </a:p>
                  </a:txBody>
                  <a:tcPr marL="76200" marR="76200" marT="38100" marB="381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2.5초</a:t>
                      </a:r>
                    </a:p>
                  </a:txBody>
                  <a:tcPr marL="76200" marR="76200" marT="38100" marB="381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40</a:t>
                      </a:r>
                    </a:p>
                  </a:txBody>
                  <a:tcPr marL="76200" marR="76200" marT="38100" marB="38100" anchor="ctr">
                    <a:solidFill>
                      <a:srgbClr val="EAF5FB"/>
                    </a:solidFill>
                  </a:tcPr>
                </a:tc>
              </a:tr>
              <a:tr h="46536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KAMDOC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공통 · 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BMD 도메인 처리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37.5초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</a:t>
                      </a:r>
                    </a:p>
                  </a:txBody>
                  <a:tcPr marL="76200" marR="76200" marT="38100" marB="38100" anchor="ctr"/>
                </a:tc>
              </a:tr>
              <a:tr h="46536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MCRC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공통 · 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공중 도메인 처리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37.5초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80</a:t>
                      </a:r>
                    </a:p>
                  </a:txBody>
                  <a:tcPr marL="76200" marR="76200" marT="38100" marB="38100" anchor="ctr"/>
                </a:tc>
              </a:tr>
              <a:tr h="46536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ADC2A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공통 · 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군단·수방사 국지방공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3.5초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16</a:t>
                      </a:r>
                    </a:p>
                  </a:txBody>
                  <a:tcPr marL="76200" marR="76200" marT="38100" marB="38100" anchor="ctr"/>
                </a:tc>
              </a:tr>
              <a:tr h="46536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ICC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공통 · 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교전통제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9.0초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25</a:t>
                      </a:r>
                    </a:p>
                  </a:txBody>
                  <a:tcPr marL="76200" marR="76200" marT="38100" marB="38100" anchor="ctr"/>
                </a:tc>
              </a:tr>
              <a:tr h="465364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ECS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공통 · 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포대 지휘통제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3.5초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D1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16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6" name="link-parameter-band">
            <a:extLst xmlns:a="http://schemas.openxmlformats.org/drawingml/2006/main">
              <a:ext uri="{FF2B5EF4-FFF2-40B4-BE49-F238E27FC236}">
                <a16:creationId xmlns:a16="http://schemas.microsoft.com/office/drawing/2014/main" id="{CF63123F-2F7C-457A-A7AF-BD3ECA6B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11391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ink-head-0">
            <a:extLst xmlns:a="http://schemas.openxmlformats.org/drawingml/2006/main">
              <a:ext uri="{FF2B5EF4-FFF2-40B4-BE49-F238E27FC236}">
                <a16:creationId xmlns:a16="http://schemas.microsoft.com/office/drawing/2014/main" id="{66FA1977-FBC6-47BF-AC81-E4818B17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센서 보고주기</a:t>
            </a:r>
          </a:p>
        </p:txBody>
      </p:sp>
      <p:sp>
        <p:nvSpPr>
          <p:cNvPr id="8" name="link-body-0">
            <a:extLst xmlns:a="http://schemas.openxmlformats.org/drawingml/2006/main">
              <a:ext uri="{FF2B5EF4-FFF2-40B4-BE49-F238E27FC236}">
                <a16:creationId xmlns:a16="http://schemas.microsoft.com/office/drawing/2014/main" id="{3A4ABA0F-D9B6-4611-B5BE-7567D2FD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GP 16s · FPS-117 8s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TPS-880K 4s · MFR 1s</a:t>
            </a:r>
          </a:p>
        </p:txBody>
      </p:sp>
      <p:sp>
        <p:nvSpPr>
          <p:cNvPr id="9" name="link-divider-1">
            <a:extLst xmlns:a="http://schemas.openxmlformats.org/drawingml/2006/main">
              <a:ext uri="{FF2B5EF4-FFF2-40B4-BE49-F238E27FC236}">
                <a16:creationId xmlns:a16="http://schemas.microsoft.com/office/drawing/2014/main" id="{C19E4539-D3F3-41F5-A371-FAE58FB0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257800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link-head-1">
            <a:extLst xmlns:a="http://schemas.openxmlformats.org/drawingml/2006/main">
              <a:ext uri="{FF2B5EF4-FFF2-40B4-BE49-F238E27FC236}">
                <a16:creationId xmlns:a16="http://schemas.microsoft.com/office/drawing/2014/main" id="{75838177-173A-47D9-89CD-3121DBBB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257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C2·포대 링크</a:t>
            </a:r>
          </a:p>
        </p:txBody>
      </p:sp>
      <p:sp>
        <p:nvSpPr>
          <p:cNvPr id="11" name="link-body-1">
            <a:extLst xmlns:a="http://schemas.openxmlformats.org/drawingml/2006/main">
              <a:ext uri="{FF2B5EF4-FFF2-40B4-BE49-F238E27FC236}">
                <a16:creationId xmlns:a16="http://schemas.microsoft.com/office/drawing/2014/main" id="{8C5EA950-2C09-4F6F-80B8-8B7293C9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5245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C2↔C2 / IFCN / 내부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대표 지연 1s</a:t>
            </a:r>
          </a:p>
        </p:txBody>
      </p:sp>
      <p:sp>
        <p:nvSpPr>
          <p:cNvPr id="12" name="link-divider-2">
            <a:extLst xmlns:a="http://schemas.openxmlformats.org/drawingml/2006/main">
              <a:ext uri="{FF2B5EF4-FFF2-40B4-BE49-F238E27FC236}">
                <a16:creationId xmlns:a16="http://schemas.microsoft.com/office/drawing/2014/main" id="{6EC23A4F-8FF9-425D-9417-20B31003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57800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link-head-2">
            <a:extLst xmlns:a="http://schemas.openxmlformats.org/drawingml/2006/main">
              <a:ext uri="{FF2B5EF4-FFF2-40B4-BE49-F238E27FC236}">
                <a16:creationId xmlns:a16="http://schemas.microsoft.com/office/drawing/2014/main" id="{0869A886-1E8C-4DAE-9C61-76D78271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57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D953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 i="0">
                <a:solidFill>
                  <a:srgbClr val="D9534F"/>
                </a:solidFill>
                <a:latin typeface="Apple SD Gothic Neo"/>
                <a:ea typeface="Apple SD Gothic Neo"/>
                <a:cs typeface="Apple SD Gothic Neo"/>
              </a:rPr>
              <a:t>As-Is 항적 공유</a:t>
            </a:r>
          </a:p>
        </p:txBody>
      </p:sp>
      <p:sp>
        <p:nvSpPr>
          <p:cNvPr id="14" name="link-body-2">
            <a:extLst xmlns:a="http://schemas.openxmlformats.org/drawingml/2006/main">
              <a:ext uri="{FF2B5EF4-FFF2-40B4-BE49-F238E27FC236}">
                <a16:creationId xmlns:a16="http://schemas.microsoft.com/office/drawing/2014/main" id="{97188BDD-4CCE-48F8-B783-28B144BB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245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문자 45s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Tri(20,45,120)</a:t>
            </a:r>
          </a:p>
        </p:txBody>
      </p:sp>
      <p:sp>
        <p:nvSpPr>
          <p:cNvPr id="15" name="link-divider-3">
            <a:extLst xmlns:a="http://schemas.openxmlformats.org/drawingml/2006/main">
              <a:ext uri="{FF2B5EF4-FFF2-40B4-BE49-F238E27FC236}">
                <a16:creationId xmlns:a16="http://schemas.microsoft.com/office/drawing/2014/main" id="{EBDCB01E-AFC0-440C-97E6-CDD52CEB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257800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link-head-3">
            <a:extLst xmlns:a="http://schemas.openxmlformats.org/drawingml/2006/main">
              <a:ext uri="{FF2B5EF4-FFF2-40B4-BE49-F238E27FC236}">
                <a16:creationId xmlns:a16="http://schemas.microsoft.com/office/drawing/2014/main" id="{397CDB17-8F7A-43AF-94C6-D1121955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257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D953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 i="0">
                <a:solidFill>
                  <a:srgbClr val="D9534F"/>
                </a:solidFill>
                <a:latin typeface="Apple SD Gothic Neo"/>
                <a:ea typeface="Apple SD Gothic Neo"/>
                <a:cs typeface="Apple SD Gothic Neo"/>
              </a:rPr>
              <a:t>As-Is 협조·현황</a:t>
            </a:r>
          </a:p>
        </p:txBody>
      </p:sp>
      <p:sp>
        <p:nvSpPr>
          <p:cNvPr id="17" name="link-body-3">
            <a:extLst xmlns:a="http://schemas.openxmlformats.org/drawingml/2006/main">
              <a:ext uri="{FF2B5EF4-FFF2-40B4-BE49-F238E27FC236}">
                <a16:creationId xmlns:a16="http://schemas.microsoft.com/office/drawing/2014/main" id="{ABD4355D-F716-4A65-A03F-F2076A23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5245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음성 N(20,5)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VTC Tri(90,180,270)</a:t>
            </a:r>
          </a:p>
        </p:txBody>
      </p:sp>
    </p:spTree>
    <p:extLst>
      <p:ext uri="{BB962C8B-B14F-4D97-AF65-F5344CB8AC3E}">
        <p14:creationId xmlns:p14="http://schemas.microsoft.com/office/powerpoint/2010/main" val="15751322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6">
            <a:extLst xmlns:a="http://schemas.openxmlformats.org/drawingml/2006/main">
              <a:ext uri="{FF2B5EF4-FFF2-40B4-BE49-F238E27FC236}">
                <a16:creationId xmlns:a16="http://schemas.microsoft.com/office/drawing/2014/main" id="{8D01B85C-8A69-47D4-B2B6-21A7F567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· EVALUATION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20770503-E25A-4C02-BD38-9EDAF4A1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평가는 같은 위협이 두 구조를 통과한 시간과 결과를 비교한다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F3266E3D-6F49-4DBC-845F-B67B14D8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B0D10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CCA098E3-6774-465D-9894-76BF5CB7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B84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7B8491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pipeline-line">
            <a:extLst xmlns:a="http://schemas.openxmlformats.org/drawingml/2006/main">
              <a:ext uri="{FF2B5EF4-FFF2-40B4-BE49-F238E27FC236}">
                <a16:creationId xmlns:a16="http://schemas.microsoft.com/office/drawing/2014/main" id="{7D3411D7-DB0D-49F6-920F-9771F2DD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0725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0D10"/>
            </a:solidFill>
            <a:prstDash val="solid"/>
          </a:ln>
        </p:spPr>
      </p:sp>
      <p:sp>
        <p:nvSpPr>
          <p:cNvPr id="6" name="step-dot-0">
            <a:extLst xmlns:a="http://schemas.openxmlformats.org/drawingml/2006/main">
              <a:ext uri="{FF2B5EF4-FFF2-40B4-BE49-F238E27FC236}">
                <a16:creationId xmlns:a16="http://schemas.microsoft.com/office/drawing/2014/main" id="{90731224-3750-4454-8006-837AAC2F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0B0D10"/>
            </a:solidFill>
            <a:prstDash val="solid"/>
          </a:ln>
        </p:spPr>
      </p:sp>
      <p:sp>
        <p:nvSpPr>
          <p:cNvPr id="7" name="step-num-0">
            <a:extLst xmlns:a="http://schemas.openxmlformats.org/drawingml/2006/main">
              <a:ext uri="{FF2B5EF4-FFF2-40B4-BE49-F238E27FC236}">
                <a16:creationId xmlns:a16="http://schemas.microsoft.com/office/drawing/2014/main" id="{B94CCBA5-2AB5-443E-94FF-0789C0B0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B385AD62-D7D5-4FC4-80B0-D1EA538C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위협 생성</a:t>
            </a:r>
          </a:p>
        </p:txBody>
      </p:sp>
      <p:sp>
        <p:nvSpPr>
          <p:cNvPr id="9" name="step-body-0">
            <a:extLst xmlns:a="http://schemas.openxmlformats.org/drawingml/2006/main">
              <a:ext uri="{FF2B5EF4-FFF2-40B4-BE49-F238E27FC236}">
                <a16:creationId xmlns:a16="http://schemas.microsoft.com/office/drawing/2014/main" id="{86C2F7E3-957F-49F1-B067-7B44BDCC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포아송 연속 도착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또는 burst</a:t>
            </a:r>
          </a:p>
        </p:txBody>
      </p:sp>
      <p:sp>
        <p:nvSpPr>
          <p:cNvPr id="10" name="step-dot-1">
            <a:extLst xmlns:a="http://schemas.openxmlformats.org/drawingml/2006/main">
              <a:ext uri="{FF2B5EF4-FFF2-40B4-BE49-F238E27FC236}">
                <a16:creationId xmlns:a16="http://schemas.microsoft.com/office/drawing/2014/main" id="{4929B65A-B1ED-4B15-BB61-BC642790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57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0B0D10"/>
            </a:solidFill>
            <a:prstDash val="solid"/>
          </a:ln>
        </p:spPr>
      </p:sp>
      <p:sp>
        <p:nvSpPr>
          <p:cNvPr id="11" name="step-num-1">
            <a:extLst xmlns:a="http://schemas.openxmlformats.org/drawingml/2006/main">
              <a:ext uri="{FF2B5EF4-FFF2-40B4-BE49-F238E27FC236}">
                <a16:creationId xmlns:a16="http://schemas.microsoft.com/office/drawing/2014/main" id="{8CE7A0ED-D2F2-42D7-8BA7-178A36C1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528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7890A221-4B88-479D-8C40-5C64DFC2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766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센서 물리</a:t>
            </a:r>
          </a:p>
        </p:txBody>
      </p:sp>
      <p:sp>
        <p:nvSpPr>
          <p:cNvPr id="13" name="step-body-1">
            <a:extLst xmlns:a="http://schemas.openxmlformats.org/drawingml/2006/main">
              <a:ext uri="{FF2B5EF4-FFF2-40B4-BE49-F238E27FC236}">
                <a16:creationId xmlns:a16="http://schemas.microsoft.com/office/drawing/2014/main" id="{72318F16-7724-46E7-B2DF-7CB0DC9D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195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SNR·RCS·수평선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섹터·센서 상태</a:t>
            </a:r>
          </a:p>
        </p:txBody>
      </p:sp>
      <p:sp>
        <p:nvSpPr>
          <p:cNvPr id="14" name="step-dot-2">
            <a:extLst xmlns:a="http://schemas.openxmlformats.org/drawingml/2006/main">
              <a:ext uri="{FF2B5EF4-FFF2-40B4-BE49-F238E27FC236}">
                <a16:creationId xmlns:a16="http://schemas.microsoft.com/office/drawing/2014/main" id="{83A3A50A-7346-4002-8396-C4936EA7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0B0D10"/>
            </a:solidFill>
            <a:prstDash val="solid"/>
          </a:ln>
        </p:spPr>
      </p:sp>
      <p:sp>
        <p:nvSpPr>
          <p:cNvPr id="15" name="step-num-2">
            <a:extLst xmlns:a="http://schemas.openxmlformats.org/drawingml/2006/main">
              <a:ext uri="{FF2B5EF4-FFF2-40B4-BE49-F238E27FC236}">
                <a16:creationId xmlns:a16="http://schemas.microsoft.com/office/drawing/2014/main" id="{9B14C2D3-CE13-4BD9-9433-D748620C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573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5EE4C802-FB39-46F9-AA9B-88530EFF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항적 처리</a:t>
            </a:r>
          </a:p>
        </p:txBody>
      </p:sp>
      <p:sp>
        <p:nvSpPr>
          <p:cNvPr id="17" name="step-body-2">
            <a:extLst xmlns:a="http://schemas.openxmlformats.org/drawingml/2006/main">
              <a:ext uri="{FF2B5EF4-FFF2-40B4-BE49-F238E27FC236}">
                <a16:creationId xmlns:a16="http://schemas.microsoft.com/office/drawing/2014/main" id="{1AF102B8-BEDE-452D-A5A8-FB7F74F9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생성·상관·식별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신선도·소실</a:t>
            </a:r>
          </a:p>
        </p:txBody>
      </p:sp>
      <p:sp>
        <p:nvSpPr>
          <p:cNvPr id="18" name="step-dot-3">
            <a:extLst xmlns:a="http://schemas.openxmlformats.org/drawingml/2006/main">
              <a:ext uri="{FF2B5EF4-FFF2-40B4-BE49-F238E27FC236}">
                <a16:creationId xmlns:a16="http://schemas.microsoft.com/office/drawing/2014/main" id="{0B269B5D-9A0A-4661-8798-E11C536A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0B0D10"/>
            </a:solidFill>
            <a:prstDash val="solid"/>
          </a:ln>
        </p:spPr>
      </p:sp>
      <p:sp>
        <p:nvSpPr>
          <p:cNvPr id="19" name="step-num-3">
            <a:extLst xmlns:a="http://schemas.openxmlformats.org/drawingml/2006/main">
              <a:ext uri="{FF2B5EF4-FFF2-40B4-BE49-F238E27FC236}">
                <a16:creationId xmlns:a16="http://schemas.microsoft.com/office/drawing/2014/main" id="{B08B9797-7529-4B3B-A89B-CCF410D5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528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D5F6F654-CCDA-44B7-A920-FC97AB52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766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책임 C2</a:t>
            </a:r>
          </a:p>
        </p:txBody>
      </p:sp>
      <p:sp>
        <p:nvSpPr>
          <p:cNvPr id="21" name="step-body-3">
            <a:extLst xmlns:a="http://schemas.openxmlformats.org/drawingml/2006/main">
              <a:ext uri="{FF2B5EF4-FFF2-40B4-BE49-F238E27FC236}">
                <a16:creationId xmlns:a16="http://schemas.microsoft.com/office/drawing/2014/main" id="{6A480FE8-0190-4CF5-BB28-EF97182E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195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도메인·아키텍처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M/M/c/K 대기열</a:t>
            </a:r>
          </a:p>
        </p:txBody>
      </p:sp>
      <p:sp>
        <p:nvSpPr>
          <p:cNvPr id="22" name="step-dot-4">
            <a:extLst xmlns:a="http://schemas.openxmlformats.org/drawingml/2006/main">
              <a:ext uri="{FF2B5EF4-FFF2-40B4-BE49-F238E27FC236}">
                <a16:creationId xmlns:a16="http://schemas.microsoft.com/office/drawing/2014/main" id="{58DBFB08-20D3-4314-9507-2FCBA78C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57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0B0D10"/>
            </a:solidFill>
            <a:prstDash val="solid"/>
          </a:ln>
        </p:spPr>
      </p:sp>
      <p:sp>
        <p:nvSpPr>
          <p:cNvPr id="23" name="step-num-4">
            <a:extLst xmlns:a="http://schemas.openxmlformats.org/drawingml/2006/main">
              <a:ext uri="{FF2B5EF4-FFF2-40B4-BE49-F238E27FC236}">
                <a16:creationId xmlns:a16="http://schemas.microsoft.com/office/drawing/2014/main" id="{17C91441-9E99-48FC-94C6-75340ADB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4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58C4C31C-673B-4BE2-85E9-A0F8FBF4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81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교전 결정</a:t>
            </a:r>
          </a:p>
        </p:txBody>
      </p:sp>
      <p:sp>
        <p:nvSpPr>
          <p:cNvPr id="25" name="step-body-4">
            <a:extLst xmlns:a="http://schemas.openxmlformats.org/drawingml/2006/main">
              <a:ext uri="{FF2B5EF4-FFF2-40B4-BE49-F238E27FC236}">
                <a16:creationId xmlns:a16="http://schemas.microsoft.com/office/drawing/2014/main" id="{228DB7A4-6463-4719-9FFD-BD950AF8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WTA·승인·협조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PIP·발사대 자원</a:t>
            </a:r>
          </a:p>
        </p:txBody>
      </p:sp>
      <p:sp>
        <p:nvSpPr>
          <p:cNvPr id="26" name="step-dot-5">
            <a:extLst xmlns:a="http://schemas.openxmlformats.org/drawingml/2006/main">
              <a:ext uri="{FF2B5EF4-FFF2-40B4-BE49-F238E27FC236}">
                <a16:creationId xmlns:a16="http://schemas.microsoft.com/office/drawing/2014/main" id="{A7DEA76F-7FF6-460E-BD90-5FC4EDEF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57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0B0D10"/>
            </a:solidFill>
            <a:prstDash val="solid"/>
          </a:ln>
        </p:spPr>
      </p:sp>
      <p:sp>
        <p:nvSpPr>
          <p:cNvPr id="27" name="step-num-5">
            <a:extLst xmlns:a="http://schemas.openxmlformats.org/drawingml/2006/main">
              <a:ext uri="{FF2B5EF4-FFF2-40B4-BE49-F238E27FC236}">
                <a16:creationId xmlns:a16="http://schemas.microsoft.com/office/drawing/2014/main" id="{3EE1A777-0555-430A-97D2-B01E0C00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528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8" name="step-title-5">
            <a:extLst xmlns:a="http://schemas.openxmlformats.org/drawingml/2006/main">
              <a:ext uri="{FF2B5EF4-FFF2-40B4-BE49-F238E27FC236}">
                <a16:creationId xmlns:a16="http://schemas.microsoft.com/office/drawing/2014/main" id="{2651A1C2-0B0D-4E38-9FEF-7E9B7703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6766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결과 판정</a:t>
            </a:r>
          </a:p>
        </p:txBody>
      </p:sp>
      <p:sp>
        <p:nvSpPr>
          <p:cNvPr id="29" name="step-body-5">
            <a:extLst xmlns:a="http://schemas.openxmlformats.org/drawingml/2006/main">
              <a:ext uri="{FF2B5EF4-FFF2-40B4-BE49-F238E27FC236}">
                <a16:creationId xmlns:a16="http://schemas.microsoft.com/office/drawing/2014/main" id="{AA1330A3-E824-4FC6-B44C-7A561CC6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0195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발사·BDA·재교전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격추·누수·절단</a:t>
            </a:r>
          </a:p>
        </p:txBody>
      </p:sp>
      <p:sp>
        <p:nvSpPr>
          <p:cNvPr id="30" name="eval-band">
            <a:extLst xmlns:a="http://schemas.openxmlformats.org/drawingml/2006/main">
              <a:ext uri="{FF2B5EF4-FFF2-40B4-BE49-F238E27FC236}">
                <a16:creationId xmlns:a16="http://schemas.microsoft.com/office/drawing/2014/main" id="{675B9762-F8AC-4A49-814F-B3877F54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eval-head-0">
            <a:extLst xmlns:a="http://schemas.openxmlformats.org/drawingml/2006/main">
              <a:ext uri="{FF2B5EF4-FFF2-40B4-BE49-F238E27FC236}">
                <a16:creationId xmlns:a16="http://schemas.microsoft.com/office/drawing/2014/main" id="{32BEFA13-1806-4413-9CAD-E52138E0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시간·과정(MoP)</a:t>
            </a:r>
          </a:p>
        </p:txBody>
      </p:sp>
      <p:sp>
        <p:nvSpPr>
          <p:cNvPr id="32" name="eval-body-0">
            <a:extLst xmlns:a="http://schemas.openxmlformats.org/drawingml/2006/main">
              <a:ext uri="{FF2B5EF4-FFF2-40B4-BE49-F238E27FC236}">
                <a16:creationId xmlns:a16="http://schemas.microsoft.com/office/drawing/2014/main" id="{E5B29A4B-76A5-4927-ABF7-69D69942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483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관문 도달시각 · 결심/협조 지연 · ρ · Wq · 드롭</a:t>
            </a:r>
          </a:p>
        </p:txBody>
      </p:sp>
      <p:sp>
        <p:nvSpPr>
          <p:cNvPr id="33" name="eval-divider-1">
            <a:extLst xmlns:a="http://schemas.openxmlformats.org/drawingml/2006/main">
              <a:ext uri="{FF2B5EF4-FFF2-40B4-BE49-F238E27FC236}">
                <a16:creationId xmlns:a16="http://schemas.microsoft.com/office/drawing/2014/main" id="{44C60333-F359-45A1-814E-10D0C909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391150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eval-head-1">
            <a:extLst xmlns:a="http://schemas.openxmlformats.org/drawingml/2006/main">
              <a:ext uri="{FF2B5EF4-FFF2-40B4-BE49-F238E27FC236}">
                <a16:creationId xmlns:a16="http://schemas.microsoft.com/office/drawing/2014/main" id="{07E2A385-FB39-49D9-B988-6B202067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3530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구조(MoCE)</a:t>
            </a:r>
          </a:p>
        </p:txBody>
      </p:sp>
      <p:sp>
        <p:nvSpPr>
          <p:cNvPr id="35" name="eval-body-1">
            <a:extLst xmlns:a="http://schemas.openxmlformats.org/drawingml/2006/main">
              <a:ext uri="{FF2B5EF4-FFF2-40B4-BE49-F238E27FC236}">
                <a16:creationId xmlns:a16="http://schemas.microsoft.com/office/drawing/2014/main" id="{FA123554-9DF2-43BC-8C77-A408F2DF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6483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중복교전 · 책임공백 · 구조적 실패 · 병목 위치</a:t>
            </a:r>
          </a:p>
        </p:txBody>
      </p:sp>
      <p:sp>
        <p:nvSpPr>
          <p:cNvPr id="36" name="eval-divider-2">
            <a:extLst xmlns:a="http://schemas.openxmlformats.org/drawingml/2006/main">
              <a:ext uri="{FF2B5EF4-FFF2-40B4-BE49-F238E27FC236}">
                <a16:creationId xmlns:a16="http://schemas.microsoft.com/office/drawing/2014/main" id="{6F35B6D8-3BF5-4E14-8F85-3FF59B39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91150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eval-head-2">
            <a:extLst xmlns:a="http://schemas.openxmlformats.org/drawingml/2006/main">
              <a:ext uri="{FF2B5EF4-FFF2-40B4-BE49-F238E27FC236}">
                <a16:creationId xmlns:a16="http://schemas.microsoft.com/office/drawing/2014/main" id="{DCA7FFE6-A5B3-4B9C-AEFA-6A515696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530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임무효과(MoFE)</a:t>
            </a:r>
          </a:p>
        </p:txBody>
      </p:sp>
      <p:sp>
        <p:nvSpPr>
          <p:cNvPr id="38" name="eval-body-2">
            <a:extLst xmlns:a="http://schemas.openxmlformats.org/drawingml/2006/main">
              <a:ext uri="{FF2B5EF4-FFF2-40B4-BE49-F238E27FC236}">
                <a16:creationId xmlns:a16="http://schemas.microsoft.com/office/drawing/2014/main" id="{1FCD099F-FE92-427F-AB27-A3805C82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483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격추율 · 누수율 · 관측절단 · 비용 · 방어효율</a:t>
            </a:r>
          </a:p>
        </p:txBody>
      </p:sp>
      <p:sp>
        <p:nvSpPr>
          <p:cNvPr id="39" name="paired-design">
            <a:extLst xmlns:a="http://schemas.openxmlformats.org/drawingml/2006/main">
              <a:ext uri="{FF2B5EF4-FFF2-40B4-BE49-F238E27FC236}">
                <a16:creationId xmlns:a16="http://schemas.microsoft.com/office/drawing/2014/main" id="{4C4248C9-65A5-42B1-ABBC-D146990F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실험 설계: 동일 seed 공통난수(CRN) · As-Is/To-Be 짝지음 · seed별 Δ의 95% CI로 분리 판정</a:t>
            </a:r>
          </a:p>
        </p:txBody>
      </p:sp>
    </p:spTree>
    <p:extLst>
      <p:ext uri="{BB962C8B-B14F-4D97-AF65-F5344CB8AC3E}">
        <p14:creationId xmlns:p14="http://schemas.microsoft.com/office/powerpoint/2010/main" val="4868902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7">
            <a:extLst xmlns:a="http://schemas.openxmlformats.org/drawingml/2006/main">
              <a:ext uri="{FF2B5EF4-FFF2-40B4-BE49-F238E27FC236}">
                <a16:creationId xmlns:a16="http://schemas.microsoft.com/office/drawing/2014/main" id="{874329D9-48CB-40E2-951D-2557EAA6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· EVALUATION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A7E4CCD0-CE92-43BF-A4B3-83F846F0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지도·시간 관문·항적 로그가 같은 실행을 서로 검증한다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39C8BD03-7C42-44B1-B814-5AF6CD20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B0D10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24F366F3-8EFC-4AA2-AA7F-7D1F8F6A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B84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7B8491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map-frame">
            <a:extLst xmlns:a="http://schemas.openxmlformats.org/drawingml/2006/main">
              <a:ext uri="{FF2B5EF4-FFF2-40B4-BE49-F238E27FC236}">
                <a16:creationId xmlns:a16="http://schemas.microsoft.com/office/drawing/2014/main" id="{634AFBB6-1D2D-44B9-969A-305DB2C0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467350" cy="3076575"/>
          </a:xfrm>
          <a:prstGeom xmlns:a="http://schemas.openxmlformats.org/drawingml/2006/main" prst="roundRect">
            <a:avLst>
              <a:gd name="adj" fmla="val 309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168698b2894e21"/>
          <a:srcRect xmlns:a="http://schemas.openxmlformats.org/drawingml/2006/main" l="19" t="0" r="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581150"/>
            <a:ext cx="5467350" cy="3076575"/>
          </a:xfrm>
          <a:prstGeom xmlns:a="http://schemas.openxmlformats.org/drawingml/2006/main" prst="roundRect">
            <a:avLst>
              <a:gd name="adj" fmla="val 3715"/>
            </a:avLst>
          </a:prstGeom>
        </p:spPr>
      </p:pic>
      <p:sp>
        <p:nvSpPr>
          <p:cNvPr id="7" name="analysis-frame">
            <a:extLst xmlns:a="http://schemas.openxmlformats.org/drawingml/2006/main">
              <a:ext uri="{FF2B5EF4-FFF2-40B4-BE49-F238E27FC236}">
                <a16:creationId xmlns:a16="http://schemas.microsoft.com/office/drawing/2014/main" id="{FFED05E3-E71D-45F8-BECA-1B717BEF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5467350" cy="3076575"/>
          </a:xfrm>
          <a:prstGeom xmlns:a="http://schemas.openxmlformats.org/drawingml/2006/main" prst="roundRect">
            <a:avLst>
              <a:gd name="adj" fmla="val 309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30a20a6f24d9a"/>
          <a:srcRect xmlns:a="http://schemas.openxmlformats.org/drawingml/2006/main" l="19" t="0" r="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1581150"/>
            <a:ext cx="5467350" cy="3076575"/>
          </a:xfrm>
          <a:prstGeom xmlns:a="http://schemas.openxmlformats.org/drawingml/2006/main" prst="roundRect">
            <a:avLst>
              <a:gd name="adj" fmla="val 3715"/>
            </a:avLst>
          </a:prstGeom>
        </p:spPr>
      </p:pic>
      <p:sp>
        <p:nvSpPr>
          <p:cNvPr id="9" name="map-caption-head">
            <a:extLst xmlns:a="http://schemas.openxmlformats.org/drawingml/2006/main">
              <a:ext uri="{FF2B5EF4-FFF2-40B4-BE49-F238E27FC236}">
                <a16:creationId xmlns:a16="http://schemas.microsoft.com/office/drawing/2014/main" id="{BE1D2BE5-25B9-49CC-83A1-7E0522B3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실시간 재생</a:t>
            </a:r>
          </a:p>
        </p:txBody>
      </p:sp>
      <p:sp>
        <p:nvSpPr>
          <p:cNvPr id="10" name="map-caption">
            <a:extLst xmlns:a="http://schemas.openxmlformats.org/drawingml/2006/main">
              <a:ext uri="{FF2B5EF4-FFF2-40B4-BE49-F238E27FC236}">
                <a16:creationId xmlns:a16="http://schemas.microsoft.com/office/drawing/2014/main" id="{6DE16602-C570-45E0-820E-162C17FA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546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위협 궤적·자산 위치·재고 링·포화 노드를 시계 위에서 재생한다.</a:t>
            </a:r>
          </a:p>
        </p:txBody>
      </p:sp>
      <p:sp>
        <p:nvSpPr>
          <p:cNvPr id="11" name="analysis-caption-head">
            <a:extLst xmlns:a="http://schemas.openxmlformats.org/drawingml/2006/main">
              <a:ext uri="{FF2B5EF4-FFF2-40B4-BE49-F238E27FC236}">
                <a16:creationId xmlns:a16="http://schemas.microsoft.com/office/drawing/2014/main" id="{9BEF745F-CD13-4045-A6C7-57B135EB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57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시간 관문 분석</a:t>
            </a:r>
          </a:p>
        </p:txBody>
      </p:sp>
      <p:sp>
        <p:nvSpPr>
          <p:cNvPr id="12" name="analysis-caption">
            <a:extLst xmlns:a="http://schemas.openxmlformats.org/drawingml/2006/main">
              <a:ext uri="{FF2B5EF4-FFF2-40B4-BE49-F238E27FC236}">
                <a16:creationId xmlns:a16="http://schemas.microsoft.com/office/drawing/2014/main" id="{36389921-7D7E-4E8B-AFF3-E99F23F1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81600"/>
            <a:ext cx="546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침투→탐지→융합→식별→사수선정→발사와 항적별 판정 차이를 함께 본다.</a:t>
            </a:r>
          </a:p>
        </p:txBody>
      </p:sp>
      <p:sp>
        <p:nvSpPr>
          <p:cNvPr id="13" name="trace-ribbon">
            <a:extLst xmlns:a="http://schemas.openxmlformats.org/drawingml/2006/main">
              <a:ext uri="{FF2B5EF4-FFF2-40B4-BE49-F238E27FC236}">
                <a16:creationId xmlns:a16="http://schemas.microsoft.com/office/drawing/2014/main" id="{6F57AB43-FEAC-4561-A732-B18314C4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1391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race-ribbon-text">
            <a:extLst xmlns:a="http://schemas.openxmlformats.org/drawingml/2006/main">
              <a:ext uri="{FF2B5EF4-FFF2-40B4-BE49-F238E27FC236}">
                <a16:creationId xmlns:a16="http://schemas.microsoft.com/office/drawing/2014/main" id="{B9F99E10-3DCE-48A1-AF39-DA2B91BD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108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1B8A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 i="0">
                <a:solidFill>
                  <a:srgbClr val="1B8A6B"/>
                </a:solidFill>
                <a:latin typeface="Apple SD Gothic Neo"/>
                <a:ea typeface="Apple SD Gothic Neo"/>
                <a:cs typeface="Apple SD Gothic Neo"/>
              </a:rPr>
              <a:t>추적성: 화면의 항적 ID · 발생시각 · 축선이 paired 실행에서 동일 → 판정이 갈린 항적이 곧 구조가 만든 차이</a:t>
            </a:r>
          </a:p>
        </p:txBody>
      </p:sp>
    </p:spTree>
    <p:extLst>
      <p:ext uri="{BB962C8B-B14F-4D97-AF65-F5344CB8AC3E}">
        <p14:creationId xmlns:p14="http://schemas.microsoft.com/office/powerpoint/2010/main" val="3751648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-8">
            <a:extLst xmlns:a="http://schemas.openxmlformats.org/drawingml/2006/main">
              <a:ext uri="{FF2B5EF4-FFF2-40B4-BE49-F238E27FC236}">
                <a16:creationId xmlns:a16="http://schemas.microsoft.com/office/drawing/2014/main" id="{6EE847D1-1DE9-44F2-BEF3-F83F1441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 · SCENARIOS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CF237C56-B3B4-4610-9BF2-AD58DA78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세 시나리오는 서로 다른 실패 모드를 자극한다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3781B500-F6B9-499D-8C45-AD6C2A4B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B0D10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AB78AF51-7AED-4AD2-BEFB-93E10EBC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B84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7B8491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scenario-rule-0">
            <a:extLst xmlns:a="http://schemas.openxmlformats.org/drawingml/2006/main">
              <a:ext uri="{FF2B5EF4-FFF2-40B4-BE49-F238E27FC236}">
                <a16:creationId xmlns:a16="http://schemas.microsoft.com/office/drawing/2014/main" id="{93EF37C9-1BEC-4040-851D-E8E57B0A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3562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88921"/>
            </a:solidFill>
            <a:prstDash val="solid"/>
          </a:ln>
        </p:spPr>
      </p:sp>
      <p:sp>
        <p:nvSpPr>
          <p:cNvPr id="6" name="scenario-id-0">
            <a:extLst xmlns:a="http://schemas.openxmlformats.org/drawingml/2006/main">
              <a:ext uri="{FF2B5EF4-FFF2-40B4-BE49-F238E27FC236}">
                <a16:creationId xmlns:a16="http://schemas.microsoft.com/office/drawing/2014/main" id="{36D682BE-B33A-4E45-B3DF-BA5DDCBC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D889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88921"/>
                </a:solidFill>
                <a:latin typeface="Helvetica Neue"/>
                <a:ea typeface="Helvetica Neue"/>
                <a:cs typeface="Helvetica Neue"/>
              </a:rPr>
              <a:t>SC1</a:t>
            </a:r>
          </a:p>
        </p:txBody>
      </p:sp>
      <p:sp>
        <p:nvSpPr>
          <p:cNvPr id="7" name="scenario-title-0">
            <a:extLst xmlns:a="http://schemas.openxmlformats.org/drawingml/2006/main">
              <a:ext uri="{FF2B5EF4-FFF2-40B4-BE49-F238E27FC236}">
                <a16:creationId xmlns:a16="http://schemas.microsoft.com/office/drawing/2014/main" id="{D6320ED5-D9FE-4802-9F8F-549569AF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경계 침투</a:t>
            </a:r>
          </a:p>
        </p:txBody>
      </p:sp>
      <p:sp>
        <p:nvSpPr>
          <p:cNvPr id="8" name="scenario-lead-0">
            <a:extLst xmlns:a="http://schemas.openxmlformats.org/drawingml/2006/main">
              <a:ext uri="{FF2B5EF4-FFF2-40B4-BE49-F238E27FC236}">
                <a16:creationId xmlns:a16="http://schemas.microsoft.com/office/drawing/2014/main" id="{E0E01E87-CCF8-43DD-BDB7-676C8969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D889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D88921"/>
                </a:solidFill>
                <a:latin typeface="Apple SD Gothic Neo"/>
                <a:ea typeface="Apple SD Gothic Neo"/>
                <a:cs typeface="Apple SD Gothic Neo"/>
              </a:rPr>
              <a:t>교전 중복 · 책임공백</a:t>
            </a:r>
          </a:p>
        </p:txBody>
      </p:sp>
      <p:sp>
        <p:nvSpPr>
          <p:cNvPr id="9" name="scenario-body-0">
            <a:extLst xmlns:a="http://schemas.openxmlformats.org/drawingml/2006/main">
              <a:ext uri="{FF2B5EF4-FFF2-40B4-BE49-F238E27FC236}">
                <a16:creationId xmlns:a16="http://schemas.microsoft.com/office/drawing/2014/main" id="{9F58CA0C-E194-49B5-98D8-B32B7C7C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3562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저속기·헬기·무인기·순항미사일이 서부·수도권·중부 책임경계로 연속 접근</a:t>
            </a:r>
          </a:p>
        </p:txBody>
      </p:sp>
      <p:sp>
        <p:nvSpPr>
          <p:cNvPr id="10" name="scenario-load-0">
            <a:extLst xmlns:a="http://schemas.openxmlformats.org/drawingml/2006/main">
              <a:ext uri="{FF2B5EF4-FFF2-40B4-BE49-F238E27FC236}">
                <a16:creationId xmlns:a16="http://schemas.microsoft.com/office/drawing/2014/main" id="{2C9156E8-4E8B-4C14-97CA-D0923365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3562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평균 생성 34.7개 / 900초</a:t>
            </a:r>
          </a:p>
        </p:txBody>
      </p:sp>
      <p:sp>
        <p:nvSpPr>
          <p:cNvPr id="11" name="scenario-stress-0">
            <a:extLst xmlns:a="http://schemas.openxmlformats.org/drawingml/2006/main">
              <a:ext uri="{FF2B5EF4-FFF2-40B4-BE49-F238E27FC236}">
                <a16:creationId xmlns:a16="http://schemas.microsoft.com/office/drawing/2014/main" id="{12ED5858-4D4E-4D68-8E6C-389A19BB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육↔공 현황·승인 절차와 중복경합을 본다</a:t>
            </a:r>
          </a:p>
        </p:txBody>
      </p:sp>
      <p:sp>
        <p:nvSpPr>
          <p:cNvPr id="12" name="scenario-rule-1">
            <a:extLst xmlns:a="http://schemas.openxmlformats.org/drawingml/2006/main">
              <a:ext uri="{FF2B5EF4-FFF2-40B4-BE49-F238E27FC236}">
                <a16:creationId xmlns:a16="http://schemas.microsoft.com/office/drawing/2014/main" id="{25EACD49-D9F1-4D74-8FB4-F172D264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52600"/>
            <a:ext cx="3562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9534F"/>
            </a:solidFill>
            <a:prstDash val="solid"/>
          </a:ln>
        </p:spPr>
      </p:sp>
      <p:sp>
        <p:nvSpPr>
          <p:cNvPr id="13" name="scenario-id-1">
            <a:extLst xmlns:a="http://schemas.openxmlformats.org/drawingml/2006/main">
              <a:ext uri="{FF2B5EF4-FFF2-40B4-BE49-F238E27FC236}">
                <a16:creationId xmlns:a16="http://schemas.microsoft.com/office/drawing/2014/main" id="{D0835F82-8332-4CC3-80F4-FA842F37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002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D953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9534F"/>
                </a:solidFill>
                <a:latin typeface="Helvetica Neue"/>
                <a:ea typeface="Helvetica Neue"/>
                <a:cs typeface="Helvetica Neue"/>
              </a:rPr>
              <a:t>SC2</a:t>
            </a:r>
          </a:p>
        </p:txBody>
      </p:sp>
      <p:sp>
        <p:nvSpPr>
          <p:cNvPr id="14" name="scenario-title-1">
            <a:extLst xmlns:a="http://schemas.openxmlformats.org/drawingml/2006/main">
              <a:ext uri="{FF2B5EF4-FFF2-40B4-BE49-F238E27FC236}">
                <a16:creationId xmlns:a16="http://schemas.microsoft.com/office/drawing/2014/main" id="{526F60EA-CC84-4FFC-9F14-0FE37F31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0030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무인기 동시 남파</a:t>
            </a:r>
          </a:p>
        </p:txBody>
      </p:sp>
      <p:sp>
        <p:nvSpPr>
          <p:cNvPr id="15" name="scenario-lead-1">
            <a:extLst xmlns:a="http://schemas.openxmlformats.org/drawingml/2006/main">
              <a:ext uri="{FF2B5EF4-FFF2-40B4-BE49-F238E27FC236}">
                <a16:creationId xmlns:a16="http://schemas.microsoft.com/office/drawing/2014/main" id="{027A29AA-7E9F-4265-AC05-CDB846C4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91465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D953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D9534F"/>
                </a:solidFill>
                <a:latin typeface="Apple SD Gothic Neo"/>
                <a:ea typeface="Apple SD Gothic Neo"/>
                <a:cs typeface="Apple SD Gothic Neo"/>
              </a:rPr>
              <a:t>저RCS · 반복 소실 · burst</a:t>
            </a:r>
          </a:p>
        </p:txBody>
      </p:sp>
      <p:sp>
        <p:nvSpPr>
          <p:cNvPr id="16" name="scenario-body-1">
            <a:extLst xmlns:a="http://schemas.openxmlformats.org/drawingml/2006/main">
              <a:ext uri="{FF2B5EF4-FFF2-40B4-BE49-F238E27FC236}">
                <a16:creationId xmlns:a16="http://schemas.microsoft.com/office/drawing/2014/main" id="{7F1B4177-2798-41E2-8082-F997040F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48050"/>
            <a:ext cx="3562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t=60초 8대, t=900초 6대 원형 burst와 3개 축선 연속 유입을 강도에 따라 확대</a:t>
            </a:r>
          </a:p>
        </p:txBody>
      </p:sp>
      <p:sp>
        <p:nvSpPr>
          <p:cNvPr id="17" name="scenario-load-1">
            <a:extLst xmlns:a="http://schemas.openxmlformats.org/drawingml/2006/main">
              <a:ext uri="{FF2B5EF4-FFF2-40B4-BE49-F238E27FC236}">
                <a16:creationId xmlns:a16="http://schemas.microsoft.com/office/drawing/2014/main" id="{D4672465-355F-42C4-AB2D-0C8878E5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762500"/>
            <a:ext cx="3562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평균 생성 40.2개 / 900초</a:t>
            </a:r>
          </a:p>
        </p:txBody>
      </p:sp>
      <p:sp>
        <p:nvSpPr>
          <p:cNvPr id="18" name="scenario-stress-1">
            <a:extLst xmlns:a="http://schemas.openxmlformats.org/drawingml/2006/main">
              <a:ext uri="{FF2B5EF4-FFF2-40B4-BE49-F238E27FC236}">
                <a16:creationId xmlns:a16="http://schemas.microsoft.com/office/drawing/2014/main" id="{5416F12F-FEC1-4ABC-B3B6-46A52A75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2578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C2보다 센서·SHORAD 물리 한계를 확인한다</a:t>
            </a:r>
          </a:p>
        </p:txBody>
      </p:sp>
      <p:sp>
        <p:nvSpPr>
          <p:cNvPr id="19" name="scenario-rule-2">
            <a:extLst xmlns:a="http://schemas.openxmlformats.org/drawingml/2006/main">
              <a:ext uri="{FF2B5EF4-FFF2-40B4-BE49-F238E27FC236}">
                <a16:creationId xmlns:a16="http://schemas.microsoft.com/office/drawing/2014/main" id="{82707A78-C2EF-47C4-9F67-20E20EDA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3562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D8DFF"/>
            </a:solidFill>
            <a:prstDash val="solid"/>
          </a:ln>
        </p:spPr>
      </p:sp>
      <p:sp>
        <p:nvSpPr>
          <p:cNvPr id="20" name="scenario-id-2">
            <a:extLst xmlns:a="http://schemas.openxmlformats.org/drawingml/2006/main">
              <a:ext uri="{FF2B5EF4-FFF2-40B4-BE49-F238E27FC236}">
                <a16:creationId xmlns:a16="http://schemas.microsoft.com/office/drawing/2014/main" id="{1488BBF3-6997-40CE-ADC3-045E1451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SC3</a:t>
            </a:r>
          </a:p>
        </p:txBody>
      </p:sp>
      <p:sp>
        <p:nvSpPr>
          <p:cNvPr id="21" name="scenario-title-2">
            <a:extLst xmlns:a="http://schemas.openxmlformats.org/drawingml/2006/main">
              <a:ext uri="{FF2B5EF4-FFF2-40B4-BE49-F238E27FC236}">
                <a16:creationId xmlns:a16="http://schemas.microsoft.com/office/drawing/2014/main" id="{F1DAE669-B4F1-4914-A185-6EAF878E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0030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복합 동시 포화</a:t>
            </a:r>
          </a:p>
        </p:txBody>
      </p:sp>
      <p:sp>
        <p:nvSpPr>
          <p:cNvPr id="22" name="scenario-lead-2">
            <a:extLst xmlns:a="http://schemas.openxmlformats.org/drawingml/2006/main">
              <a:ext uri="{FF2B5EF4-FFF2-40B4-BE49-F238E27FC236}">
                <a16:creationId xmlns:a16="http://schemas.microsoft.com/office/drawing/2014/main" id="{BA7F2860-435E-483A-B8C5-F1E9F4B4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1465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전투기 · UAV · TBM · 방사포</a:t>
            </a:r>
          </a:p>
        </p:txBody>
      </p:sp>
      <p:sp>
        <p:nvSpPr>
          <p:cNvPr id="23" name="scenario-body-2">
            <a:extLst xmlns:a="http://schemas.openxmlformats.org/drawingml/2006/main">
              <a:ext uri="{FF2B5EF4-FFF2-40B4-BE49-F238E27FC236}">
                <a16:creationId xmlns:a16="http://schemas.microsoft.com/office/drawing/2014/main" id="{01FE081B-3404-473E-A263-6429DADD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48050"/>
            <a:ext cx="3562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중부·동부·서부와 대구·부산 남부축에 복합 위협을 동시에 투입</a:t>
            </a:r>
          </a:p>
        </p:txBody>
      </p:sp>
      <p:sp>
        <p:nvSpPr>
          <p:cNvPr id="24" name="scenario-load-2">
            <a:extLst xmlns:a="http://schemas.openxmlformats.org/drawingml/2006/main">
              <a:ext uri="{FF2B5EF4-FFF2-40B4-BE49-F238E27FC236}">
                <a16:creationId xmlns:a16="http://schemas.microsoft.com/office/drawing/2014/main" id="{AD894298-ED86-4AA1-AC43-B2F1EC09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3562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평균 생성 184.9개 / 900초</a:t>
            </a:r>
          </a:p>
        </p:txBody>
      </p:sp>
      <p:sp>
        <p:nvSpPr>
          <p:cNvPr id="25" name="scenario-stress-2">
            <a:extLst xmlns:a="http://schemas.openxmlformats.org/drawingml/2006/main">
              <a:ext uri="{FF2B5EF4-FFF2-40B4-BE49-F238E27FC236}">
                <a16:creationId xmlns:a16="http://schemas.microsoft.com/office/drawing/2014/main" id="{5BBA07BD-795C-49FC-B6D2-FB1BE489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578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C2 ρ≥0.9 구간의 구조 차이를 계측한다</a:t>
            </a:r>
          </a:p>
        </p:txBody>
      </p:sp>
      <p:sp>
        <p:nvSpPr>
          <p:cNvPr id="26" name="scenario-condition">
            <a:extLst xmlns:a="http://schemas.openxmlformats.org/drawingml/2006/main">
              <a:ext uri="{FF2B5EF4-FFF2-40B4-BE49-F238E27FC236}">
                <a16:creationId xmlns:a16="http://schemas.microsoft.com/office/drawing/2014/main" id="{C119A9A9-F6CD-4905-AA22-9AB8038F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139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공통 실험 조건: HANBANDO_LEGACY_NORMAL · iads-c2 · 강도 ×1.5 · 900초 · 12 paired seeds</a:t>
            </a:r>
          </a:p>
        </p:txBody>
      </p:sp>
    </p:spTree>
    <p:extLst>
      <p:ext uri="{BB962C8B-B14F-4D97-AF65-F5344CB8AC3E}">
        <p14:creationId xmlns:p14="http://schemas.microsoft.com/office/powerpoint/2010/main" val="6065168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9">
            <a:extLst xmlns:a="http://schemas.openxmlformats.org/drawingml/2006/main">
              <a:ext uri="{FF2B5EF4-FFF2-40B4-BE49-F238E27FC236}">
                <a16:creationId xmlns:a16="http://schemas.microsoft.com/office/drawing/2014/main" id="{A560D7D0-5619-4A4D-92A0-F0D344AB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06 · RESULTS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DC0910B5-F540-4DE2-9679-45AA24B4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임무효과는 SC3 복합포화에서 가장 크게 분리된다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7E5E0592-2C24-424B-A47E-0F225EF9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B0D10"/>
            </a:solidFill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B7CB21D4-CBA0-4747-96FE-8DE91F5B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B84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7B8491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mission-method">
            <a:extLst xmlns:a="http://schemas.openxmlformats.org/drawingml/2006/main">
              <a:ext uri="{FF2B5EF4-FFF2-40B4-BE49-F238E27FC236}">
                <a16:creationId xmlns:a16="http://schemas.microsoft.com/office/drawing/2014/main" id="{FC668C04-BB49-4ECE-9111-25F030C2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격추율 = 전체 생성 위협 대비 격추 · 막대는 12 seed 평균 · CI는 seed별 paired Δ(To-Be−As-Is)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6572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b9ebdb9fc347fe"/>
          </a:graphicData>
        </a:graphic>
      </p:graphicFrame>
      <p:sp>
        <p:nvSpPr>
          <p:cNvPr id="7" name="result-card-0">
            <a:extLst xmlns:a="http://schemas.openxmlformats.org/drawingml/2006/main">
              <a:ext uri="{FF2B5EF4-FFF2-40B4-BE49-F238E27FC236}">
                <a16:creationId xmlns:a16="http://schemas.microsoft.com/office/drawing/2014/main" id="{4027E72A-F902-4C07-BB5F-73F0CCA6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43624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-card-title-0">
            <a:extLst xmlns:a="http://schemas.openxmlformats.org/drawingml/2006/main">
              <a:ext uri="{FF2B5EF4-FFF2-40B4-BE49-F238E27FC236}">
                <a16:creationId xmlns:a16="http://schemas.microsoft.com/office/drawing/2014/main" id="{0302AFB7-EF60-46C6-877B-A807794F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193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D889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D88921"/>
                </a:solidFill>
                <a:latin typeface="Helvetica Neue"/>
                <a:ea typeface="Helvetica Neue"/>
                <a:cs typeface="Helvetica Neue"/>
              </a:rPr>
              <a:t>SC1  +3.2pp</a:t>
            </a:r>
          </a:p>
        </p:txBody>
      </p:sp>
      <p:sp>
        <p:nvSpPr>
          <p:cNvPr id="9" name="result-card-body-0">
            <a:extLst xmlns:a="http://schemas.openxmlformats.org/drawingml/2006/main">
              <a:ext uri="{FF2B5EF4-FFF2-40B4-BE49-F238E27FC236}">
                <a16:creationId xmlns:a16="http://schemas.microsoft.com/office/drawing/2014/main" id="{D37261BE-0BC7-449B-8CF7-DFDB727A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193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95% CI [+0.6, +5.8]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이 셀에서는 분리되지만 저부하 강건성은 제한적</a:t>
            </a:r>
          </a:p>
        </p:txBody>
      </p:sp>
      <p:sp>
        <p:nvSpPr>
          <p:cNvPr id="10" name="result-card-1">
            <a:extLst xmlns:a="http://schemas.openxmlformats.org/drawingml/2006/main">
              <a:ext uri="{FF2B5EF4-FFF2-40B4-BE49-F238E27FC236}">
                <a16:creationId xmlns:a16="http://schemas.microsoft.com/office/drawing/2014/main" id="{944F5BF9-EDAA-408D-88FF-872225C0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43624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sult-card-title-1">
            <a:extLst xmlns:a="http://schemas.openxmlformats.org/drawingml/2006/main">
              <a:ext uri="{FF2B5EF4-FFF2-40B4-BE49-F238E27FC236}">
                <a16:creationId xmlns:a16="http://schemas.microsoft.com/office/drawing/2014/main" id="{1051D3F0-47EE-4C9A-AF22-B1CFC6EA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147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7B84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7B8491"/>
                </a:solidFill>
                <a:latin typeface="Helvetica Neue"/>
                <a:ea typeface="Helvetica Neue"/>
                <a:cs typeface="Helvetica Neue"/>
              </a:rPr>
              <a:t>SC2  +0.6pp</a:t>
            </a:r>
          </a:p>
        </p:txBody>
      </p:sp>
      <p:sp>
        <p:nvSpPr>
          <p:cNvPr id="12" name="result-card-body-1">
            <a:extLst xmlns:a="http://schemas.openxmlformats.org/drawingml/2006/main">
              <a:ext uri="{FF2B5EF4-FFF2-40B4-BE49-F238E27FC236}">
                <a16:creationId xmlns:a16="http://schemas.microsoft.com/office/drawing/2014/main" id="{817173EC-9530-4EC3-8527-C3726EFC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147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95% CI [-0.0, +1.2]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0 포함 → 통계적 분리 없음</a:t>
            </a:r>
          </a:p>
        </p:txBody>
      </p:sp>
      <p:sp>
        <p:nvSpPr>
          <p:cNvPr id="13" name="result-card-2">
            <a:extLst xmlns:a="http://schemas.openxmlformats.org/drawingml/2006/main">
              <a:ext uri="{FF2B5EF4-FFF2-40B4-BE49-F238E27FC236}">
                <a16:creationId xmlns:a16="http://schemas.microsoft.com/office/drawing/2014/main" id="{3A5BA1CC-F20C-4C79-BE51-E57B31C5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00550"/>
            <a:ext cx="43624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sult-card-title-2">
            <a:extLst xmlns:a="http://schemas.openxmlformats.org/drawingml/2006/main">
              <a:ext uri="{FF2B5EF4-FFF2-40B4-BE49-F238E27FC236}">
                <a16:creationId xmlns:a16="http://schemas.microsoft.com/office/drawing/2014/main" id="{0D345C77-EB1C-462E-ACEB-DDB1273D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101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SC3  +20.6pp</a:t>
            </a:r>
          </a:p>
        </p:txBody>
      </p:sp>
      <p:sp>
        <p:nvSpPr>
          <p:cNvPr id="15" name="result-card-body-2">
            <a:extLst xmlns:a="http://schemas.openxmlformats.org/drawingml/2006/main">
              <a:ext uri="{FF2B5EF4-FFF2-40B4-BE49-F238E27FC236}">
                <a16:creationId xmlns:a16="http://schemas.microsoft.com/office/drawing/2014/main" id="{E8B8C524-7AFB-4BEB-989A-498C67A4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101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95% CI [+18.3, +22.8]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35.5% → 56.1% · 포화에서 구조 이득이 큼</a:t>
            </a:r>
          </a:p>
        </p:txBody>
      </p:sp>
      <p:sp>
        <p:nvSpPr>
          <p:cNvPr id="16" name="mission-censor-note">
            <a:extLst xmlns:a="http://schemas.openxmlformats.org/drawingml/2006/main">
              <a:ext uri="{FF2B5EF4-FFF2-40B4-BE49-F238E27FC236}">
                <a16:creationId xmlns:a16="http://schemas.microsoft.com/office/drawing/2014/main" id="{F61A35AB-9848-44C7-9EA7-C0E0D9FC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953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D9534F"/>
                </a:solidFill>
                <a:latin typeface="Apple SD Gothic Neo"/>
                <a:ea typeface="Apple SD Gothic Neo"/>
                <a:cs typeface="Apple SD Gothic Neo"/>
              </a:rPr>
              <a:t>관측절단 평균: SC1 33.5% · SC2 65% · SC3 25.6% — 900초 절대율보다 paired Δ를 우선 해석</a:t>
            </a:r>
          </a:p>
        </p:txBody>
      </p:sp>
    </p:spTree>
    <p:extLst>
      <p:ext uri="{BB962C8B-B14F-4D97-AF65-F5344CB8AC3E}">
        <p14:creationId xmlns:p14="http://schemas.microsoft.com/office/powerpoint/2010/main" val="11026209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10">
            <a:extLst xmlns:a="http://schemas.openxmlformats.org/drawingml/2006/main">
              <a:ext uri="{FF2B5EF4-FFF2-40B4-BE49-F238E27FC236}">
                <a16:creationId xmlns:a16="http://schemas.microsoft.com/office/drawing/2014/main" id="{BFCD2BE6-1742-4712-B7DE-23B6C010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06 · RESULTS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7F48F1CF-A07F-4198-AC90-883F0256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IAOC는 승인·조율 병목을 낮추지만 도메인 C2 포화는 남는다</a:t>
            </a:r>
          </a:p>
        </p:txBody>
      </p:sp>
      <p:sp>
        <p:nvSpPr>
          <p:cNvPr id="3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7CAC02AA-5A3B-4F41-B117-76A22E11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B0D10"/>
            </a:solidFill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4184EEE7-2C1E-4C67-87FC-47AFF745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B84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7B8491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struct-method">
            <a:extLst xmlns:a="http://schemas.openxmlformats.org/drawingml/2006/main">
              <a:ext uri="{FF2B5EF4-FFF2-40B4-BE49-F238E27FC236}">
                <a16:creationId xmlns:a16="http://schemas.microsoft.com/office/drawing/2014/main" id="{BA6F63D8-27CB-407E-81B7-50C74546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SC3 · 12 paired seeds · 900초 · ×1.5  |  최대 이용률 ρ는 같은 종류 노드 중 최대값의 seed 평균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400050" y="1885950"/>
          <a:ext xmlns:a="http://schemas.openxmlformats.org/drawingml/2006/main" cx="5905500" cy="3733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80f0bae3a54e49"/>
          </a:graphicData>
        </a:graphic>
      </p:graphicFrame>
      <p:sp>
        <p:nvSpPr>
          <p:cNvPr id="7" name="struct-callout-0">
            <a:extLst xmlns:a="http://schemas.openxmlformats.org/drawingml/2006/main">
              <a:ext uri="{FF2B5EF4-FFF2-40B4-BE49-F238E27FC236}">
                <a16:creationId xmlns:a16="http://schemas.microsoft.com/office/drawing/2014/main" id="{4C201C30-510C-4BE2-B6CA-CC09D7A6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24050"/>
            <a:ext cx="49911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uct-label-0">
            <a:extLst xmlns:a="http://schemas.openxmlformats.org/drawingml/2006/main">
              <a:ext uri="{FF2B5EF4-FFF2-40B4-BE49-F238E27FC236}">
                <a16:creationId xmlns:a16="http://schemas.microsoft.com/office/drawing/2014/main" id="{3462D0F1-412C-4489-A1C1-2A39ED42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95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B8A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1B8A6B"/>
                </a:solidFill>
                <a:latin typeface="Apple SD Gothic Neo"/>
                <a:ea typeface="Apple SD Gothic Neo"/>
                <a:cs typeface="Apple SD Gothic Neo"/>
              </a:rPr>
              <a:t>결심지연</a:t>
            </a:r>
          </a:p>
        </p:txBody>
      </p:sp>
      <p:sp>
        <p:nvSpPr>
          <p:cNvPr id="9" name="struct-value-0">
            <a:extLst xmlns:a="http://schemas.openxmlformats.org/drawingml/2006/main">
              <a:ext uri="{FF2B5EF4-FFF2-40B4-BE49-F238E27FC236}">
                <a16:creationId xmlns:a16="http://schemas.microsoft.com/office/drawing/2014/main" id="{8B7B6B0C-A5EA-42AA-8B26-9B5B0B8E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764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75" b="1" i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110.8 → 78.8초</a:t>
            </a:r>
          </a:p>
        </p:txBody>
      </p:sp>
      <p:sp>
        <p:nvSpPr>
          <p:cNvPr id="10" name="struct-ci-0">
            <a:extLst xmlns:a="http://schemas.openxmlformats.org/drawingml/2006/main">
              <a:ext uri="{FF2B5EF4-FFF2-40B4-BE49-F238E27FC236}">
                <a16:creationId xmlns:a16="http://schemas.microsoft.com/office/drawing/2014/main" id="{EDD89703-7B01-4347-AD8C-91563AEC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1460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paired Δ -32.1초  [-38.0, -26.1]</a:t>
            </a:r>
          </a:p>
        </p:txBody>
      </p:sp>
      <p:sp>
        <p:nvSpPr>
          <p:cNvPr id="11" name="struct-callout-1">
            <a:extLst xmlns:a="http://schemas.openxmlformats.org/drawingml/2006/main">
              <a:ext uri="{FF2B5EF4-FFF2-40B4-BE49-F238E27FC236}">
                <a16:creationId xmlns:a16="http://schemas.microsoft.com/office/drawing/2014/main" id="{DF7F108E-413D-41D0-A6FB-3CE44D91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62300"/>
            <a:ext cx="49911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ruct-label-1">
            <a:extLst xmlns:a="http://schemas.openxmlformats.org/drawingml/2006/main">
              <a:ext uri="{FF2B5EF4-FFF2-40B4-BE49-F238E27FC236}">
                <a16:creationId xmlns:a16="http://schemas.microsoft.com/office/drawing/2014/main" id="{3A3DA291-A033-4DD9-B806-C0238CE8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중복교전</a:t>
            </a:r>
          </a:p>
        </p:txBody>
      </p:sp>
      <p:sp>
        <p:nvSpPr>
          <p:cNvPr id="13" name="struct-value-1">
            <a:extLst xmlns:a="http://schemas.openxmlformats.org/drawingml/2006/main">
              <a:ext uri="{FF2B5EF4-FFF2-40B4-BE49-F238E27FC236}">
                <a16:creationId xmlns:a16="http://schemas.microsoft.com/office/drawing/2014/main" id="{D753BD08-462F-478A-99A1-747D7A9F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14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75" b="1" i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4.2 → 0.0건</a:t>
            </a:r>
          </a:p>
        </p:txBody>
      </p:sp>
      <p:sp>
        <p:nvSpPr>
          <p:cNvPr id="14" name="struct-ci-1">
            <a:extLst xmlns:a="http://schemas.openxmlformats.org/drawingml/2006/main">
              <a:ext uri="{FF2B5EF4-FFF2-40B4-BE49-F238E27FC236}">
                <a16:creationId xmlns:a16="http://schemas.microsoft.com/office/drawing/2014/main" id="{DA9EC170-72DC-4E11-BF6F-C703CEFC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5285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paired Δ -4.17건  [-5.46, -2.87]</a:t>
            </a:r>
          </a:p>
        </p:txBody>
      </p:sp>
      <p:sp>
        <p:nvSpPr>
          <p:cNvPr id="15" name="struct-callout-2">
            <a:extLst xmlns:a="http://schemas.openxmlformats.org/drawingml/2006/main">
              <a:ext uri="{FF2B5EF4-FFF2-40B4-BE49-F238E27FC236}">
                <a16:creationId xmlns:a16="http://schemas.microsoft.com/office/drawing/2014/main" id="{51D8232E-EF09-487B-A0FD-28CD6845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550"/>
            <a:ext cx="49911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ruct-label-2">
            <a:extLst xmlns:a="http://schemas.openxmlformats.org/drawingml/2006/main">
              <a:ext uri="{FF2B5EF4-FFF2-40B4-BE49-F238E27FC236}">
                <a16:creationId xmlns:a16="http://schemas.microsoft.com/office/drawing/2014/main" id="{01A15AF2-5501-47F6-BC7B-993D3DC3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72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구조적 실패</a:t>
            </a:r>
          </a:p>
        </p:txBody>
      </p:sp>
      <p:sp>
        <p:nvSpPr>
          <p:cNvPr id="17" name="struct-value-2">
            <a:extLst xmlns:a="http://schemas.openxmlformats.org/drawingml/2006/main">
              <a:ext uri="{FF2B5EF4-FFF2-40B4-BE49-F238E27FC236}">
                <a16:creationId xmlns:a16="http://schemas.microsoft.com/office/drawing/2014/main" id="{DF879500-8662-4CEC-8A19-E2909672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529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75" b="1" i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19.1 → 13.6건</a:t>
            </a:r>
          </a:p>
        </p:txBody>
      </p:sp>
      <p:sp>
        <p:nvSpPr>
          <p:cNvPr id="18" name="struct-ci-2">
            <a:extLst xmlns:a="http://schemas.openxmlformats.org/drawingml/2006/main">
              <a:ext uri="{FF2B5EF4-FFF2-40B4-BE49-F238E27FC236}">
                <a16:creationId xmlns:a16="http://schemas.microsoft.com/office/drawing/2014/main" id="{4506C2F6-F7B3-475B-92DE-F56AAA35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9110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paired Δ -5.5건  [-7.3, -3.7]</a:t>
            </a:r>
          </a:p>
        </p:txBody>
      </p:sp>
      <p:sp>
        <p:nvSpPr>
          <p:cNvPr id="19" name="rho-interpretation">
            <a:extLst xmlns:a="http://schemas.openxmlformats.org/drawingml/2006/main">
              <a:ext uri="{FF2B5EF4-FFF2-40B4-BE49-F238E27FC236}">
                <a16:creationId xmlns:a16="http://schemas.microsoft.com/office/drawing/2014/main" id="{2214D05B-B701-4E13-BFFE-E5A98878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ho-interpretation-text">
            <a:extLst xmlns:a="http://schemas.openxmlformats.org/drawingml/2006/main">
              <a:ext uri="{FF2B5EF4-FFF2-40B4-BE49-F238E27FC236}">
                <a16:creationId xmlns:a16="http://schemas.microsoft.com/office/drawing/2014/main" id="{656618F3-155F-4C50-8644-149F142C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1502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D889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 i="0">
                <a:solidFill>
                  <a:srgbClr val="D88921"/>
                </a:solidFill>
                <a:latin typeface="Apple SD Gothic Neo"/>
                <a:ea typeface="Apple SD Gothic Neo"/>
                <a:cs typeface="Apple SD Gothic Neo"/>
              </a:rPr>
              <a:t>To-Be 최대 C2 ρ=0.94: KAMDOC 상황인식 부하는 여전히 포화 수준이지만, 병렬 통보라 IAOC 교전결심을 차단하지 않는다.</a:t>
            </a:r>
          </a:p>
        </p:txBody>
      </p:sp>
      <p:sp>
        <p:nvSpPr>
          <p:cNvPr id="21" name="section-10-overlay">
            <a:extLst xmlns:a="http://schemas.openxmlformats.org/drawingml/2006/main">
              <a:ext uri="{FF2B5EF4-FFF2-40B4-BE49-F238E27FC236}">
                <a16:creationId xmlns:a16="http://schemas.microsoft.com/office/drawing/2014/main" id="{C7807682-4E45-450E-B490-6A17ADB7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06 · RESULTS</a:t>
            </a:r>
          </a:p>
        </p:txBody>
      </p:sp>
      <p:sp>
        <p:nvSpPr>
          <p:cNvPr id="22" name="title-rule-10-overlay">
            <a:extLst xmlns:a="http://schemas.openxmlformats.org/drawingml/2006/main">
              <a:ext uri="{FF2B5EF4-FFF2-40B4-BE49-F238E27FC236}">
                <a16:creationId xmlns:a16="http://schemas.microsoft.com/office/drawing/2014/main" id="{32C89991-83AB-414F-9683-0BEBD362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B0D1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227836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11">
            <a:extLst xmlns:a="http://schemas.openxmlformats.org/drawingml/2006/main">
              <a:ext uri="{FF2B5EF4-FFF2-40B4-BE49-F238E27FC236}">
                <a16:creationId xmlns:a16="http://schemas.microsoft.com/office/drawing/2014/main" id="{3FC37D00-51F2-48C7-BB35-F058FE17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07 · TAKEAWAYS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F2360288-B051-43B3-9E7A-8CD381DF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이 모델은 구조 차이를 설명하지만 절대 전투성능을 예측하지 않는다</a:t>
            </a:r>
          </a:p>
        </p:txBody>
      </p:sp>
      <p:sp>
        <p:nvSpPr>
          <p:cNvPr id="3" name="title-rule-11">
            <a:extLst xmlns:a="http://schemas.openxmlformats.org/drawingml/2006/main">
              <a:ext uri="{FF2B5EF4-FFF2-40B4-BE49-F238E27FC236}">
                <a16:creationId xmlns:a16="http://schemas.microsoft.com/office/drawing/2014/main" id="{C558BB0F-C75A-4E71-89A0-CF14E1EA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B0D10"/>
            </a:solidFill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DB2B0597-2B63-44F0-BD76-8B703CD2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B84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7B8491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takeaway-rule-0">
            <a:extLst xmlns:a="http://schemas.openxmlformats.org/drawingml/2006/main">
              <a:ext uri="{FF2B5EF4-FFF2-40B4-BE49-F238E27FC236}">
                <a16:creationId xmlns:a16="http://schemas.microsoft.com/office/drawing/2014/main" id="{8B947B78-EFCC-468D-8E83-B74DFE67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5143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6" name="takeaway-head-0">
            <a:extLst xmlns:a="http://schemas.openxmlformats.org/drawingml/2006/main">
              <a:ext uri="{FF2B5EF4-FFF2-40B4-BE49-F238E27FC236}">
                <a16:creationId xmlns:a16="http://schemas.microsoft.com/office/drawing/2014/main" id="{F68628C0-D688-4BC4-84F6-4550C763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구조 차이는 명확하다</a:t>
            </a:r>
          </a:p>
        </p:txBody>
      </p:sp>
      <p:sp>
        <p:nvSpPr>
          <p:cNvPr id="7" name="takeaway-body-0">
            <a:extLst xmlns:a="http://schemas.openxmlformats.org/drawingml/2006/main">
              <a:ext uri="{FF2B5EF4-FFF2-40B4-BE49-F238E27FC236}">
                <a16:creationId xmlns:a16="http://schemas.microsoft.com/office/drawing/2014/main" id="{670FB479-59B8-4B82-B84D-A70DE1A9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As-Is 64노드·116링크에서 To-Be 65노드·221링크로 바뀌며, IAOC가 육↔공·BMD 조율층을 맡는다.</a:t>
            </a:r>
          </a:p>
        </p:txBody>
      </p:sp>
      <p:sp>
        <p:nvSpPr>
          <p:cNvPr id="8" name="takeaway-rule-1">
            <a:extLst xmlns:a="http://schemas.openxmlformats.org/drawingml/2006/main">
              <a:ext uri="{FF2B5EF4-FFF2-40B4-BE49-F238E27FC236}">
                <a16:creationId xmlns:a16="http://schemas.microsoft.com/office/drawing/2014/main" id="{16C1CB66-9AD4-46EE-963A-FEFD8984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2600"/>
            <a:ext cx="5143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B8A6B"/>
            </a:solidFill>
            <a:prstDash val="solid"/>
          </a:ln>
        </p:spPr>
      </p:sp>
      <p:sp>
        <p:nvSpPr>
          <p:cNvPr id="9" name="takeaway-head-1">
            <a:extLst xmlns:a="http://schemas.openxmlformats.org/drawingml/2006/main">
              <a:ext uri="{FF2B5EF4-FFF2-40B4-BE49-F238E27FC236}">
                <a16:creationId xmlns:a16="http://schemas.microsoft.com/office/drawing/2014/main" id="{5F6B41EE-5DE6-4F2F-9053-24F38DD4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193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포화에서 효과가 커진다</a:t>
            </a:r>
          </a:p>
        </p:txBody>
      </p:sp>
      <p:sp>
        <p:nvSpPr>
          <p:cNvPr id="10" name="takeaway-body-1">
            <a:extLst xmlns:a="http://schemas.openxmlformats.org/drawingml/2006/main">
              <a:ext uri="{FF2B5EF4-FFF2-40B4-BE49-F238E27FC236}">
                <a16:creationId xmlns:a16="http://schemas.microsoft.com/office/drawing/2014/main" id="{55ABDB2D-656B-4E92-8369-6A1A4176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5270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SC3에서 격추율 +20.6pp, 결심지연 −32.1초, 중복교전 4.17→0으로 구조 차이가 분리된다.</a:t>
            </a:r>
          </a:p>
        </p:txBody>
      </p:sp>
      <p:sp>
        <p:nvSpPr>
          <p:cNvPr id="11" name="takeaway-rule-2">
            <a:extLst xmlns:a="http://schemas.openxmlformats.org/drawingml/2006/main">
              <a:ext uri="{FF2B5EF4-FFF2-40B4-BE49-F238E27FC236}">
                <a16:creationId xmlns:a16="http://schemas.microsoft.com/office/drawing/2014/main" id="{D08260FA-C252-4EDE-916C-7786D3BB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143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88921"/>
            </a:solidFill>
            <a:prstDash val="solid"/>
          </a:ln>
        </p:spPr>
      </p:sp>
      <p:sp>
        <p:nvSpPr>
          <p:cNvPr id="12" name="takeaway-head-2">
            <a:extLst xmlns:a="http://schemas.openxmlformats.org/drawingml/2006/main">
              <a:ext uri="{FF2B5EF4-FFF2-40B4-BE49-F238E27FC236}">
                <a16:creationId xmlns:a16="http://schemas.microsoft.com/office/drawing/2014/main" id="{CFB73D7C-DA80-4F7A-A941-832AF131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통합해도 남는 병목이 있다</a:t>
            </a:r>
          </a:p>
        </p:txBody>
      </p:sp>
      <p:sp>
        <p:nvSpPr>
          <p:cNvPr id="13" name="takeaway-body-2">
            <a:extLst xmlns:a="http://schemas.openxmlformats.org/drawingml/2006/main">
              <a:ext uri="{FF2B5EF4-FFF2-40B4-BE49-F238E27FC236}">
                <a16:creationId xmlns:a16="http://schemas.microsoft.com/office/drawing/2014/main" id="{0772F0DC-FBCF-4296-A3FC-92FBAA39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KAMDOC 상황인식 ρ≈0.94가 남고, SC2 무인기 임무효과는 유의하게 분리되지 않는다. C2만 바꿔 해결되지 않는 영역이다.</a:t>
            </a:r>
          </a:p>
        </p:txBody>
      </p:sp>
      <p:sp>
        <p:nvSpPr>
          <p:cNvPr id="14" name="takeaway-rule-3">
            <a:extLst xmlns:a="http://schemas.openxmlformats.org/drawingml/2006/main">
              <a:ext uri="{FF2B5EF4-FFF2-40B4-BE49-F238E27FC236}">
                <a16:creationId xmlns:a16="http://schemas.microsoft.com/office/drawing/2014/main" id="{FA4B30BE-61AF-4747-B4D4-8118C35D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05250"/>
            <a:ext cx="5143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534F"/>
            </a:solidFill>
            <a:prstDash val="solid"/>
          </a:ln>
        </p:spPr>
      </p:sp>
      <p:sp>
        <p:nvSpPr>
          <p:cNvPr id="15" name="takeaway-head-3">
            <a:extLst xmlns:a="http://schemas.openxmlformats.org/drawingml/2006/main">
              <a:ext uri="{FF2B5EF4-FFF2-40B4-BE49-F238E27FC236}">
                <a16:creationId xmlns:a16="http://schemas.microsoft.com/office/drawing/2014/main" id="{330C7C85-AE1A-40E5-9AE1-80F9E1F3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719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0B0D10"/>
                </a:solidFill>
                <a:latin typeface="Apple SD Gothic Neo"/>
                <a:ea typeface="Apple SD Gothic Neo"/>
                <a:cs typeface="Apple SD Gothic Neo"/>
              </a:rPr>
              <a:t>해석 범위를 지켜야 한다</a:t>
            </a:r>
          </a:p>
        </p:txBody>
      </p:sp>
      <p:sp>
        <p:nvSpPr>
          <p:cNvPr id="16" name="takeaway-body-3">
            <a:extLst xmlns:a="http://schemas.openxmlformats.org/drawingml/2006/main">
              <a:ext uri="{FF2B5EF4-FFF2-40B4-BE49-F238E27FC236}">
                <a16:creationId xmlns:a16="http://schemas.microsoft.com/office/drawing/2014/main" id="{58191A04-84B4-40E6-B89F-817A9F8D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0535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 i="0">
                <a:solidFill>
                  <a:srgbClr val="525A66"/>
                </a:solidFill>
                <a:latin typeface="Apple SD Gothic Neo"/>
                <a:ea typeface="Apple SD Gothic Neo"/>
                <a:cs typeface="Apple SD Gothic Neo"/>
              </a:rPr>
              <a:t>수치·좌표·확률은 공개자료 기반 개념값이다. 요격기·해상 자산은 제외하며, 900초 결과는 절단률이 높아 paired Δ 중심으로 읽는다.</a:t>
            </a:r>
          </a:p>
        </p:txBody>
      </p:sp>
      <p:sp>
        <p:nvSpPr>
          <p:cNvPr id="17" name="next-step-band">
            <a:extLst xmlns:a="http://schemas.openxmlformats.org/drawingml/2006/main">
              <a:ext uri="{FF2B5EF4-FFF2-40B4-BE49-F238E27FC236}">
                <a16:creationId xmlns:a16="http://schemas.microsoft.com/office/drawing/2014/main" id="{A91D7455-4A4C-4920-B947-F5FC15A5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next-step-text">
            <a:extLst xmlns:a="http://schemas.openxmlformats.org/drawingml/2006/main">
              <a:ext uri="{FF2B5EF4-FFF2-40B4-BE49-F238E27FC236}">
                <a16:creationId xmlns:a16="http://schemas.microsoft.com/office/drawing/2014/main" id="{AC9218B7-112A-40D4-BFF7-1EFC33D5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29325"/>
            <a:ext cx="1108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발표·보고서 확정 전 권장: 30 paired seeds × 1,800초 재실행으로 절단률과 저부하 강건성 재확인</a:t>
            </a:r>
          </a:p>
        </p:txBody>
      </p:sp>
    </p:spTree>
    <p:extLst>
      <p:ext uri="{BB962C8B-B14F-4D97-AF65-F5344CB8AC3E}">
        <p14:creationId xmlns:p14="http://schemas.microsoft.com/office/powerpoint/2010/main" val="4368882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2026-08-02T03:05:34.1610000Z</dcterms:created>
  <dcterms:modified xsi:type="dcterms:W3CDTF">2026-08-02T03:05:34.1610000Z</dcterms:modified>
</coreProperties>
</file>